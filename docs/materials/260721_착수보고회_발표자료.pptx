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4" r:id="rId4"/>
    <p:sldId id="259" r:id="rId5"/>
    <p:sldId id="275" r:id="rId6"/>
    <p:sldId id="277" r:id="rId7"/>
    <p:sldId id="286" r:id="rId8"/>
    <p:sldId id="276" r:id="rId9"/>
    <p:sldId id="278" r:id="rId10"/>
    <p:sldId id="279" r:id="rId11"/>
    <p:sldId id="280" r:id="rId12"/>
    <p:sldId id="281" r:id="rId13"/>
    <p:sldId id="284" r:id="rId14"/>
    <p:sldId id="283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24384000" cy="13716000"/>
  <p:notesSz cx="6858000" cy="9144000"/>
  <p:embeddedFontLst>
    <p:embeddedFont>
      <p:font typeface="Pretendard Bold" panose="020B0600000101010101" charset="-127"/>
      <p:bold r:id="rId31"/>
      <p:italic r:id="rId32"/>
    </p:embeddedFont>
    <p:embeddedFont>
      <p:font typeface="Pretendard Regular" panose="020B0600000101010101" charset="-127"/>
      <p:regular r:id="rId33"/>
      <p:bold r:id="rId34"/>
    </p:embeddedFont>
    <p:embeddedFont>
      <p:font typeface="Pretendard" panose="02000503000000020004" pitchFamily="50" charset="-127"/>
      <p:regular r:id="rId35"/>
      <p:bold r:id="rId36"/>
    </p:embeddedFont>
    <p:embeddedFont>
      <p:font typeface="Pretendard ExtraBold" panose="02000903000000020004" pitchFamily="50" charset="-127"/>
      <p:bold r:id="rId37"/>
    </p:embeddedFont>
    <p:embeddedFont>
      <p:font typeface="Pretendard Medium" panose="02000603000000020004" pitchFamily="50" charset="-127"/>
      <p:regular r:id="rId38"/>
    </p:embeddedFont>
    <p:embeddedFont>
      <p:font typeface="Pretendard SemiBold" panose="02000703000000020004" pitchFamily="50" charset="-127"/>
      <p:regular r:id="rId39"/>
      <p:bold r:id="rId40"/>
    </p:embeddedFont>
    <p:embeddedFont>
      <p:font typeface="맑은 고딕" panose="020B0503020000020004" pitchFamily="50" charset="-127"/>
      <p:regular r:id="rId41"/>
      <p:bold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F5FDD616-9799-9841-AF99-EFE6730D519B}">
          <p14:sldIdLst>
            <p14:sldId id="256"/>
            <p14:sldId id="257"/>
            <p14:sldId id="274"/>
            <p14:sldId id="259"/>
            <p14:sldId id="275"/>
            <p14:sldId id="277"/>
            <p14:sldId id="286"/>
            <p14:sldId id="276"/>
            <p14:sldId id="278"/>
            <p14:sldId id="279"/>
            <p14:sldId id="280"/>
            <p14:sldId id="281"/>
            <p14:sldId id="284"/>
            <p14:sldId id="283"/>
          </p14:sldIdLst>
        </p14:section>
        <p14:section name="템플릿" id="{5D4F71E8-4E13-484E-8747-46643EA5A3D3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728" userDrawn="1">
          <p15:clr>
            <a:srgbClr val="A4A3A4"/>
          </p15:clr>
        </p15:guide>
        <p15:guide id="2" pos="7680" userDrawn="1">
          <p15:clr>
            <a:srgbClr val="A4A3A4"/>
          </p15:clr>
        </p15:guide>
        <p15:guide id="3" orient="horz" pos="1200" userDrawn="1">
          <p15:clr>
            <a:srgbClr val="A4A3A4"/>
          </p15:clr>
        </p15:guide>
        <p15:guide id="4" orient="horz" pos="2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345B"/>
    <a:srgbClr val="FCCD4B"/>
    <a:srgbClr val="2E8DE6"/>
    <a:srgbClr val="1B497B"/>
    <a:srgbClr val="B7C8D8"/>
    <a:srgbClr val="09345B"/>
    <a:srgbClr val="6D7689"/>
    <a:srgbClr val="F7F9F9"/>
    <a:srgbClr val="174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88" autoAdjust="0"/>
    <p:restoredTop sz="94568" autoAdjust="0"/>
  </p:normalViewPr>
  <p:slideViewPr>
    <p:cSldViewPr>
      <p:cViewPr varScale="1">
        <p:scale>
          <a:sx n="32" d="100"/>
          <a:sy n="32" d="100"/>
        </p:scale>
        <p:origin x="2298" y="114"/>
      </p:cViewPr>
      <p:guideLst>
        <p:guide orient="horz" pos="7728"/>
        <p:guide pos="7680"/>
        <p:guide orient="horz" pos="1200"/>
        <p:guide orient="horz" pos="21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출동 건수</c:v>
                </c:pt>
              </c:strCache>
            </c:strRef>
          </c:tx>
          <c:spPr>
            <a:solidFill>
              <a:srgbClr val="2E8DE6"/>
            </a:solidFill>
            <a:ln>
              <a:noFill/>
            </a:ln>
            <a:effectLst/>
          </c:spPr>
          <c:invertIfNegative val="0"/>
          <c:dLbls>
            <c:numFmt formatCode="#,##0_);[Red]\(#,##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rgbClr val="2E8DE6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738</c:v>
                </c:pt>
                <c:pt idx="1">
                  <c:v>1401</c:v>
                </c:pt>
                <c:pt idx="2">
                  <c:v>2111</c:v>
                </c:pt>
                <c:pt idx="3">
                  <c:v>2806</c:v>
                </c:pt>
                <c:pt idx="4">
                  <c:v>3628</c:v>
                </c:pt>
                <c:pt idx="5">
                  <c:v>4623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9A-A74F-93EC-A8DBFAB073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920260096"/>
        <c:axId val="920269056"/>
      </c:barChart>
      <c:catAx>
        <c:axId val="9202600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920269056"/>
        <c:crosses val="autoZero"/>
        <c:auto val="1"/>
        <c:lblAlgn val="ctr"/>
        <c:lblOffset val="100"/>
        <c:noMultiLvlLbl val="0"/>
      </c:catAx>
      <c:valAx>
        <c:axId val="920269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920260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637FC-2684-C249-8369-DB631C34F777}" type="datetimeFigureOut">
              <a:rPr kumimoji="1" lang="ko-KR" altLang="en-US" smtClean="0"/>
              <a:t>2026-08-16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D9D675-15F5-B04D-B01E-6DC9B8D99B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634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D675-15F5-B04D-B01E-6DC9B8D99BD1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451272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D675-15F5-B04D-B01E-6DC9B8D99BD1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006068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D675-15F5-B04D-B01E-6DC9B8D99BD1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3943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E37B2-9326-35D2-B106-5F3C32A5A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798FBA-C295-791B-1902-D1486211C8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A5B809-9853-9CC0-9651-F731DAC41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B3E57D-CD3F-E2D1-2163-4DA34CCBA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D675-15F5-B04D-B01E-6DC9B8D99BD1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03444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D675-15F5-B04D-B01E-6DC9B8D99BD1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3243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0DB98-CCB7-BD27-0456-5843B3B01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D852EA-AE4F-F3D1-B047-9BE21278F9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0E0EAD-A119-F871-F871-71C468DD3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7F42BC-F36A-E1B7-8B0C-F8A9449E4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D675-15F5-B04D-B01E-6DC9B8D99BD1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77118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D675-15F5-B04D-B01E-6DC9B8D99BD1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58967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60CCD-2064-BBC3-17AC-07BA868F2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102867-2C20-E3A8-CD18-5F9217EDA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0E75E9-8FCE-A998-548A-7B1E9333E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0CE019-F973-3565-4627-E9E3EB801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D675-15F5-B04D-B01E-6DC9B8D99BD1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74497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74427-3C2B-1C35-871E-B609157C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F23B1D-D462-E184-8A18-F182E27642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CF0F84-C769-B95F-A270-F17A2E7C2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27E0B9-6028-901A-DB48-23ABCA2AC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D9D675-15F5-B04D-B01E-6DC9B8D99BD1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287325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1">
            <a:extLst>
              <a:ext uri="{FF2B5EF4-FFF2-40B4-BE49-F238E27FC236}">
                <a16:creationId xmlns:a16="http://schemas.microsoft.com/office/drawing/2014/main" id="{968060A9-82E0-6A9B-5D94-F9686D5296A9}"/>
              </a:ext>
            </a:extLst>
          </p:cNvPr>
          <p:cNvSpPr txBox="1"/>
          <p:nvPr userDrawn="1"/>
        </p:nvSpPr>
        <p:spPr>
          <a:xfrm>
            <a:off x="12915900" y="13055600"/>
            <a:ext cx="103378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6160"/>
              </a:lnSpc>
            </a:pPr>
            <a:r>
              <a:rPr lang="ko-KR" altLang="en-US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마당을 나온 </a:t>
            </a:r>
            <a:r>
              <a:rPr lang="ko-KR" altLang="en-US" sz="1866" b="0" i="0" u="none" strike="noStrike" dirty="0" err="1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드론</a:t>
            </a:r>
            <a:endParaRPr lang="en-US" sz="1866" b="0" i="0" u="none" strike="noStrike" dirty="0">
              <a:solidFill>
                <a:srgbClr val="0B345B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5" name="Picture 12">
            <a:extLst>
              <a:ext uri="{FF2B5EF4-FFF2-40B4-BE49-F238E27FC236}">
                <a16:creationId xmlns:a16="http://schemas.microsoft.com/office/drawing/2014/main" id="{65EED060-7BE6-4D69-6F47-A9C71971D8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29" name="TextBox 26">
            <a:extLst>
              <a:ext uri="{FF2B5EF4-FFF2-40B4-BE49-F238E27FC236}">
                <a16:creationId xmlns:a16="http://schemas.microsoft.com/office/drawing/2014/main" id="{B5E6853C-DBFC-106B-8E2B-FBC96E804F10}"/>
              </a:ext>
            </a:extLst>
          </p:cNvPr>
          <p:cNvSpPr txBox="1"/>
          <p:nvPr userDrawn="1"/>
        </p:nvSpPr>
        <p:spPr>
          <a:xfrm>
            <a:off x="1473200" y="13055600"/>
            <a:ext cx="46228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2026</a:t>
            </a:r>
            <a:r>
              <a:rPr lang="ko-KR" altLang="en-US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년 </a:t>
            </a:r>
            <a:r>
              <a:rPr lang="en" altLang="ko-KR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NET </a:t>
            </a:r>
            <a:r>
              <a:rPr lang="ko-KR" altLang="en-US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챌린지 캠프 시즌 </a:t>
            </a:r>
            <a:r>
              <a:rPr lang="en-US" altLang="ko-KR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13 </a:t>
            </a:r>
            <a:r>
              <a:rPr lang="ko-KR" altLang="en-US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착수보고회</a:t>
            </a:r>
          </a:p>
        </p:txBody>
      </p:sp>
      <p:pic>
        <p:nvPicPr>
          <p:cNvPr id="38" name="Picture 35">
            <a:extLst>
              <a:ext uri="{FF2B5EF4-FFF2-40B4-BE49-F238E27FC236}">
                <a16:creationId xmlns:a16="http://schemas.microsoft.com/office/drawing/2014/main" id="{6A524C23-C22A-4376-6572-188FD9F83D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24384000" cy="1054100"/>
          </a:xfrm>
          <a:prstGeom prst="rect">
            <a:avLst/>
          </a:prstGeom>
        </p:spPr>
      </p:pic>
      <p:pic>
        <p:nvPicPr>
          <p:cNvPr id="39" name="Picture 36">
            <a:extLst>
              <a:ext uri="{FF2B5EF4-FFF2-40B4-BE49-F238E27FC236}">
                <a16:creationId xmlns:a16="http://schemas.microsoft.com/office/drawing/2014/main" id="{650AAC87-E701-5FE9-D5F8-C773AFDD40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2" name="텍스트 개체 틀 41">
            <a:extLst>
              <a:ext uri="{FF2B5EF4-FFF2-40B4-BE49-F238E27FC236}">
                <a16:creationId xmlns:a16="http://schemas.microsoft.com/office/drawing/2014/main" id="{CEA7AB31-C013-AE9A-0556-5FAC89D96F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74850" y="146050"/>
            <a:ext cx="6781800" cy="762000"/>
          </a:xfrm>
        </p:spPr>
        <p:txBody>
          <a:bodyPr lIns="0" tIns="0" rIns="0" bIns="0" rtlCol="0" anchor="t"/>
          <a:lstStyle>
            <a:lvl1pPr>
              <a:buNone/>
              <a:defRPr lang="ko-KR" altLang="en-US" sz="44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marL="0" lvl="0">
              <a:lnSpc>
                <a:spcPct val="116199"/>
              </a:lnSpc>
            </a:pPr>
            <a:r>
              <a:rPr kumimoji="1" lang="ko-KR" altLang="en-US" dirty="0"/>
              <a:t>소제목</a:t>
            </a:r>
          </a:p>
        </p:txBody>
      </p:sp>
      <p:sp>
        <p:nvSpPr>
          <p:cNvPr id="43" name="Slide Number Placeholder 8">
            <a:extLst>
              <a:ext uri="{FF2B5EF4-FFF2-40B4-BE49-F238E27FC236}">
                <a16:creationId xmlns:a16="http://schemas.microsoft.com/office/drawing/2014/main" id="{4227AD83-BDA1-00CA-F5E7-5735D40C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13058775"/>
            <a:ext cx="2133600" cy="365125"/>
          </a:xfrm>
        </p:spPr>
        <p:txBody>
          <a:bodyPr lIns="0" tIns="0" rIns="0" bIns="0" rtlCol="0" anchor="t"/>
          <a:lstStyle>
            <a:lvl1pPr algn="ctr">
              <a:defRPr lang="en-US" sz="1866" b="0" i="0" u="none" strike="noStrike" smtClean="0">
                <a:solidFill>
                  <a:schemeClr val="bg1">
                    <a:lumMod val="65000"/>
                  </a:schemeClr>
                </a:solidFill>
                <a:latin typeface="Pretendard Regular"/>
                <a:ea typeface="Pretendard Regular"/>
                <a:cs typeface="Pretendard Regular"/>
              </a:defRPr>
            </a:lvl1pPr>
          </a:lstStyle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‹#›</a:t>
            </a:fld>
            <a:endParaRPr lang="ko-KR" altLang="en-US"/>
          </a:p>
        </p:txBody>
      </p:sp>
      <p:sp>
        <p:nvSpPr>
          <p:cNvPr id="44" name="직각 삼각형[R] 43">
            <a:extLst>
              <a:ext uri="{FF2B5EF4-FFF2-40B4-BE49-F238E27FC236}">
                <a16:creationId xmlns:a16="http://schemas.microsoft.com/office/drawing/2014/main" id="{72D669B2-4EA6-7A0C-6676-0A0031463D4F}"/>
              </a:ext>
            </a:extLst>
          </p:cNvPr>
          <p:cNvSpPr/>
          <p:nvPr userDrawn="1"/>
        </p:nvSpPr>
        <p:spPr>
          <a:xfrm flipH="1">
            <a:off x="20625728" y="-1752601"/>
            <a:ext cx="3758272" cy="2760019"/>
          </a:xfrm>
          <a:prstGeom prst="rtTriangle">
            <a:avLst/>
          </a:prstGeom>
          <a:solidFill>
            <a:srgbClr val="1745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5" name="직각 삼각형[R] 44">
            <a:extLst>
              <a:ext uri="{FF2B5EF4-FFF2-40B4-BE49-F238E27FC236}">
                <a16:creationId xmlns:a16="http://schemas.microsoft.com/office/drawing/2014/main" id="{3EAE87DB-032C-02C3-21E1-0E35084CDA99}"/>
              </a:ext>
            </a:extLst>
          </p:cNvPr>
          <p:cNvSpPr/>
          <p:nvPr userDrawn="1"/>
        </p:nvSpPr>
        <p:spPr>
          <a:xfrm flipH="1">
            <a:off x="22174200" y="-1799281"/>
            <a:ext cx="2209800" cy="2806699"/>
          </a:xfrm>
          <a:prstGeom prst="rtTriangle">
            <a:avLst/>
          </a:prstGeom>
          <a:solidFill>
            <a:srgbClr val="1B49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5" Type="http://schemas.openxmlformats.org/officeDocument/2006/relationships/chart" Target="../charts/chart1.xml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3.png"/><Relationship Id="rId18" Type="http://schemas.openxmlformats.org/officeDocument/2006/relationships/image" Target="../media/image48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33.png"/><Relationship Id="rId17" Type="http://schemas.openxmlformats.org/officeDocument/2006/relationships/image" Target="../media/image4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2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jpeg"/><Relationship Id="rId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1.png"/><Relationship Id="rId7" Type="http://schemas.openxmlformats.org/officeDocument/2006/relationships/image" Target="../media/image6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1.png"/><Relationship Id="rId9" Type="http://schemas.openxmlformats.org/officeDocument/2006/relationships/image" Target="../media/image6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57.png"/><Relationship Id="rId10" Type="http://schemas.openxmlformats.org/officeDocument/2006/relationships/image" Target="../media/image77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0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6.png"/><Relationship Id="rId11" Type="http://schemas.openxmlformats.org/officeDocument/2006/relationships/image" Target="../media/image89.png"/><Relationship Id="rId5" Type="http://schemas.openxmlformats.org/officeDocument/2006/relationships/image" Target="../media/image85.png"/><Relationship Id="rId10" Type="http://schemas.openxmlformats.org/officeDocument/2006/relationships/image" Target="../media/image88.png"/><Relationship Id="rId4" Type="http://schemas.openxmlformats.org/officeDocument/2006/relationships/image" Target="../media/image84.png"/><Relationship Id="rId9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1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image" Target="../media/image91.png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19" Type="http://schemas.openxmlformats.org/officeDocument/2006/relationships/image" Target="../media/image107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35.png"/><Relationship Id="rId7" Type="http://schemas.openxmlformats.org/officeDocument/2006/relationships/image" Target="../media/image112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118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11" Type="http://schemas.openxmlformats.org/officeDocument/2006/relationships/image" Target="../media/image117.png"/><Relationship Id="rId5" Type="http://schemas.openxmlformats.org/officeDocument/2006/relationships/image" Target="../media/image59.png"/><Relationship Id="rId15" Type="http://schemas.openxmlformats.org/officeDocument/2006/relationships/image" Target="../media/image121.png"/><Relationship Id="rId10" Type="http://schemas.openxmlformats.org/officeDocument/2006/relationships/image" Target="../media/image116.png"/><Relationship Id="rId4" Type="http://schemas.openxmlformats.org/officeDocument/2006/relationships/image" Target="../media/image58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13" Type="http://schemas.openxmlformats.org/officeDocument/2006/relationships/image" Target="../media/image131.png"/><Relationship Id="rId3" Type="http://schemas.openxmlformats.org/officeDocument/2006/relationships/image" Target="../media/image54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2" Type="http://schemas.openxmlformats.org/officeDocument/2006/relationships/image" Target="../media/image53.png"/><Relationship Id="rId16" Type="http://schemas.openxmlformats.org/officeDocument/2006/relationships/image" Target="../media/image1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67.png"/><Relationship Id="rId3" Type="http://schemas.openxmlformats.org/officeDocument/2006/relationships/image" Target="../media/image51.png"/><Relationship Id="rId7" Type="http://schemas.openxmlformats.org/officeDocument/2006/relationships/image" Target="../media/image65.png"/><Relationship Id="rId12" Type="http://schemas.openxmlformats.org/officeDocument/2006/relationships/image" Target="../media/image13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11" Type="http://schemas.openxmlformats.org/officeDocument/2006/relationships/image" Target="../media/image137.png"/><Relationship Id="rId5" Type="http://schemas.openxmlformats.org/officeDocument/2006/relationships/image" Target="../media/image63.png"/><Relationship Id="rId10" Type="http://schemas.openxmlformats.org/officeDocument/2006/relationships/image" Target="../media/image136.png"/><Relationship Id="rId4" Type="http://schemas.openxmlformats.org/officeDocument/2006/relationships/image" Target="../media/image1.png"/><Relationship Id="rId9" Type="http://schemas.openxmlformats.org/officeDocument/2006/relationships/image" Target="../media/image135.png"/><Relationship Id="rId14" Type="http://schemas.openxmlformats.org/officeDocument/2006/relationships/image" Target="../media/image6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57.png"/><Relationship Id="rId7" Type="http://schemas.openxmlformats.org/officeDocument/2006/relationships/image" Target="../media/image14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13" Type="http://schemas.openxmlformats.org/officeDocument/2006/relationships/image" Target="../media/image154.png"/><Relationship Id="rId18" Type="http://schemas.openxmlformats.org/officeDocument/2006/relationships/image" Target="../media/image159.png"/><Relationship Id="rId3" Type="http://schemas.openxmlformats.org/officeDocument/2006/relationships/image" Target="../media/image57.png"/><Relationship Id="rId7" Type="http://schemas.openxmlformats.org/officeDocument/2006/relationships/image" Target="../media/image148.png"/><Relationship Id="rId12" Type="http://schemas.openxmlformats.org/officeDocument/2006/relationships/image" Target="../media/image153.png"/><Relationship Id="rId17" Type="http://schemas.openxmlformats.org/officeDocument/2006/relationships/image" Target="../media/image158.png"/><Relationship Id="rId2" Type="http://schemas.openxmlformats.org/officeDocument/2006/relationships/image" Target="../media/image108.png"/><Relationship Id="rId16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5" Type="http://schemas.openxmlformats.org/officeDocument/2006/relationships/image" Target="../media/image156.png"/><Relationship Id="rId10" Type="http://schemas.openxmlformats.org/officeDocument/2006/relationships/image" Target="../media/image151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Relationship Id="rId14" Type="http://schemas.openxmlformats.org/officeDocument/2006/relationships/image" Target="../media/image15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png"/><Relationship Id="rId13" Type="http://schemas.openxmlformats.org/officeDocument/2006/relationships/image" Target="../media/image170.png"/><Relationship Id="rId3" Type="http://schemas.openxmlformats.org/officeDocument/2006/relationships/image" Target="../media/image1.png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5" Type="http://schemas.openxmlformats.org/officeDocument/2006/relationships/image" Target="../media/image162.png"/><Relationship Id="rId10" Type="http://schemas.openxmlformats.org/officeDocument/2006/relationships/image" Target="../media/image167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33.png"/><Relationship Id="rId18" Type="http://schemas.openxmlformats.org/officeDocument/2006/relationships/image" Target="../media/image174.png"/><Relationship Id="rId3" Type="http://schemas.openxmlformats.org/officeDocument/2006/relationships/image" Target="../media/image57.png"/><Relationship Id="rId21" Type="http://schemas.openxmlformats.org/officeDocument/2006/relationships/image" Target="../media/image177.png"/><Relationship Id="rId7" Type="http://schemas.openxmlformats.org/officeDocument/2006/relationships/image" Target="../media/image39.png"/><Relationship Id="rId12" Type="http://schemas.openxmlformats.org/officeDocument/2006/relationships/image" Target="../media/image172.png"/><Relationship Id="rId17" Type="http://schemas.openxmlformats.org/officeDocument/2006/relationships/image" Target="../media/image173.png"/><Relationship Id="rId2" Type="http://schemas.openxmlformats.org/officeDocument/2006/relationships/image" Target="../media/image3.png"/><Relationship Id="rId16" Type="http://schemas.openxmlformats.org/officeDocument/2006/relationships/image" Target="../media/image45.png"/><Relationship Id="rId20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171.png"/><Relationship Id="rId5" Type="http://schemas.openxmlformats.org/officeDocument/2006/relationships/image" Target="../media/image37.png"/><Relationship Id="rId15" Type="http://schemas.openxmlformats.org/officeDocument/2006/relationships/image" Target="../media/image44.png"/><Relationship Id="rId10" Type="http://schemas.openxmlformats.org/officeDocument/2006/relationships/image" Target="../media/image42.png"/><Relationship Id="rId19" Type="http://schemas.openxmlformats.org/officeDocument/2006/relationships/image" Target="../media/image175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43.png"/><Relationship Id="rId22" Type="http://schemas.openxmlformats.org/officeDocument/2006/relationships/image" Target="../media/image17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4.png"/><Relationship Id="rId3" Type="http://schemas.openxmlformats.org/officeDocument/2006/relationships/image" Target="../media/image57.png"/><Relationship Id="rId7" Type="http://schemas.openxmlformats.org/officeDocument/2006/relationships/image" Target="../media/image183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2.png"/><Relationship Id="rId5" Type="http://schemas.openxmlformats.org/officeDocument/2006/relationships/image" Target="../media/image181.png"/><Relationship Id="rId10" Type="http://schemas.openxmlformats.org/officeDocument/2006/relationships/image" Target="../media/image186.png"/><Relationship Id="rId4" Type="http://schemas.openxmlformats.org/officeDocument/2006/relationships/image" Target="../media/image180.png"/><Relationship Id="rId9" Type="http://schemas.openxmlformats.org/officeDocument/2006/relationships/image" Target="../media/image18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3" Type="http://schemas.openxmlformats.org/officeDocument/2006/relationships/image" Target="../media/image1.png"/><Relationship Id="rId7" Type="http://schemas.openxmlformats.org/officeDocument/2006/relationships/image" Target="../media/image18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8.png"/><Relationship Id="rId5" Type="http://schemas.openxmlformats.org/officeDocument/2006/relationships/image" Target="../media/image187.png"/><Relationship Id="rId4" Type="http://schemas.openxmlformats.org/officeDocument/2006/relationships/image" Target="../media/image12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3" Type="http://schemas.openxmlformats.org/officeDocument/2006/relationships/image" Target="../media/image54.png"/><Relationship Id="rId7" Type="http://schemas.openxmlformats.org/officeDocument/2006/relationships/image" Target="../media/image195.png"/><Relationship Id="rId12" Type="http://schemas.openxmlformats.org/officeDocument/2006/relationships/image" Target="../media/image200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5" Type="http://schemas.openxmlformats.org/officeDocument/2006/relationships/image" Target="../media/image203.png"/><Relationship Id="rId10" Type="http://schemas.openxmlformats.org/officeDocument/2006/relationships/image" Target="../media/image198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140000">
            <a:off x="16865600" y="-990600"/>
            <a:ext cx="8229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04900" y="7797800"/>
            <a:ext cx="11239500" cy="698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6160"/>
              </a:lnSpc>
            </a:pPr>
            <a:r>
              <a:rPr lang="en-US" sz="3938" b="0" i="0" u="none" strike="noStrike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SkyLens</a:t>
            </a:r>
            <a:r>
              <a:rPr lang="en-US" sz="3938" b="0" i="0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3938" b="0" i="0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 영상을 </a:t>
            </a:r>
            <a:r>
              <a:rPr lang="en-US" altLang="ko-KR" sz="3938" b="0" i="0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en-US" altLang="ko-KR" sz="3938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 </a:t>
            </a:r>
            <a:r>
              <a:rPr lang="ko-KR" altLang="en-US" sz="3938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상황판으로 바꿉니다</a:t>
            </a:r>
            <a:endParaRPr lang="en-US" sz="3938" b="0" i="0" u="none" strike="noStrike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04898" y="1460500"/>
            <a:ext cx="8115302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466" b="0" i="0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</a:t>
            </a:r>
            <a:r>
              <a:rPr lang="ko-KR" altLang="en-US" sz="3466" b="0" i="0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</a:t>
            </a:r>
            <a:r>
              <a:rPr lang="en-US" sz="3466" b="0" i="0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NET </a:t>
            </a:r>
            <a:r>
              <a:rPr lang="ko-KR" altLang="en-US" sz="3466" b="0" i="0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챌린지 캠프 시즌 </a:t>
            </a:r>
            <a:r>
              <a:rPr lang="en-US" altLang="ko-KR" sz="3466" b="0" i="0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</a:t>
            </a:r>
            <a:r>
              <a:rPr lang="ko-KR" altLang="en-US" sz="3466" b="0" i="0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착수보고회</a:t>
            </a:r>
            <a:endParaRPr lang="en-US" sz="3466" b="0" i="0" u="none" strike="noStrike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04899" y="4191000"/>
            <a:ext cx="13068299" cy="1498600"/>
          </a:xfrm>
          <a:prstGeom prst="rect">
            <a:avLst/>
          </a:prstGeom>
        </p:spPr>
        <p:txBody>
          <a:bodyPr lIns="0" tIns="53595" rIns="0" bIns="0" rtlCol="0" anchor="t"/>
          <a:lstStyle/>
          <a:p>
            <a:pPr lvl="0" algn="l">
              <a:lnSpc>
                <a:spcPct val="107899"/>
              </a:lnSpc>
            </a:pPr>
            <a:r>
              <a:rPr lang="ko-KR" altLang="en-US" sz="8440" b="1" i="0" u="none" strike="noStrike" spc="-300" dirty="0" err="1">
                <a:solidFill>
                  <a:srgbClr val="FFCD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멀티드론</a:t>
            </a:r>
            <a:r>
              <a:rPr lang="ko-KR" altLang="en-US" sz="8440" b="1" i="0" u="none" strike="noStrike" spc="-300" dirty="0">
                <a:solidFill>
                  <a:srgbClr val="FFCD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기반 재난 현장 실기간</a:t>
            </a:r>
            <a:endParaRPr lang="en-US" sz="8440" b="1" i="0" u="none" strike="noStrike" spc="-300" dirty="0">
              <a:solidFill>
                <a:srgbClr val="FFCD4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104900" y="5549900"/>
            <a:ext cx="13068300" cy="2247900"/>
          </a:xfrm>
          <a:prstGeom prst="rect">
            <a:avLst/>
          </a:prstGeom>
        </p:spPr>
        <p:txBody>
          <a:bodyPr lIns="0" tIns="80392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12660" b="1" i="0" u="none" strike="noStrike" spc="-4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</a:t>
            </a:r>
            <a:r>
              <a:rPr lang="ko-KR" altLang="en-US" sz="12660" b="1" i="0" u="none" strike="noStrike" spc="-4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상황인식 시스템</a:t>
            </a:r>
            <a:endParaRPr lang="en-US" sz="12660" b="1" i="0" u="none" strike="noStrike" spc="-400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04900" y="11125200"/>
            <a:ext cx="1866900" cy="186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dist">
              <a:lnSpc>
                <a:spcPct val="124499"/>
              </a:lnSpc>
            </a:pPr>
            <a:r>
              <a:rPr lang="ko-KR" altLang="en-US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발표일자 </a:t>
            </a:r>
            <a:r>
              <a:rPr lang="en-US" altLang="ko-KR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</a:t>
            </a:r>
            <a:r>
              <a:rPr lang="ko-KR" altLang="en-US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2829" u="none" strike="noStrike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dist">
              <a:lnSpc>
                <a:spcPct val="124499"/>
              </a:lnSpc>
            </a:pPr>
            <a:r>
              <a:rPr lang="ko-KR" altLang="en-US" sz="2829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 </a:t>
            </a:r>
            <a:r>
              <a:rPr lang="en-US" altLang="ko-KR" sz="2829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829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명 </a:t>
            </a:r>
            <a:r>
              <a:rPr lang="en-US" altLang="ko-KR" sz="2829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</a:t>
            </a:r>
            <a:r>
              <a:rPr lang="ko-KR" altLang="en-US" sz="2829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2829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dist">
              <a:lnSpc>
                <a:spcPct val="124499"/>
              </a:lnSpc>
            </a:pPr>
            <a:r>
              <a:rPr lang="ko-KR" altLang="en-US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 성 원 </a:t>
            </a:r>
            <a:r>
              <a:rPr lang="en-US" altLang="ko-KR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|</a:t>
            </a:r>
            <a:r>
              <a:rPr lang="ko-KR" altLang="en-US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2829" u="none" strike="noStrike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2DF76124-190D-E6C9-3D7D-1E0F2EA8026A}"/>
              </a:ext>
            </a:extLst>
          </p:cNvPr>
          <p:cNvSpPr txBox="1"/>
          <p:nvPr/>
        </p:nvSpPr>
        <p:spPr>
          <a:xfrm>
            <a:off x="3276600" y="11125200"/>
            <a:ext cx="4572000" cy="1866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just">
              <a:lnSpc>
                <a:spcPct val="124499"/>
              </a:lnSpc>
            </a:pPr>
            <a:r>
              <a:rPr lang="en-US" altLang="ko-KR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2026.07.24</a:t>
            </a:r>
          </a:p>
          <a:p>
            <a:pPr lvl="0" algn="just">
              <a:lnSpc>
                <a:spcPct val="124499"/>
              </a:lnSpc>
            </a:pPr>
            <a:r>
              <a:rPr lang="ko-KR" altLang="en-US" sz="2829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마당을 나온 </a:t>
            </a:r>
            <a:r>
              <a:rPr lang="ko-KR" altLang="en-US" sz="2829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드론</a:t>
            </a:r>
            <a:endParaRPr lang="en-US" altLang="ko-KR" sz="2829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0" algn="just">
              <a:lnSpc>
                <a:spcPct val="124499"/>
              </a:lnSpc>
            </a:pPr>
            <a:r>
              <a:rPr lang="ko-KR" altLang="en-US" sz="2829" u="none" strike="noStrike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정준모</a:t>
            </a:r>
            <a:r>
              <a:rPr lang="en-US" altLang="ko-KR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나소진</a:t>
            </a:r>
            <a:r>
              <a:rPr lang="en-US" altLang="ko-KR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829" u="none" strike="noStrike" dirty="0" err="1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문채운</a:t>
            </a:r>
            <a:r>
              <a:rPr lang="en-US" altLang="ko-KR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2829" u="none" strike="noStrike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박상우</a:t>
            </a:r>
            <a:endParaRPr lang="en-US" sz="2829" u="none" strike="noStrike" dirty="0">
              <a:solidFill>
                <a:srgbClr val="FFFFF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자유형 22">
            <a:extLst>
              <a:ext uri="{FF2B5EF4-FFF2-40B4-BE49-F238E27FC236}">
                <a16:creationId xmlns:a16="http://schemas.microsoft.com/office/drawing/2014/main" id="{AB3152E9-AC95-5CB0-50F6-CB866FA62C1D}"/>
              </a:ext>
            </a:extLst>
          </p:cNvPr>
          <p:cNvSpPr/>
          <p:nvPr/>
        </p:nvSpPr>
        <p:spPr>
          <a:xfrm>
            <a:off x="14262097" y="-2158331"/>
            <a:ext cx="12230103" cy="16979899"/>
          </a:xfrm>
          <a:custGeom>
            <a:avLst/>
            <a:gdLst>
              <a:gd name="csX0" fmla="*/ 7649135 w 12230103"/>
              <a:gd name="csY0" fmla="*/ 0 h 16979899"/>
              <a:gd name="csX1" fmla="*/ 10579103 w 12230103"/>
              <a:gd name="csY1" fmla="*/ 0 h 16979899"/>
              <a:gd name="csX2" fmla="*/ 11299271 w 12230103"/>
              <a:gd name="csY2" fmla="*/ 0 h 16979899"/>
              <a:gd name="csX3" fmla="*/ 12230103 w 12230103"/>
              <a:gd name="csY3" fmla="*/ 0 h 16979899"/>
              <a:gd name="csX4" fmla="*/ 12230103 w 12230103"/>
              <a:gd name="csY4" fmla="*/ 862932 h 16979899"/>
              <a:gd name="csX5" fmla="*/ 12226675 w 12230103"/>
              <a:gd name="csY5" fmla="*/ 862932 h 16979899"/>
              <a:gd name="csX6" fmla="*/ 12230103 w 12230103"/>
              <a:gd name="csY6" fmla="*/ 930833 h 16979899"/>
              <a:gd name="csX7" fmla="*/ 12230103 w 12230103"/>
              <a:gd name="csY7" fmla="*/ 16979899 h 16979899"/>
              <a:gd name="csX8" fmla="*/ 7331909 w 12230103"/>
              <a:gd name="csY8" fmla="*/ 16979899 h 16979899"/>
              <a:gd name="csX9" fmla="*/ 6718303 w 12230103"/>
              <a:gd name="csY9" fmla="*/ 16979899 h 16979899"/>
              <a:gd name="csX10" fmla="*/ 0 w 12230103"/>
              <a:gd name="csY10" fmla="*/ 16979899 h 16979899"/>
              <a:gd name="csX11" fmla="*/ 6753997 w 12230103"/>
              <a:gd name="csY11" fmla="*/ 677964 h 16979899"/>
              <a:gd name="csX12" fmla="*/ 6760151 w 12230103"/>
              <a:gd name="csY12" fmla="*/ 654031 h 16979899"/>
              <a:gd name="csX13" fmla="*/ 7649135 w 12230103"/>
              <a:gd name="csY13" fmla="*/ 0 h 169798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2230103" h="16979899">
                <a:moveTo>
                  <a:pt x="7649135" y="0"/>
                </a:moveTo>
                <a:lnTo>
                  <a:pt x="10579103" y="0"/>
                </a:lnTo>
                <a:lnTo>
                  <a:pt x="11299271" y="0"/>
                </a:lnTo>
                <a:lnTo>
                  <a:pt x="12230103" y="0"/>
                </a:lnTo>
                <a:lnTo>
                  <a:pt x="12230103" y="862932"/>
                </a:lnTo>
                <a:lnTo>
                  <a:pt x="12226675" y="862932"/>
                </a:lnTo>
                <a:lnTo>
                  <a:pt x="12230103" y="930833"/>
                </a:lnTo>
                <a:lnTo>
                  <a:pt x="12230103" y="16979899"/>
                </a:lnTo>
                <a:lnTo>
                  <a:pt x="7331909" y="16979899"/>
                </a:lnTo>
                <a:lnTo>
                  <a:pt x="6718303" y="16979899"/>
                </a:lnTo>
                <a:lnTo>
                  <a:pt x="0" y="16979899"/>
                </a:lnTo>
                <a:lnTo>
                  <a:pt x="6753997" y="677964"/>
                </a:lnTo>
                <a:lnTo>
                  <a:pt x="6760151" y="654031"/>
                </a:lnTo>
                <a:cubicBezTo>
                  <a:pt x="6878005" y="275118"/>
                  <a:pt x="7231441" y="0"/>
                  <a:pt x="7649135" y="0"/>
                </a:cubicBezTo>
                <a:close/>
              </a:path>
            </a:pathLst>
          </a:custGeom>
          <a:blipFill dpi="0" rotWithShape="1">
            <a:blip r:embed="rId3">
              <a:alphaModFix amt="87000"/>
            </a:blip>
            <a:srcRect/>
            <a:stretch>
              <a:fillRect b="-8000"/>
            </a:stretch>
          </a:blipFill>
          <a:ln>
            <a:noFill/>
          </a:ln>
          <a:effectLst>
            <a:innerShdw blurRad="899538" dist="265175" dir="12600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440000">
            <a:off x="22618700" y="-1371600"/>
            <a:ext cx="3556000" cy="10807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1140000">
            <a:off x="-6604000" y="5359400"/>
            <a:ext cx="8229600" cy="17551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900000">
            <a:off x="23406100" y="-1079500"/>
            <a:ext cx="3302000" cy="11049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336800" y="2298700"/>
            <a:ext cx="4838700" cy="1346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7600" b="0" i="0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Contents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0177" y="6215450"/>
            <a:ext cx="5398066" cy="5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5842" y="6228150"/>
            <a:ext cx="5398066" cy="5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11507" y="6215450"/>
            <a:ext cx="5398066" cy="50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380177" y="6713834"/>
            <a:ext cx="6089693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4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기획안 내용</a:t>
            </a:r>
            <a:endParaRPr lang="en-US" sz="4400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245842" y="6713834"/>
            <a:ext cx="6089693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4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아이디어 구현 계획</a:t>
            </a:r>
            <a:endParaRPr lang="en-US" sz="4400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6111507" y="6713834"/>
            <a:ext cx="5921003" cy="62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4400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연구 개발비 사용 계획</a:t>
            </a:r>
            <a:endParaRPr lang="en-US" sz="4400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380177" y="4843850"/>
            <a:ext cx="2361654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CD4A"/>
                </a:solidFill>
                <a:latin typeface="Pretendard ExtraBold"/>
                <a:ea typeface="Pretendard ExtraBold"/>
                <a:cs typeface="Pretendard Extra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245842" y="4843850"/>
            <a:ext cx="2108619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CD4A"/>
                </a:solidFill>
                <a:latin typeface="Pretendard ExtraBold"/>
                <a:ea typeface="Pretendard ExtraBold"/>
                <a:cs typeface="Pretendard ExtraBold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111507" y="4843850"/>
            <a:ext cx="2361654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CD4A"/>
                </a:solidFill>
                <a:latin typeface="Pretendard ExtraBold"/>
                <a:ea typeface="Pretendard ExtraBold"/>
                <a:cs typeface="Pretendard ExtraBold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80177" y="7841050"/>
            <a:ext cx="6039086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개요 </a:t>
            </a:r>
            <a:endParaRPr lang="en-US" altLang="ko-KR" sz="2400" b="0" i="0" u="none" strike="noStrike" dirty="0">
              <a:solidFill>
                <a:srgbClr val="B7C8D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245842" y="7841050"/>
            <a:ext cx="6039086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400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아이디어의 세부 구현 계획 및 적용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80177" y="8437950"/>
            <a:ext cx="6039086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개발 목적 및 필요성</a:t>
            </a:r>
            <a:endParaRPr lang="en-US" sz="2400" b="0" i="0" u="none" strike="noStrike" dirty="0">
              <a:solidFill>
                <a:srgbClr val="B7C8D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245842" y="8437950"/>
            <a:ext cx="5161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KOREN </a:t>
            </a:r>
            <a:r>
              <a:rPr lang="ko-KR" altLang="en-US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연동 및 활용 방안</a:t>
            </a:r>
            <a:endParaRPr lang="en-US" sz="2400" b="0" i="0" u="none" strike="noStrike" dirty="0">
              <a:solidFill>
                <a:srgbClr val="B7C8D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380177" y="9022150"/>
            <a:ext cx="6039086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세부 개발 내용 및 범위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45842" y="9022150"/>
            <a:ext cx="6039086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결과물의 통합 및 시험</a:t>
            </a:r>
            <a:r>
              <a:rPr lang="en-US" altLang="ko-KR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ko-KR" altLang="en-US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검증 계획</a:t>
            </a:r>
            <a:endParaRPr lang="en-US" sz="2400" b="0" i="0" u="none" strike="noStrike" dirty="0">
              <a:solidFill>
                <a:srgbClr val="B7C8D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7F69A4E3-17E7-93D8-5CA9-340EBB39CE7D}"/>
              </a:ext>
            </a:extLst>
          </p:cNvPr>
          <p:cNvSpPr txBox="1"/>
          <p:nvPr/>
        </p:nvSpPr>
        <p:spPr>
          <a:xfrm>
            <a:off x="2336800" y="9615784"/>
            <a:ext cx="6039086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2400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예상 결과물</a:t>
            </a:r>
            <a:endParaRPr lang="en-US" altLang="ko-KR" sz="2400" dirty="0">
              <a:solidFill>
                <a:srgbClr val="B7C8D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3" name="TextBox 28">
            <a:extLst>
              <a:ext uri="{FF2B5EF4-FFF2-40B4-BE49-F238E27FC236}">
                <a16:creationId xmlns:a16="http://schemas.microsoft.com/office/drawing/2014/main" id="{EA15D254-5EE9-A259-CD22-DA7B03F59B31}"/>
              </a:ext>
            </a:extLst>
          </p:cNvPr>
          <p:cNvSpPr txBox="1"/>
          <p:nvPr/>
        </p:nvSpPr>
        <p:spPr>
          <a:xfrm>
            <a:off x="9245842" y="9615784"/>
            <a:ext cx="6039086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참여 구성원별 역할 및 개발 일정</a:t>
            </a:r>
            <a:endParaRPr lang="en-US" sz="2400" b="0" i="0" u="none" strike="noStrike" dirty="0">
              <a:solidFill>
                <a:srgbClr val="B7C8D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4AE1AB85-9B21-DD97-E489-90A2FA3C7A43}"/>
              </a:ext>
            </a:extLst>
          </p:cNvPr>
          <p:cNvSpPr txBox="1"/>
          <p:nvPr/>
        </p:nvSpPr>
        <p:spPr>
          <a:xfrm>
            <a:off x="9245842" y="10203250"/>
            <a:ext cx="6039086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altLang="en-US" sz="2400" b="0" i="0" u="none" strike="noStrike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기술 구현에 따른 기대 효과</a:t>
            </a:r>
            <a:endParaRPr lang="en-US" sz="2400" b="0" i="0" u="none" strike="noStrike" dirty="0">
              <a:solidFill>
                <a:srgbClr val="B7C8D8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2" name="슬라이드 번호 개체 틀 39">
            <a:extLst>
              <a:ext uri="{FF2B5EF4-FFF2-40B4-BE49-F238E27FC236}">
                <a16:creationId xmlns:a16="http://schemas.microsoft.com/office/drawing/2014/main" id="{FE319060-39E9-1920-AA8E-3A1474F0A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13058775"/>
            <a:ext cx="2133600" cy="365125"/>
          </a:xfrm>
        </p:spPr>
        <p:txBody>
          <a:bodyPr vert="horz" lIns="0" tIns="0" rIns="0" bIns="0" rtlCol="0" anchor="t"/>
          <a:lstStyle/>
          <a:p>
            <a:pPr algn="ctr">
              <a:lnSpc>
                <a:spcPct val="116199"/>
              </a:lnSpc>
            </a:pPr>
            <a:fld id="{B6F15528-21DE-4FAA-801E-634DDDAF4B2B}" type="slidenum">
              <a:rPr lang="en-US" altLang="ko-KR" sz="1866">
                <a:solidFill>
                  <a:schemeClr val="bg1">
                    <a:lumMod val="65000"/>
                  </a:schemeClr>
                </a:solidFill>
                <a:latin typeface="Pretendard Regular"/>
                <a:ea typeface="Pretendard Regular"/>
                <a:cs typeface="Pretendard Regular"/>
              </a:rPr>
              <a:pPr algn="ctr">
                <a:lnSpc>
                  <a:spcPct val="116199"/>
                </a:lnSpc>
              </a:pPr>
              <a:t>2</a:t>
            </a:fld>
            <a:endParaRPr lang="ko-KR" altLang="en-US" sz="1866" dirty="0">
              <a:solidFill>
                <a:schemeClr val="bg1">
                  <a:lumMod val="65000"/>
                </a:schemeClr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" name="TextBox 27">
            <a:extLst>
              <a:ext uri="{FF2B5EF4-FFF2-40B4-BE49-F238E27FC236}">
                <a16:creationId xmlns:a16="http://schemas.microsoft.com/office/drawing/2014/main" id="{1A5407E3-F968-890C-2D9D-2D4FEAF54220}"/>
              </a:ext>
            </a:extLst>
          </p:cNvPr>
          <p:cNvSpPr txBox="1"/>
          <p:nvPr/>
        </p:nvSpPr>
        <p:spPr>
          <a:xfrm>
            <a:off x="2336800" y="10199984"/>
            <a:ext cx="6039086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16199"/>
              </a:lnSpc>
            </a:pPr>
            <a:r>
              <a:rPr lang="ko-KR" altLang="en-US" sz="2400" dirty="0">
                <a:solidFill>
                  <a:srgbClr val="B7C8D8"/>
                </a:solidFill>
                <a:latin typeface="Pretendard Regular"/>
                <a:ea typeface="Pretendard Regular"/>
                <a:cs typeface="Pretendard Regular"/>
              </a:rPr>
              <a:t>특징</a:t>
            </a:r>
            <a:endParaRPr lang="en-US" altLang="ko-KR" sz="2400" dirty="0">
              <a:solidFill>
                <a:srgbClr val="B7C8D8"/>
              </a:solidFill>
              <a:latin typeface="Pretendard Regular"/>
              <a:ea typeface="Pretendard Regular"/>
              <a:cs typeface="Pretendard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BE7BF-623D-6982-452D-6ED7E5546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>
            <a:extLst>
              <a:ext uri="{FF2B5EF4-FFF2-40B4-BE49-F238E27FC236}">
                <a16:creationId xmlns:a16="http://schemas.microsoft.com/office/drawing/2014/main" id="{ECB8F50A-F8A8-434C-46CC-E37D06B0EAA9}"/>
              </a:ext>
            </a:extLst>
          </p:cNvPr>
          <p:cNvSpPr txBox="1"/>
          <p:nvPr/>
        </p:nvSpPr>
        <p:spPr>
          <a:xfrm>
            <a:off x="12915900" y="13055600"/>
            <a:ext cx="103378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6160"/>
              </a:lnSpc>
            </a:pPr>
            <a:r>
              <a:rPr lang="ko-KR" altLang="en-US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마당을 나온 </a:t>
            </a:r>
            <a:r>
              <a:rPr lang="ko-KR" altLang="en-US" sz="1866" b="0" i="0" u="none" strike="noStrike" dirty="0" err="1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드론</a:t>
            </a:r>
            <a:endParaRPr lang="en-US" sz="1866" b="0" i="0" u="none" strike="noStrike" dirty="0">
              <a:solidFill>
                <a:srgbClr val="0B345B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AD7051A5-FA10-9F0D-96E7-722410605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26" name="TextBox 26">
            <a:extLst>
              <a:ext uri="{FF2B5EF4-FFF2-40B4-BE49-F238E27FC236}">
                <a16:creationId xmlns:a16="http://schemas.microsoft.com/office/drawing/2014/main" id="{0C5A5F86-950D-E686-3E54-45C8C5FEA5EF}"/>
              </a:ext>
            </a:extLst>
          </p:cNvPr>
          <p:cNvSpPr txBox="1"/>
          <p:nvPr/>
        </p:nvSpPr>
        <p:spPr>
          <a:xfrm>
            <a:off x="1473200" y="13055600"/>
            <a:ext cx="46228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2026</a:t>
            </a:r>
            <a:r>
              <a:rPr lang="ko-KR" altLang="en-US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년 </a:t>
            </a:r>
            <a:r>
              <a:rPr lang="en" altLang="ko-KR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NET </a:t>
            </a:r>
            <a:r>
              <a:rPr lang="ko-KR" altLang="en-US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챌린지 캠프 시즌 </a:t>
            </a:r>
            <a:r>
              <a:rPr lang="en-US" altLang="ko-KR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13 </a:t>
            </a:r>
            <a:r>
              <a:rPr lang="ko-KR" altLang="en-US" sz="1866" b="0" i="0" u="none" strike="noStrike" dirty="0">
                <a:solidFill>
                  <a:srgbClr val="0B345B"/>
                </a:solidFill>
                <a:latin typeface="Pretendard Regular"/>
                <a:ea typeface="Pretendard Regular"/>
                <a:cs typeface="Pretendard Regular"/>
              </a:rPr>
              <a:t>착수보고회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931A01B0-8D9B-4256-2B7F-0643E4935A31}"/>
              </a:ext>
            </a:extLst>
          </p:cNvPr>
          <p:cNvGrpSpPr/>
          <p:nvPr/>
        </p:nvGrpSpPr>
        <p:grpSpPr>
          <a:xfrm>
            <a:off x="1473200" y="15113992"/>
            <a:ext cx="21272500" cy="7251700"/>
            <a:chOff x="1473200" y="4318000"/>
            <a:chExt cx="21272500" cy="7251700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F1F3BC43-243D-7A68-7F2D-F9089BC3C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3200" y="4318000"/>
              <a:ext cx="5092700" cy="749300"/>
            </a:xfrm>
            <a:prstGeom prst="rect">
              <a:avLst/>
            </a:prstGeom>
          </p:spPr>
        </p:pic>
        <p:pic>
          <p:nvPicPr>
            <p:cNvPr id="3" name="Picture 3">
              <a:extLst>
                <a:ext uri="{FF2B5EF4-FFF2-40B4-BE49-F238E27FC236}">
                  <a16:creationId xmlns:a16="http://schemas.microsoft.com/office/drawing/2014/main" id="{0436DD53-721B-8598-B61B-CD8D2A74A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58000" y="4318000"/>
              <a:ext cx="5092700" cy="749300"/>
            </a:xfrm>
            <a:prstGeom prst="rect">
              <a:avLst/>
            </a:prstGeom>
          </p:spPr>
        </p:pic>
        <p:pic>
          <p:nvPicPr>
            <p:cNvPr id="4" name="Picture 4">
              <a:extLst>
                <a:ext uri="{FF2B5EF4-FFF2-40B4-BE49-F238E27FC236}">
                  <a16:creationId xmlns:a16="http://schemas.microsoft.com/office/drawing/2014/main" id="{327ABC5E-36DF-B12E-7FBD-06DF3338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255500" y="4318000"/>
              <a:ext cx="5092700" cy="749300"/>
            </a:xfrm>
            <a:prstGeom prst="rect">
              <a:avLst/>
            </a:prstGeom>
          </p:spPr>
        </p:pic>
        <p:pic>
          <p:nvPicPr>
            <p:cNvPr id="5" name="Picture 5">
              <a:extLst>
                <a:ext uri="{FF2B5EF4-FFF2-40B4-BE49-F238E27FC236}">
                  <a16:creationId xmlns:a16="http://schemas.microsoft.com/office/drawing/2014/main" id="{F97D2275-32D8-5964-BC5B-015A551D0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7653000" y="4318000"/>
              <a:ext cx="5092700" cy="749300"/>
            </a:xfrm>
            <a:prstGeom prst="rect">
              <a:avLst/>
            </a:prstGeom>
          </p:spPr>
        </p:pic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579DFF7-3535-1C83-CFA8-7C328846E404}"/>
                </a:ext>
              </a:extLst>
            </p:cNvPr>
            <p:cNvSpPr txBox="1"/>
            <p:nvPr/>
          </p:nvSpPr>
          <p:spPr>
            <a:xfrm>
              <a:off x="1739900" y="5689600"/>
              <a:ext cx="45720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933" b="0" i="0" u="none" strike="noStrike" dirty="0">
                  <a:solidFill>
                    <a:srgbClr val="0B345B"/>
                  </a:solidFill>
                  <a:latin typeface="Pretendard SemiBold"/>
                  <a:ea typeface="Pretendard SemiBold"/>
                  <a:cs typeface="Pretendard SemiBold"/>
                </a:rPr>
                <a:t>멀티 </a:t>
              </a:r>
              <a:r>
                <a:rPr lang="ko-KR" altLang="en-US" sz="2933" b="0" i="0" u="none" strike="noStrike" dirty="0" err="1">
                  <a:solidFill>
                    <a:srgbClr val="0B345B"/>
                  </a:solidFill>
                  <a:latin typeface="Pretendard SemiBold"/>
                  <a:ea typeface="Pretendard SemiBold"/>
                  <a:cs typeface="Pretendard SemiBold"/>
                </a:rPr>
                <a:t>드론</a:t>
              </a:r>
              <a:endParaRPr lang="en-US" sz="2933" b="0" i="0" u="none" strike="noStrike" dirty="0">
                <a:solidFill>
                  <a:srgbClr val="0B345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4AA9189-39A7-CC84-1B5A-AC2076A502FB}"/>
                </a:ext>
              </a:extLst>
            </p:cNvPr>
            <p:cNvSpPr txBox="1"/>
            <p:nvPr/>
          </p:nvSpPr>
          <p:spPr>
            <a:xfrm>
              <a:off x="7124700" y="5689600"/>
              <a:ext cx="45720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ko-KR" altLang="en-US" sz="2933" dirty="0">
                  <a:solidFill>
                    <a:srgbClr val="0B345B"/>
                  </a:solidFill>
                  <a:latin typeface="Pretendard SemiBold"/>
                  <a:ea typeface="Pretendard SemiBold"/>
                  <a:cs typeface="Pretendard SemiBold"/>
                </a:rPr>
                <a:t>준실시간</a:t>
              </a:r>
              <a:endParaRPr lang="en-US" sz="2933" b="0" i="0" u="none" strike="noStrike" dirty="0">
                <a:solidFill>
                  <a:srgbClr val="0B345B"/>
                </a:solidFill>
                <a:latin typeface="Pretendard SemiBold"/>
                <a:ea typeface="Pretendard SemiBold"/>
                <a:cs typeface="Pretendard SemiBold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12EB170-0B7A-8043-EB09-A697D8B39B96}"/>
                </a:ext>
              </a:extLst>
            </p:cNvPr>
            <p:cNvSpPr txBox="1"/>
            <p:nvPr/>
          </p:nvSpPr>
          <p:spPr>
            <a:xfrm>
              <a:off x="12522200" y="5689600"/>
              <a:ext cx="45720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2933" b="0" i="0" u="none" strike="noStrike" dirty="0">
                  <a:solidFill>
                    <a:srgbClr val="0B345B"/>
                  </a:solidFill>
                  <a:latin typeface="Pretendard SemiBold"/>
                  <a:ea typeface="Pretendard SemiBold"/>
                  <a:cs typeface="Pretendard SemiBold"/>
                </a:rPr>
                <a:t>Core / Edge </a:t>
              </a:r>
              <a:r>
                <a:rPr lang="ko-KR" altLang="en-US" sz="2933" b="0" i="0" u="none" strike="noStrike" dirty="0">
                  <a:solidFill>
                    <a:srgbClr val="0B345B"/>
                  </a:solidFill>
                  <a:latin typeface="Pretendard SemiBold"/>
                  <a:ea typeface="Pretendard SemiBold"/>
                  <a:cs typeface="Pretendard SemiBold"/>
                </a:rPr>
                <a:t>분산 </a:t>
              </a:r>
              <a:r>
                <a:rPr lang="en-US" sz="2933" b="0" i="0" u="none" strike="noStrike" dirty="0">
                  <a:solidFill>
                    <a:srgbClr val="0B345B"/>
                  </a:solidFill>
                  <a:latin typeface="Pretendard SemiBold"/>
                  <a:ea typeface="Pretendard SemiBold"/>
                  <a:cs typeface="Pretendard SemiBold"/>
                </a:rPr>
                <a:t>AI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E5667B9-664F-4A27-9052-434E7C13EECB}"/>
                </a:ext>
              </a:extLst>
            </p:cNvPr>
            <p:cNvSpPr txBox="1"/>
            <p:nvPr/>
          </p:nvSpPr>
          <p:spPr>
            <a:xfrm>
              <a:off x="17907000" y="5689600"/>
              <a:ext cx="45720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2933" b="0" i="0" u="none" strike="noStrike">
                  <a:solidFill>
                    <a:srgbClr val="0B345B"/>
                  </a:solidFill>
                  <a:latin typeface="Pretendard SemiBold"/>
                  <a:ea typeface="Pretendard SemiBold"/>
                  <a:cs typeface="Pretendard SemiBold"/>
                </a:rPr>
                <a:t>예상 기대효과 입력란</a:t>
              </a:r>
            </a:p>
          </p:txBody>
        </p:sp>
        <p:pic>
          <p:nvPicPr>
            <p:cNvPr id="13" name="Picture 13">
              <a:extLst>
                <a:ext uri="{FF2B5EF4-FFF2-40B4-BE49-F238E27FC236}">
                  <a16:creationId xmlns:a16="http://schemas.microsoft.com/office/drawing/2014/main" id="{990A1808-8D68-B67B-5B36-EB3909DFD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73200" y="8699500"/>
              <a:ext cx="5092700" cy="2832100"/>
            </a:xfrm>
            <a:prstGeom prst="rect">
              <a:avLst/>
            </a:prstGeom>
          </p:spPr>
        </p:pic>
        <p:pic>
          <p:nvPicPr>
            <p:cNvPr id="14" name="Picture 14">
              <a:extLst>
                <a:ext uri="{FF2B5EF4-FFF2-40B4-BE49-F238E27FC236}">
                  <a16:creationId xmlns:a16="http://schemas.microsoft.com/office/drawing/2014/main" id="{79D7079F-F644-472F-EEDE-B7DCB121016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858000" y="8699500"/>
              <a:ext cx="5092700" cy="2832100"/>
            </a:xfrm>
            <a:prstGeom prst="rect">
              <a:avLst/>
            </a:prstGeom>
          </p:spPr>
        </p:pic>
        <p:pic>
          <p:nvPicPr>
            <p:cNvPr id="15" name="Picture 15">
              <a:extLst>
                <a:ext uri="{FF2B5EF4-FFF2-40B4-BE49-F238E27FC236}">
                  <a16:creationId xmlns:a16="http://schemas.microsoft.com/office/drawing/2014/main" id="{88D73FC3-77C2-4D21-84E1-CDFC15104C9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242800" y="8699500"/>
              <a:ext cx="5092700" cy="2832100"/>
            </a:xfrm>
            <a:prstGeom prst="rect">
              <a:avLst/>
            </a:prstGeom>
          </p:spPr>
        </p:pic>
        <p:pic>
          <p:nvPicPr>
            <p:cNvPr id="16" name="Picture 16">
              <a:extLst>
                <a:ext uri="{FF2B5EF4-FFF2-40B4-BE49-F238E27FC236}">
                  <a16:creationId xmlns:a16="http://schemas.microsoft.com/office/drawing/2014/main" id="{9AB3D9B5-1373-D04B-C004-4D1468B847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7640300" y="8699500"/>
              <a:ext cx="5092700" cy="2832100"/>
            </a:xfrm>
            <a:prstGeom prst="rect">
              <a:avLst/>
            </a:prstGeom>
          </p:spPr>
        </p:pic>
        <p:pic>
          <p:nvPicPr>
            <p:cNvPr id="17" name="Picture 17">
              <a:extLst>
                <a:ext uri="{FF2B5EF4-FFF2-40B4-BE49-F238E27FC236}">
                  <a16:creationId xmlns:a16="http://schemas.microsoft.com/office/drawing/2014/main" id="{C9D35CB7-90C5-8006-663A-FA753A7E82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9265900" y="6489700"/>
              <a:ext cx="1854200" cy="1689100"/>
            </a:xfrm>
            <a:prstGeom prst="rect">
              <a:avLst/>
            </a:prstGeom>
          </p:spPr>
        </p:pic>
        <p:pic>
          <p:nvPicPr>
            <p:cNvPr id="18" name="Picture 18">
              <a:extLst>
                <a:ext uri="{FF2B5EF4-FFF2-40B4-BE49-F238E27FC236}">
                  <a16:creationId xmlns:a16="http://schemas.microsoft.com/office/drawing/2014/main" id="{21F287CD-7668-DB62-0DD1-AE5CFC402C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3881100" y="6426200"/>
              <a:ext cx="1841500" cy="1816100"/>
            </a:xfrm>
            <a:prstGeom prst="rect">
              <a:avLst/>
            </a:prstGeom>
          </p:spPr>
        </p:pic>
        <p:pic>
          <p:nvPicPr>
            <p:cNvPr id="19" name="Picture 19">
              <a:extLst>
                <a:ext uri="{FF2B5EF4-FFF2-40B4-BE49-F238E27FC236}">
                  <a16:creationId xmlns:a16="http://schemas.microsoft.com/office/drawing/2014/main" id="{EEEB083E-E061-164A-567F-9EF08FBFE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775700" y="6692900"/>
              <a:ext cx="1270000" cy="1270000"/>
            </a:xfrm>
            <a:prstGeom prst="rect">
              <a:avLst/>
            </a:prstGeom>
          </p:spPr>
        </p:pic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89D47D66-730F-EDFC-AC5B-DDB06A1DB0BE}"/>
                </a:ext>
              </a:extLst>
            </p:cNvPr>
            <p:cNvSpPr txBox="1"/>
            <p:nvPr/>
          </p:nvSpPr>
          <p:spPr>
            <a:xfrm>
              <a:off x="9296400" y="6756400"/>
              <a:ext cx="457200" cy="11303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16199"/>
                </a:lnSpc>
              </a:pPr>
              <a:r>
                <a:rPr lang="en-US" sz="6343" b="0" i="0" u="none" strike="noStrike">
                  <a:solidFill>
                    <a:srgbClr val="0B345B"/>
                  </a:solidFill>
                  <a:latin typeface="Pretendard Regular"/>
                  <a:ea typeface="Pretendard Regular"/>
                  <a:cs typeface="Pretendard Regular"/>
                </a:rPr>
                <a:t>!</a:t>
              </a:r>
            </a:p>
          </p:txBody>
        </p:sp>
        <p:pic>
          <p:nvPicPr>
            <p:cNvPr id="21" name="Picture 21">
              <a:extLst>
                <a:ext uri="{FF2B5EF4-FFF2-40B4-BE49-F238E27FC236}">
                  <a16:creationId xmlns:a16="http://schemas.microsoft.com/office/drawing/2014/main" id="{D0B47031-E2A7-8D61-3563-E667A93D7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086100" y="6388100"/>
              <a:ext cx="1866900" cy="1866900"/>
            </a:xfrm>
            <a:prstGeom prst="rect">
              <a:avLst/>
            </a:prstGeom>
          </p:spPr>
        </p:pic>
        <p:pic>
          <p:nvPicPr>
            <p:cNvPr id="22" name="Picture 22">
              <a:extLst>
                <a:ext uri="{FF2B5EF4-FFF2-40B4-BE49-F238E27FC236}">
                  <a16:creationId xmlns:a16="http://schemas.microsoft.com/office/drawing/2014/main" id="{97FE6633-9BD4-98F6-33E3-E51552C428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473200" y="11531600"/>
              <a:ext cx="5092700" cy="38100"/>
            </a:xfrm>
            <a:prstGeom prst="rect">
              <a:avLst/>
            </a:prstGeom>
          </p:spPr>
        </p:pic>
        <p:pic>
          <p:nvPicPr>
            <p:cNvPr id="23" name="Picture 23">
              <a:extLst>
                <a:ext uri="{FF2B5EF4-FFF2-40B4-BE49-F238E27FC236}">
                  <a16:creationId xmlns:a16="http://schemas.microsoft.com/office/drawing/2014/main" id="{CDB0CEE1-B470-BFCF-FE92-A02A3F5B4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6870700" y="11531600"/>
              <a:ext cx="5092700" cy="38100"/>
            </a:xfrm>
            <a:prstGeom prst="rect">
              <a:avLst/>
            </a:prstGeom>
          </p:spPr>
        </p:pic>
        <p:pic>
          <p:nvPicPr>
            <p:cNvPr id="24" name="Picture 24">
              <a:extLst>
                <a:ext uri="{FF2B5EF4-FFF2-40B4-BE49-F238E27FC236}">
                  <a16:creationId xmlns:a16="http://schemas.microsoft.com/office/drawing/2014/main" id="{A8B1E988-558B-10E0-ADF1-633BF1E162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2255500" y="11531600"/>
              <a:ext cx="5092700" cy="38100"/>
            </a:xfrm>
            <a:prstGeom prst="rect">
              <a:avLst/>
            </a:prstGeom>
          </p:spPr>
        </p:pic>
        <p:pic>
          <p:nvPicPr>
            <p:cNvPr id="25" name="Picture 25">
              <a:extLst>
                <a:ext uri="{FF2B5EF4-FFF2-40B4-BE49-F238E27FC236}">
                  <a16:creationId xmlns:a16="http://schemas.microsoft.com/office/drawing/2014/main" id="{86E95D76-460F-EBF3-9F23-F910E8F89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7640300" y="11531600"/>
              <a:ext cx="5092700" cy="38100"/>
            </a:xfrm>
            <a:prstGeom prst="rect">
              <a:avLst/>
            </a:prstGeom>
          </p:spPr>
        </p:pic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60EC9595-3A9C-DA12-12CF-0970CAFF51F4}"/>
                </a:ext>
              </a:extLst>
            </p:cNvPr>
            <p:cNvSpPr txBox="1"/>
            <p:nvPr/>
          </p:nvSpPr>
          <p:spPr>
            <a:xfrm>
              <a:off x="1752600" y="4457700"/>
              <a:ext cx="4546600" cy="431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2400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Summary 01</a:t>
              </a:r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97A707AA-8453-D20E-BC9A-64DAD1441746}"/>
                </a:ext>
              </a:extLst>
            </p:cNvPr>
            <p:cNvSpPr txBox="1"/>
            <p:nvPr/>
          </p:nvSpPr>
          <p:spPr>
            <a:xfrm>
              <a:off x="7137400" y="4457700"/>
              <a:ext cx="4546600" cy="431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2400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Summary 02</a:t>
              </a:r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90B96C09-CD35-A79A-5FCE-36EF91CDA179}"/>
                </a:ext>
              </a:extLst>
            </p:cNvPr>
            <p:cNvSpPr txBox="1"/>
            <p:nvPr/>
          </p:nvSpPr>
          <p:spPr>
            <a:xfrm>
              <a:off x="12522200" y="4457700"/>
              <a:ext cx="4546600" cy="431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2400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Summary 03</a:t>
              </a:r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425A878E-0DE6-F06A-741A-A02965ECFDDE}"/>
                </a:ext>
              </a:extLst>
            </p:cNvPr>
            <p:cNvSpPr txBox="1"/>
            <p:nvPr/>
          </p:nvSpPr>
          <p:spPr>
            <a:xfrm>
              <a:off x="17919700" y="4457700"/>
              <a:ext cx="4546600" cy="4318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16199"/>
                </a:lnSpc>
              </a:pPr>
              <a:r>
                <a:rPr lang="en-US" sz="2400" b="0" i="0" u="none" strike="noStrike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Summary 04</a:t>
              </a:r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34833B8B-093E-A1E1-6E3A-FF66340B2340}"/>
                </a:ext>
              </a:extLst>
            </p:cNvPr>
            <p:cNvSpPr txBox="1"/>
            <p:nvPr/>
          </p:nvSpPr>
          <p:spPr>
            <a:xfrm>
              <a:off x="1752600" y="9309100"/>
              <a:ext cx="4546600" cy="1600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4499"/>
                </a:lnSpc>
              </a:pPr>
              <a:r>
                <a:rPr lang="en-US" altLang="ko-KR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2~3</a:t>
              </a:r>
              <a:r>
                <a:rPr lang="ko-KR" alt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대가 구역을 나눠 동시 촬영</a:t>
              </a:r>
              <a:r>
                <a:rPr lang="en-US" altLang="ko-KR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. </a:t>
              </a:r>
              <a:r>
                <a:rPr lang="ko-KR" alt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단일 시점</a:t>
              </a:r>
              <a:r>
                <a:rPr lang="en-US" altLang="ko-KR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·</a:t>
              </a:r>
              <a:r>
                <a:rPr lang="ko-KR" alt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커버리지 한계를 없앱니다</a:t>
              </a:r>
              <a:r>
                <a:rPr lang="en-US" altLang="ko-KR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.</a:t>
              </a:r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19DC4ADA-D17D-D16A-8A81-B6625FA41B8E}"/>
                </a:ext>
              </a:extLst>
            </p:cNvPr>
            <p:cNvSpPr txBox="1"/>
            <p:nvPr/>
          </p:nvSpPr>
          <p:spPr>
            <a:xfrm>
              <a:off x="7124700" y="9309100"/>
              <a:ext cx="4559300" cy="1600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4499"/>
                </a:lnSpc>
              </a:pPr>
              <a:r>
                <a:rPr lang="en-US" altLang="ko-KR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30</a:t>
              </a:r>
              <a:r>
                <a:rPr lang="ko-KR" alt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초 주기 증분 갱신</a:t>
              </a:r>
              <a:r>
                <a:rPr lang="en-US" altLang="ko-KR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. </a:t>
              </a:r>
              <a:r>
                <a:rPr lang="ko-KR" alt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사후 처리가 아니라 현장 진행 중 </a:t>
              </a:r>
              <a:r>
                <a:rPr lang="en-US" altLang="ko-KR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3</a:t>
              </a:r>
              <a:r>
                <a:rPr 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D </a:t>
              </a:r>
              <a:r>
                <a:rPr lang="ko-KR" alt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복원입니다</a:t>
              </a:r>
              <a:r>
                <a:rPr lang="en-US" altLang="ko-KR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.</a:t>
              </a:r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771D1B8-1CE7-EF86-9C5A-6DF271A3456A}"/>
                </a:ext>
              </a:extLst>
            </p:cNvPr>
            <p:cNvSpPr txBox="1"/>
            <p:nvPr/>
          </p:nvSpPr>
          <p:spPr>
            <a:xfrm>
              <a:off x="12522200" y="9309100"/>
              <a:ext cx="4546600" cy="1600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4499"/>
                </a:lnSpc>
              </a:pPr>
              <a:r>
                <a:rPr lang="ko-KR" alt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연산은 </a:t>
              </a:r>
              <a:r>
                <a:rPr 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Core HPC, </a:t>
              </a:r>
              <a:r>
                <a:rPr lang="ko-KR" alt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서빙은 현장 인근 </a:t>
              </a:r>
              <a:r>
                <a:rPr 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Edge VM. </a:t>
              </a:r>
              <a:r>
                <a:rPr lang="ko-KR" altLang="en-US" sz="2133" b="0" i="0" u="none" strike="noStrike" dirty="0" err="1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연구망</a:t>
              </a:r>
              <a:r>
                <a:rPr lang="ko-KR" altLang="en-US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 위에서 역할을 나눕니다</a:t>
              </a:r>
              <a:r>
                <a:rPr lang="en-US" altLang="ko-KR" sz="2133" b="0" i="0" u="none" strike="noStrike" dirty="0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.</a:t>
              </a:r>
            </a:p>
          </p:txBody>
        </p: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52CA0EE5-3F4E-2B35-C111-1369A36C840B}"/>
                </a:ext>
              </a:extLst>
            </p:cNvPr>
            <p:cNvSpPr txBox="1"/>
            <p:nvPr/>
          </p:nvSpPr>
          <p:spPr>
            <a:xfrm>
              <a:off x="17919700" y="9309100"/>
              <a:ext cx="4546600" cy="16002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4499"/>
                </a:lnSpc>
              </a:pPr>
              <a:r>
                <a:rPr lang="en-US" sz="2133" b="0" i="0" u="none" strike="noStrike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정량적 개선 목표와 기대효과를 명시해 보세요.</a:t>
              </a:r>
            </a:p>
            <a:p>
              <a:pPr lvl="0" algn="ctr">
                <a:lnSpc>
                  <a:spcPct val="124499"/>
                </a:lnSpc>
              </a:pPr>
              <a:r>
                <a:rPr lang="en-US" sz="2133" b="0" i="0" u="none" strike="noStrike">
                  <a:solidFill>
                    <a:srgbClr val="000000"/>
                  </a:solidFill>
                  <a:latin typeface="Pretendard Regular"/>
                  <a:ea typeface="Pretendard Regular"/>
                  <a:cs typeface="Pretendard Regular"/>
                </a:rPr>
                <a:t>정량적 개선 목표와 기대효과를 명시해 보세요.</a:t>
              </a:r>
            </a:p>
          </p:txBody>
        </p:sp>
      </p:grpSp>
      <p:pic>
        <p:nvPicPr>
          <p:cNvPr id="36" name="Picture 36">
            <a:extLst>
              <a:ext uri="{FF2B5EF4-FFF2-40B4-BE49-F238E27FC236}">
                <a16:creationId xmlns:a16="http://schemas.microsoft.com/office/drawing/2014/main" id="{2168E625-0A3E-3CA1-73E4-DE0073B3F17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0" name="슬라이드 번호 개체 틀 39">
            <a:extLst>
              <a:ext uri="{FF2B5EF4-FFF2-40B4-BE49-F238E27FC236}">
                <a16:creationId xmlns:a16="http://schemas.microsoft.com/office/drawing/2014/main" id="{5E6D8943-4B7D-6383-0CB6-814BA12F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3</a:t>
            </a:fld>
            <a:endParaRPr lang="ko-KR" altLang="en-US"/>
          </a:p>
        </p:txBody>
      </p:sp>
      <p:sp>
        <p:nvSpPr>
          <p:cNvPr id="44" name="TextBox 2">
            <a:extLst>
              <a:ext uri="{FF2B5EF4-FFF2-40B4-BE49-F238E27FC236}">
                <a16:creationId xmlns:a16="http://schemas.microsoft.com/office/drawing/2014/main" id="{E7DC6446-FDCA-399F-A6F4-AF44223B26E9}"/>
              </a:ext>
            </a:extLst>
          </p:cNvPr>
          <p:cNvSpPr txBox="1"/>
          <p:nvPr/>
        </p:nvSpPr>
        <p:spPr>
          <a:xfrm>
            <a:off x="1473200" y="2829804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>
              <a:lnSpc>
                <a:spcPct val="107070"/>
              </a:lnSpc>
            </a:pPr>
            <a:r>
              <a:rPr lang="ko-KR" altLang="en-US" sz="4000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멀티드론</a:t>
            </a:r>
            <a:r>
              <a:rPr lang="ko-KR" altLang="en-US" sz="4000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기반 재난 현장 실시간 </a:t>
            </a:r>
            <a:r>
              <a:rPr lang="en-US" altLang="ko-KR" sz="4000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en" altLang="ko-KR" sz="4000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 </a:t>
            </a:r>
            <a:r>
              <a:rPr lang="ko-KR" altLang="en-US" sz="4000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상황인식 시스템</a:t>
            </a:r>
          </a:p>
        </p:txBody>
      </p:sp>
      <p:sp>
        <p:nvSpPr>
          <p:cNvPr id="45" name="TextBox 29">
            <a:extLst>
              <a:ext uri="{FF2B5EF4-FFF2-40B4-BE49-F238E27FC236}">
                <a16:creationId xmlns:a16="http://schemas.microsoft.com/office/drawing/2014/main" id="{F44E6693-F557-B34F-AD94-ABD62F61D49C}"/>
              </a:ext>
            </a:extLst>
          </p:cNvPr>
          <p:cNvSpPr txBox="1"/>
          <p:nvPr/>
        </p:nvSpPr>
        <p:spPr>
          <a:xfrm>
            <a:off x="1447800" y="1657882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>
              <a:lnSpc>
                <a:spcPct val="107070"/>
              </a:lnSpc>
            </a:pPr>
            <a:r>
              <a:rPr lang="en" altLang="ko-KR" sz="6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SkyLens</a:t>
            </a:r>
            <a:endParaRPr lang="en" altLang="ko-KR" sz="6600" b="0" i="0" u="none" strike="noStrike" spc="-200" dirty="0">
              <a:solidFill>
                <a:srgbClr val="0B345B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6" name="Text 4">
            <a:extLst>
              <a:ext uri="{FF2B5EF4-FFF2-40B4-BE49-F238E27FC236}">
                <a16:creationId xmlns:a16="http://schemas.microsoft.com/office/drawing/2014/main" id="{B2F2FE18-F5F3-2EF9-79B9-E9D0FD10AD44}"/>
              </a:ext>
            </a:extLst>
          </p:cNvPr>
          <p:cNvSpPr/>
          <p:nvPr/>
        </p:nvSpPr>
        <p:spPr>
          <a:xfrm>
            <a:off x="1657551" y="4231468"/>
            <a:ext cx="20808749" cy="12084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다수 드론의 RGB·열화상 영상을 KOREN 고속망으로 Core HPC에 실시간 전송해 준실시간 3D로 복원하고, 4채널 융합 AI로 </a:t>
            </a:r>
            <a:r>
              <a:rPr lang="en-US" sz="3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붕괴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b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sz="3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화재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등의 재난 </a:t>
            </a:r>
            <a:r>
              <a:rPr lang="en-US" sz="32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위험구역과</a:t>
            </a:r>
            <a:r>
              <a:rPr lang="en-US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요구조자를 자동 감지·3D 투영한다.</a:t>
            </a:r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24D9A062-30D7-D3F3-B0CB-52B39620FB18}"/>
              </a:ext>
            </a:extLst>
          </p:cNvPr>
          <p:cNvGrpSpPr/>
          <p:nvPr/>
        </p:nvGrpSpPr>
        <p:grpSpPr>
          <a:xfrm>
            <a:off x="1657551" y="6130391"/>
            <a:ext cx="20808750" cy="1726294"/>
            <a:chOff x="1447800" y="6130391"/>
            <a:chExt cx="21551900" cy="1726294"/>
          </a:xfrm>
        </p:grpSpPr>
        <p:sp>
          <p:nvSpPr>
            <p:cNvPr id="47" name="Shape 5">
              <a:extLst>
                <a:ext uri="{FF2B5EF4-FFF2-40B4-BE49-F238E27FC236}">
                  <a16:creationId xmlns:a16="http://schemas.microsoft.com/office/drawing/2014/main" id="{ECE90BF9-A18E-7BED-04D1-5BBAF6A54320}"/>
                </a:ext>
              </a:extLst>
            </p:cNvPr>
            <p:cNvSpPr/>
            <p:nvPr/>
          </p:nvSpPr>
          <p:spPr>
            <a:xfrm>
              <a:off x="1447800" y="6130391"/>
              <a:ext cx="3751044" cy="1726294"/>
            </a:xfrm>
            <a:prstGeom prst="roundRect">
              <a:avLst>
                <a:gd name="adj" fmla="val 8000"/>
              </a:avLst>
            </a:prstGeom>
            <a:solidFill>
              <a:srgbClr val="27406E"/>
            </a:solidFill>
            <a:ln w="12700">
              <a:solidFill>
                <a:srgbClr val="3B4E74"/>
              </a:solidFill>
              <a:prstDash val="solid"/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8" name="Text 6">
              <a:extLst>
                <a:ext uri="{FF2B5EF4-FFF2-40B4-BE49-F238E27FC236}">
                  <a16:creationId xmlns:a16="http://schemas.microsoft.com/office/drawing/2014/main" id="{E0AA0E31-ACF3-D710-AE02-2CBC531B46E2}"/>
                </a:ext>
              </a:extLst>
            </p:cNvPr>
            <p:cNvSpPr/>
            <p:nvPr/>
          </p:nvSpPr>
          <p:spPr>
            <a:xfrm>
              <a:off x="1622592" y="6130391"/>
              <a:ext cx="3401459" cy="1726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멀티드론</a:t>
              </a:r>
              <a:endParaRPr lang="en-US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2000" dirty="0">
                  <a:solidFill>
                    <a:srgbClr val="B7C8D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RGB+열화상 3대+</a:t>
              </a:r>
              <a:endParaRPr lang="en-US" sz="3200" dirty="0">
                <a:solidFill>
                  <a:srgbClr val="B7C8D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9" name="Shape 7">
              <a:extLst>
                <a:ext uri="{FF2B5EF4-FFF2-40B4-BE49-F238E27FC236}">
                  <a16:creationId xmlns:a16="http://schemas.microsoft.com/office/drawing/2014/main" id="{28BE3BD0-56F4-1324-326B-10DB356E1035}"/>
                </a:ext>
              </a:extLst>
            </p:cNvPr>
            <p:cNvSpPr/>
            <p:nvPr/>
          </p:nvSpPr>
          <p:spPr>
            <a:xfrm>
              <a:off x="5338678" y="6993538"/>
              <a:ext cx="419502" cy="0"/>
            </a:xfrm>
            <a:prstGeom prst="line">
              <a:avLst/>
            </a:prstGeom>
            <a:noFill/>
            <a:ln w="38100">
              <a:solidFill>
                <a:srgbClr val="1B497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0" name="Shape 8">
              <a:extLst>
                <a:ext uri="{FF2B5EF4-FFF2-40B4-BE49-F238E27FC236}">
                  <a16:creationId xmlns:a16="http://schemas.microsoft.com/office/drawing/2014/main" id="{79B37D49-73FA-5A06-FFF7-F0C768EFFE31}"/>
                </a:ext>
              </a:extLst>
            </p:cNvPr>
            <p:cNvSpPr/>
            <p:nvPr/>
          </p:nvSpPr>
          <p:spPr>
            <a:xfrm>
              <a:off x="5898013" y="6130391"/>
              <a:ext cx="3751044" cy="1726294"/>
            </a:xfrm>
            <a:prstGeom prst="roundRect">
              <a:avLst>
                <a:gd name="adj" fmla="val 8000"/>
              </a:avLst>
            </a:prstGeom>
            <a:solidFill>
              <a:srgbClr val="27406E"/>
            </a:solidFill>
            <a:ln w="12700">
              <a:solidFill>
                <a:srgbClr val="3B4E74"/>
              </a:solidFill>
              <a:prstDash val="solid"/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1" name="Text 9">
              <a:extLst>
                <a:ext uri="{FF2B5EF4-FFF2-40B4-BE49-F238E27FC236}">
                  <a16:creationId xmlns:a16="http://schemas.microsoft.com/office/drawing/2014/main" id="{7BD56BD0-A24A-AB02-EA89-848C7817B7F2}"/>
                </a:ext>
              </a:extLst>
            </p:cNvPr>
            <p:cNvSpPr/>
            <p:nvPr/>
          </p:nvSpPr>
          <p:spPr>
            <a:xfrm>
              <a:off x="6072806" y="6130391"/>
              <a:ext cx="3401459" cy="1726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KOREN 고속망</a:t>
              </a:r>
              <a:endParaRPr lang="en-US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2000" dirty="0">
                  <a:solidFill>
                    <a:srgbClr val="B7C8D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준실시간 전송</a:t>
              </a:r>
              <a:endParaRPr lang="en-US" sz="3200" dirty="0">
                <a:solidFill>
                  <a:srgbClr val="B7C8D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2" name="Shape 10">
              <a:extLst>
                <a:ext uri="{FF2B5EF4-FFF2-40B4-BE49-F238E27FC236}">
                  <a16:creationId xmlns:a16="http://schemas.microsoft.com/office/drawing/2014/main" id="{A55F1A2E-61C0-D62A-3667-890337348E3A}"/>
                </a:ext>
              </a:extLst>
            </p:cNvPr>
            <p:cNvSpPr/>
            <p:nvPr/>
          </p:nvSpPr>
          <p:spPr>
            <a:xfrm>
              <a:off x="9788893" y="6993538"/>
              <a:ext cx="419502" cy="0"/>
            </a:xfrm>
            <a:prstGeom prst="line">
              <a:avLst/>
            </a:prstGeom>
            <a:noFill/>
            <a:ln w="38100">
              <a:solidFill>
                <a:srgbClr val="1B497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3" name="Shape 11">
              <a:extLst>
                <a:ext uri="{FF2B5EF4-FFF2-40B4-BE49-F238E27FC236}">
                  <a16:creationId xmlns:a16="http://schemas.microsoft.com/office/drawing/2014/main" id="{C0FF5C44-A6A7-14F1-1C8E-97981E50BBC6}"/>
                </a:ext>
              </a:extLst>
            </p:cNvPr>
            <p:cNvSpPr/>
            <p:nvPr/>
          </p:nvSpPr>
          <p:spPr>
            <a:xfrm>
              <a:off x="10348228" y="6130391"/>
              <a:ext cx="3751044" cy="1726294"/>
            </a:xfrm>
            <a:prstGeom prst="roundRect">
              <a:avLst>
                <a:gd name="adj" fmla="val 8000"/>
              </a:avLst>
            </a:prstGeom>
            <a:solidFill>
              <a:srgbClr val="27406E"/>
            </a:solidFill>
            <a:ln w="12700">
              <a:solidFill>
                <a:srgbClr val="3B4E74"/>
              </a:solidFill>
              <a:prstDash val="solid"/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4" name="Text 12">
              <a:extLst>
                <a:ext uri="{FF2B5EF4-FFF2-40B4-BE49-F238E27FC236}">
                  <a16:creationId xmlns:a16="http://schemas.microsoft.com/office/drawing/2014/main" id="{5EA7A607-B90A-EE55-5EA7-16276C19CFC7}"/>
                </a:ext>
              </a:extLst>
            </p:cNvPr>
            <p:cNvSpPr/>
            <p:nvPr/>
          </p:nvSpPr>
          <p:spPr>
            <a:xfrm>
              <a:off x="10523021" y="6130391"/>
              <a:ext cx="3401459" cy="1726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3200" b="1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Core HPC</a:t>
              </a:r>
              <a:endParaRPr lang="en-US" sz="3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2000">
                  <a:solidFill>
                    <a:srgbClr val="B7C8D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3D 복원 · AI 감지</a:t>
              </a:r>
              <a:endParaRPr lang="en-US" sz="3200" dirty="0">
                <a:solidFill>
                  <a:srgbClr val="B7C8D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5" name="Shape 13">
              <a:extLst>
                <a:ext uri="{FF2B5EF4-FFF2-40B4-BE49-F238E27FC236}">
                  <a16:creationId xmlns:a16="http://schemas.microsoft.com/office/drawing/2014/main" id="{569C4E29-BB2E-5C15-39F0-37C4340C9BA7}"/>
                </a:ext>
              </a:extLst>
            </p:cNvPr>
            <p:cNvSpPr/>
            <p:nvPr/>
          </p:nvSpPr>
          <p:spPr>
            <a:xfrm>
              <a:off x="14239106" y="6993538"/>
              <a:ext cx="419502" cy="0"/>
            </a:xfrm>
            <a:prstGeom prst="line">
              <a:avLst/>
            </a:prstGeom>
            <a:noFill/>
            <a:ln w="38100">
              <a:solidFill>
                <a:srgbClr val="1B497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6" name="Shape 14">
              <a:extLst>
                <a:ext uri="{FF2B5EF4-FFF2-40B4-BE49-F238E27FC236}">
                  <a16:creationId xmlns:a16="http://schemas.microsoft.com/office/drawing/2014/main" id="{CB69609C-3945-9FFF-FD7D-7FE9F368447B}"/>
                </a:ext>
              </a:extLst>
            </p:cNvPr>
            <p:cNvSpPr/>
            <p:nvPr/>
          </p:nvSpPr>
          <p:spPr>
            <a:xfrm>
              <a:off x="14798441" y="6130391"/>
              <a:ext cx="3751044" cy="1726294"/>
            </a:xfrm>
            <a:prstGeom prst="roundRect">
              <a:avLst>
                <a:gd name="adj" fmla="val 8000"/>
              </a:avLst>
            </a:prstGeom>
            <a:solidFill>
              <a:srgbClr val="27406E"/>
            </a:solidFill>
            <a:ln w="12700">
              <a:solidFill>
                <a:srgbClr val="3B4E74"/>
              </a:solidFill>
              <a:prstDash val="solid"/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7" name="Text 15">
              <a:extLst>
                <a:ext uri="{FF2B5EF4-FFF2-40B4-BE49-F238E27FC236}">
                  <a16:creationId xmlns:a16="http://schemas.microsoft.com/office/drawing/2014/main" id="{0F44FC8C-DCC0-E500-49BA-03278DE40F60}"/>
                </a:ext>
              </a:extLst>
            </p:cNvPr>
            <p:cNvSpPr/>
            <p:nvPr/>
          </p:nvSpPr>
          <p:spPr>
            <a:xfrm>
              <a:off x="14973234" y="6130391"/>
              <a:ext cx="3401459" cy="1726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Edge VM</a:t>
              </a:r>
              <a:endParaRPr lang="en-US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2000" dirty="0">
                  <a:solidFill>
                    <a:srgbClr val="B7C8D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3D 상황판 서빙</a:t>
              </a:r>
              <a:endParaRPr lang="en-US" sz="3200" dirty="0">
                <a:solidFill>
                  <a:srgbClr val="B7C8D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8" name="Shape 16">
              <a:extLst>
                <a:ext uri="{FF2B5EF4-FFF2-40B4-BE49-F238E27FC236}">
                  <a16:creationId xmlns:a16="http://schemas.microsoft.com/office/drawing/2014/main" id="{7C330AD2-482E-A2EA-E209-109B189926A0}"/>
                </a:ext>
              </a:extLst>
            </p:cNvPr>
            <p:cNvSpPr/>
            <p:nvPr/>
          </p:nvSpPr>
          <p:spPr>
            <a:xfrm>
              <a:off x="18689321" y="6993538"/>
              <a:ext cx="419502" cy="0"/>
            </a:xfrm>
            <a:prstGeom prst="line">
              <a:avLst/>
            </a:prstGeom>
            <a:noFill/>
            <a:ln w="38100">
              <a:solidFill>
                <a:srgbClr val="1B497B"/>
              </a:solidFill>
              <a:prstDash val="solid"/>
              <a:tailEnd type="triangle"/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9" name="Shape 17">
              <a:extLst>
                <a:ext uri="{FF2B5EF4-FFF2-40B4-BE49-F238E27FC236}">
                  <a16:creationId xmlns:a16="http://schemas.microsoft.com/office/drawing/2014/main" id="{5CDBD9C6-E2E2-E62B-F1E7-9E1F16424ABC}"/>
                </a:ext>
              </a:extLst>
            </p:cNvPr>
            <p:cNvSpPr/>
            <p:nvPr/>
          </p:nvSpPr>
          <p:spPr>
            <a:xfrm>
              <a:off x="19248656" y="6130391"/>
              <a:ext cx="3751044" cy="1726294"/>
            </a:xfrm>
            <a:prstGeom prst="roundRect">
              <a:avLst>
                <a:gd name="adj" fmla="val 8000"/>
              </a:avLst>
            </a:prstGeom>
            <a:solidFill>
              <a:srgbClr val="27406E"/>
            </a:solidFill>
            <a:ln w="12700">
              <a:solidFill>
                <a:srgbClr val="3B4E74"/>
              </a:solidFill>
              <a:prstDash val="solid"/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0" name="Text 18">
              <a:extLst>
                <a:ext uri="{FF2B5EF4-FFF2-40B4-BE49-F238E27FC236}">
                  <a16:creationId xmlns:a16="http://schemas.microsoft.com/office/drawing/2014/main" id="{7AF8D01F-3CF6-0D5B-2F7C-1D68FF45F3AF}"/>
                </a:ext>
              </a:extLst>
            </p:cNvPr>
            <p:cNvSpPr/>
            <p:nvPr/>
          </p:nvSpPr>
          <p:spPr>
            <a:xfrm>
              <a:off x="19423449" y="6130391"/>
              <a:ext cx="3401459" cy="172629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32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지휘관</a:t>
              </a:r>
              <a:endParaRPr lang="en-US" sz="3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0" indent="0" algn="ctr">
                <a:lnSpc>
                  <a:spcPct val="105000"/>
                </a:lnSpc>
                <a:spcBef>
                  <a:spcPts val="300"/>
                </a:spcBef>
                <a:buNone/>
              </a:pPr>
              <a:r>
                <a:rPr lang="en-US" sz="2000" dirty="0">
                  <a:solidFill>
                    <a:srgbClr val="B7C8D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진입 동선 판단</a:t>
              </a:r>
              <a:endParaRPr lang="en-US" sz="3200" dirty="0">
                <a:solidFill>
                  <a:srgbClr val="B7C8D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61" name="Text 19">
            <a:extLst>
              <a:ext uri="{FF2B5EF4-FFF2-40B4-BE49-F238E27FC236}">
                <a16:creationId xmlns:a16="http://schemas.microsoft.com/office/drawing/2014/main" id="{6C8D93C4-738D-8C0C-A02F-E6A1EB3C95B7}"/>
              </a:ext>
            </a:extLst>
          </p:cNvPr>
          <p:cNvSpPr/>
          <p:nvPr/>
        </p:nvSpPr>
        <p:spPr>
          <a:xfrm>
            <a:off x="1657551" y="8726629"/>
            <a:ext cx="20975085" cy="51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 단일 드론·사후 처리와 다른, 본 과제의 핵심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6DCAF8AE-A031-7836-208E-FDC6FCDE8E5F}"/>
              </a:ext>
            </a:extLst>
          </p:cNvPr>
          <p:cNvGrpSpPr/>
          <p:nvPr/>
        </p:nvGrpSpPr>
        <p:grpSpPr>
          <a:xfrm>
            <a:off x="1657550" y="9547754"/>
            <a:ext cx="20808749" cy="2037026"/>
            <a:chOff x="1447800" y="10222196"/>
            <a:chExt cx="21551900" cy="2037026"/>
          </a:xfrm>
        </p:grpSpPr>
        <p:sp>
          <p:nvSpPr>
            <p:cNvPr id="62" name="Shape 20">
              <a:extLst>
                <a:ext uri="{FF2B5EF4-FFF2-40B4-BE49-F238E27FC236}">
                  <a16:creationId xmlns:a16="http://schemas.microsoft.com/office/drawing/2014/main" id="{D71CB952-CF40-5919-EEB5-E73774DF1DF3}"/>
                </a:ext>
              </a:extLst>
            </p:cNvPr>
            <p:cNvSpPr/>
            <p:nvPr/>
          </p:nvSpPr>
          <p:spPr>
            <a:xfrm>
              <a:off x="1447800" y="10222196"/>
              <a:ext cx="6834382" cy="2037026"/>
            </a:xfrm>
            <a:prstGeom prst="roundRect">
              <a:avLst>
                <a:gd name="adj" fmla="val 7627"/>
              </a:avLst>
            </a:prstGeom>
            <a:solidFill>
              <a:schemeClr val="bg1">
                <a:lumMod val="95000"/>
                <a:alpha val="5098"/>
              </a:schemeClr>
            </a:solidFill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3" name="Text 21">
              <a:extLst>
                <a:ext uri="{FF2B5EF4-FFF2-40B4-BE49-F238E27FC236}">
                  <a16:creationId xmlns:a16="http://schemas.microsoft.com/office/drawing/2014/main" id="{301280DC-C51B-26C5-C6E8-B7442FE6A4FE}"/>
                </a:ext>
              </a:extLst>
            </p:cNvPr>
            <p:cNvSpPr/>
            <p:nvPr/>
          </p:nvSpPr>
          <p:spPr>
            <a:xfrm>
              <a:off x="1884781" y="10498403"/>
              <a:ext cx="5960420" cy="6214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rgbClr val="1B497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멀티드론</a:t>
              </a:r>
              <a:endParaRPr lang="en-US" sz="3600" dirty="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4" name="Text 22">
              <a:extLst>
                <a:ext uri="{FF2B5EF4-FFF2-40B4-BE49-F238E27FC236}">
                  <a16:creationId xmlns:a16="http://schemas.microsoft.com/office/drawing/2014/main" id="{6D551D12-0A35-D7A6-6225-312CF8BBF99A}"/>
                </a:ext>
              </a:extLst>
            </p:cNvPr>
            <p:cNvSpPr/>
            <p:nvPr/>
          </p:nvSpPr>
          <p:spPr>
            <a:xfrm>
              <a:off x="1884781" y="11119868"/>
              <a:ext cx="5960420" cy="6905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다수 드론이 구역을 나눠 동시 촬영</a:t>
              </a:r>
            </a:p>
          </p:txBody>
        </p:sp>
        <p:sp>
          <p:nvSpPr>
            <p:cNvPr id="65" name="Text 23">
              <a:extLst>
                <a:ext uri="{FF2B5EF4-FFF2-40B4-BE49-F238E27FC236}">
                  <a16:creationId xmlns:a16="http://schemas.microsoft.com/office/drawing/2014/main" id="{20A19F2F-EE76-6B1D-0325-55069F970077}"/>
                </a:ext>
              </a:extLst>
            </p:cNvPr>
            <p:cNvSpPr/>
            <p:nvPr/>
          </p:nvSpPr>
          <p:spPr>
            <a:xfrm>
              <a:off x="1884781" y="11706808"/>
              <a:ext cx="5960420" cy="448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CCD4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기존 · 단일 드론</a:t>
              </a:r>
            </a:p>
          </p:txBody>
        </p:sp>
        <p:sp>
          <p:nvSpPr>
            <p:cNvPr id="66" name="Shape 24">
              <a:extLst>
                <a:ext uri="{FF2B5EF4-FFF2-40B4-BE49-F238E27FC236}">
                  <a16:creationId xmlns:a16="http://schemas.microsoft.com/office/drawing/2014/main" id="{28D4BB47-0870-CA6F-4564-41C7460DFC91}"/>
                </a:ext>
              </a:extLst>
            </p:cNvPr>
            <p:cNvSpPr/>
            <p:nvPr/>
          </p:nvSpPr>
          <p:spPr>
            <a:xfrm>
              <a:off x="8806559" y="10222196"/>
              <a:ext cx="6834382" cy="2037026"/>
            </a:xfrm>
            <a:prstGeom prst="roundRect">
              <a:avLst>
                <a:gd name="adj" fmla="val 7627"/>
              </a:avLst>
            </a:prstGeom>
            <a:solidFill>
              <a:schemeClr val="bg1">
                <a:lumMod val="95000"/>
                <a:alpha val="5098"/>
              </a:schemeClr>
            </a:solidFill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7" name="Text 25">
              <a:extLst>
                <a:ext uri="{FF2B5EF4-FFF2-40B4-BE49-F238E27FC236}">
                  <a16:creationId xmlns:a16="http://schemas.microsoft.com/office/drawing/2014/main" id="{AE6A9EFB-E55C-6C76-1309-EB88949DEF03}"/>
                </a:ext>
              </a:extLst>
            </p:cNvPr>
            <p:cNvSpPr/>
            <p:nvPr/>
          </p:nvSpPr>
          <p:spPr>
            <a:xfrm>
              <a:off x="9243540" y="10498403"/>
              <a:ext cx="5960420" cy="6214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rgbClr val="1B497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준실시간</a:t>
              </a:r>
              <a:endParaRPr lang="en-US" sz="3600" dirty="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8" name="Text 26">
              <a:extLst>
                <a:ext uri="{FF2B5EF4-FFF2-40B4-BE49-F238E27FC236}">
                  <a16:creationId xmlns:a16="http://schemas.microsoft.com/office/drawing/2014/main" id="{714581DA-7998-5F5E-A9F6-3845B14BB9FC}"/>
                </a:ext>
              </a:extLst>
            </p:cNvPr>
            <p:cNvSpPr/>
            <p:nvPr/>
          </p:nvSpPr>
          <p:spPr>
            <a:xfrm>
              <a:off x="9243540" y="11119868"/>
              <a:ext cx="5960420" cy="6905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30초 주기로 3D 복원·AI 감지 갱신</a:t>
              </a:r>
            </a:p>
          </p:txBody>
        </p:sp>
        <p:sp>
          <p:nvSpPr>
            <p:cNvPr id="69" name="Text 27">
              <a:extLst>
                <a:ext uri="{FF2B5EF4-FFF2-40B4-BE49-F238E27FC236}">
                  <a16:creationId xmlns:a16="http://schemas.microsoft.com/office/drawing/2014/main" id="{F0822C4F-32DD-8DD7-6975-BE93D0200F0A}"/>
                </a:ext>
              </a:extLst>
            </p:cNvPr>
            <p:cNvSpPr/>
            <p:nvPr/>
          </p:nvSpPr>
          <p:spPr>
            <a:xfrm>
              <a:off x="9243540" y="11706808"/>
              <a:ext cx="5960420" cy="448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CCD4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기존 · 사후 처리(수 시간)</a:t>
              </a:r>
            </a:p>
          </p:txBody>
        </p:sp>
        <p:sp>
          <p:nvSpPr>
            <p:cNvPr id="70" name="Shape 28">
              <a:extLst>
                <a:ext uri="{FF2B5EF4-FFF2-40B4-BE49-F238E27FC236}">
                  <a16:creationId xmlns:a16="http://schemas.microsoft.com/office/drawing/2014/main" id="{4B5CEC08-1DDC-020F-86FC-0292F00A7D2A}"/>
                </a:ext>
              </a:extLst>
            </p:cNvPr>
            <p:cNvSpPr/>
            <p:nvPr/>
          </p:nvSpPr>
          <p:spPr>
            <a:xfrm>
              <a:off x="16165318" y="10222196"/>
              <a:ext cx="6834382" cy="2037026"/>
            </a:xfrm>
            <a:prstGeom prst="roundRect">
              <a:avLst>
                <a:gd name="adj" fmla="val 7627"/>
              </a:avLst>
            </a:prstGeom>
            <a:solidFill>
              <a:schemeClr val="bg1">
                <a:lumMod val="95000"/>
                <a:alpha val="5098"/>
              </a:schemeClr>
            </a:solidFill>
            <a:ln>
              <a:solidFill>
                <a:schemeClr val="bg2"/>
              </a:solidFill>
            </a:ln>
          </p:spPr>
          <p:txBody>
            <a:bodyPr/>
            <a:lstStyle/>
            <a:p>
              <a:endParaRPr lang="ko-KR" altLang="en-US" sz="4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1" name="Text 29">
              <a:extLst>
                <a:ext uri="{FF2B5EF4-FFF2-40B4-BE49-F238E27FC236}">
                  <a16:creationId xmlns:a16="http://schemas.microsoft.com/office/drawing/2014/main" id="{4EEF7AA3-C834-60A2-9AA4-B305C0857158}"/>
                </a:ext>
              </a:extLst>
            </p:cNvPr>
            <p:cNvSpPr/>
            <p:nvPr/>
          </p:nvSpPr>
          <p:spPr>
            <a:xfrm>
              <a:off x="16602299" y="10498403"/>
              <a:ext cx="5960420" cy="6214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3600" b="1" dirty="0">
                  <a:solidFill>
                    <a:srgbClr val="1B497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연구망 분산 AI</a:t>
              </a:r>
              <a:endParaRPr lang="en-US" sz="3600" dirty="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2" name="Text 30">
              <a:extLst>
                <a:ext uri="{FF2B5EF4-FFF2-40B4-BE49-F238E27FC236}">
                  <a16:creationId xmlns:a16="http://schemas.microsoft.com/office/drawing/2014/main" id="{6B7F6539-F61E-BE25-336A-2C7AA8F8CE66}"/>
                </a:ext>
              </a:extLst>
            </p:cNvPr>
            <p:cNvSpPr/>
            <p:nvPr/>
          </p:nvSpPr>
          <p:spPr>
            <a:xfrm>
              <a:off x="16602299" y="11119868"/>
              <a:ext cx="5960420" cy="69051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00000"/>
                </a:lnSpc>
                <a:buNone/>
              </a:pPr>
              <a:r>
                <a:rPr lang="en-US" sz="28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KOREN 기반 Core-Edge 역할 분산</a:t>
              </a:r>
            </a:p>
          </p:txBody>
        </p:sp>
        <p:sp>
          <p:nvSpPr>
            <p:cNvPr id="73" name="Text 31">
              <a:extLst>
                <a:ext uri="{FF2B5EF4-FFF2-40B4-BE49-F238E27FC236}">
                  <a16:creationId xmlns:a16="http://schemas.microsoft.com/office/drawing/2014/main" id="{1D8C167F-BC81-CA09-BE73-871A70AFA11B}"/>
                </a:ext>
              </a:extLst>
            </p:cNvPr>
            <p:cNvSpPr/>
            <p:nvPr/>
          </p:nvSpPr>
          <p:spPr>
            <a:xfrm>
              <a:off x="16602299" y="11706808"/>
              <a:ext cx="5960420" cy="448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dirty="0">
                  <a:solidFill>
                    <a:srgbClr val="FCCD4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기존 · 로컬 단일 처리</a:t>
              </a:r>
            </a:p>
          </p:txBody>
        </p:sp>
      </p:grpSp>
      <p:sp>
        <p:nvSpPr>
          <p:cNvPr id="35" name="텍스트 개체 틀 34">
            <a:extLst>
              <a:ext uri="{FF2B5EF4-FFF2-40B4-BE49-F238E27FC236}">
                <a16:creationId xmlns:a16="http://schemas.microsoft.com/office/drawing/2014/main" id="{AAC0C54A-3138-440F-8BF5-91EF70B037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</p:spTree>
    <p:extLst>
      <p:ext uri="{BB962C8B-B14F-4D97-AF65-F5344CB8AC3E}">
        <p14:creationId xmlns:p14="http://schemas.microsoft.com/office/powerpoint/2010/main" val="561451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216399"/>
            <a:ext cx="6819900" cy="5918201"/>
          </a:xfrm>
          <a:prstGeom prst="rect">
            <a:avLst/>
          </a:prstGeom>
        </p:spPr>
      </p:pic>
      <p:sp>
        <p:nvSpPr>
          <p:cNvPr id="35" name="TextBox 19">
            <a:extLst>
              <a:ext uri="{FF2B5EF4-FFF2-40B4-BE49-F238E27FC236}">
                <a16:creationId xmlns:a16="http://schemas.microsoft.com/office/drawing/2014/main" id="{BDFBE4BE-F410-8E0F-D41E-9CBF21F08D03}"/>
              </a:ext>
            </a:extLst>
          </p:cNvPr>
          <p:cNvSpPr txBox="1"/>
          <p:nvPr/>
        </p:nvSpPr>
        <p:spPr>
          <a:xfrm>
            <a:off x="1949450" y="5664200"/>
            <a:ext cx="6121400" cy="2476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>
              <a:lnSpc>
                <a:spcPct val="16019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2024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문경 화재</a:t>
            </a: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등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내부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고립자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위치를 모른 채 진입한 소방대원 순직 사건 발생</a:t>
            </a:r>
            <a:r>
              <a:rPr lang="en-US" altLang="ko-KR" sz="2400" baseline="300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1)</a:t>
            </a:r>
            <a:endParaRPr lang="ko-KR" altLang="en-US" sz="2400" b="0" i="0" u="none" strike="noStrike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6019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붕괴로 출구가 막히면 보호장비도 속수무책 </a:t>
            </a:r>
            <a:b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→ 진입 전 위험 파악이 관건</a:t>
            </a:r>
          </a:p>
          <a:p>
            <a:pPr marL="342900" lvl="1" indent="-342900" algn="l">
              <a:lnSpc>
                <a:spcPct val="16019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2025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광명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신안산선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터널 붕괴에도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소방드론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투입 </a:t>
            </a:r>
            <a:r>
              <a:rPr lang="en-US" altLang="ko-KR" sz="2400" b="0" i="0" u="none" strike="noStrike" baseline="300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2)</a:t>
            </a:r>
            <a:endParaRPr lang="ko-KR" altLang="en-US" sz="2400" b="0" i="0" u="none" strike="noStrike" baseline="300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드론의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현장 정착 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 3</a:t>
            </a:r>
            <a:r>
              <a:rPr lang="en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 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 대원 안전 요구 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 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요소기술의 성숙 기반의</a:t>
            </a:r>
            <a:endParaRPr lang="en-US" sz="42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4600" y="4216399"/>
            <a:ext cx="6819900" cy="5918201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41700" y="4216399"/>
            <a:ext cx="6819900" cy="591820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" y="4597400"/>
            <a:ext cx="4470400" cy="876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4600" y="4597400"/>
            <a:ext cx="4470400" cy="876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41699" y="4597400"/>
            <a:ext cx="4484029" cy="876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>
            <a:alphaModFix amt="40000"/>
          </a:blip>
          <a:stretch>
            <a:fillRect/>
          </a:stretch>
        </p:blipFill>
        <p:spPr>
          <a:xfrm rot="16200000">
            <a:off x="11836400" y="6363232"/>
            <a:ext cx="723900" cy="8420100"/>
          </a:xfrm>
          <a:prstGeom prst="rect">
            <a:avLst/>
          </a:prstGeom>
        </p:spPr>
      </p:pic>
      <p:grpSp>
        <p:nvGrpSpPr>
          <p:cNvPr id="38" name="그룹 37">
            <a:extLst>
              <a:ext uri="{FF2B5EF4-FFF2-40B4-BE49-F238E27FC236}">
                <a16:creationId xmlns:a16="http://schemas.microsoft.com/office/drawing/2014/main" id="{9A9DB8F4-CA61-BA34-D558-A0D277C2BB1A}"/>
              </a:ext>
            </a:extLst>
          </p:cNvPr>
          <p:cNvGrpSpPr/>
          <p:nvPr/>
        </p:nvGrpSpPr>
        <p:grpSpPr>
          <a:xfrm>
            <a:off x="1498600" y="11252200"/>
            <a:ext cx="21475700" cy="1060450"/>
            <a:chOff x="1498600" y="11372850"/>
            <a:chExt cx="21475700" cy="93980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562100" y="11372850"/>
              <a:ext cx="21361400" cy="939800"/>
            </a:xfrm>
            <a:prstGeom prst="rect">
              <a:avLst/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1498600" y="11563350"/>
              <a:ext cx="21475700" cy="52070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ctr">
                <a:lnSpc>
                  <a:spcPct val="126160"/>
                </a:lnSpc>
              </a:pPr>
              <a:r>
                <a:rPr lang="ko-KR" altLang="en-US" sz="3200" b="0" i="0" u="none" strike="noStrike" dirty="0" err="1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멀티드론</a:t>
              </a:r>
              <a:r>
                <a:rPr lang="ko-KR" altLang="en-US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 영상을 </a:t>
              </a:r>
              <a:r>
                <a:rPr lang="en-US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KOREN </a:t>
              </a:r>
              <a:r>
                <a:rPr lang="ko-KR" altLang="en-US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고속망으로 준실시간 </a:t>
              </a:r>
              <a:r>
                <a:rPr lang="en-US" altLang="ko-KR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3</a:t>
              </a:r>
              <a:r>
                <a:rPr lang="en-US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D </a:t>
              </a:r>
              <a:r>
                <a:rPr lang="ko-KR" altLang="en-US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복원하고</a:t>
              </a:r>
              <a:r>
                <a:rPr lang="en-US" altLang="ko-KR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, </a:t>
              </a:r>
              <a:r>
                <a:rPr lang="ko-KR" altLang="en-US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위험구역</a:t>
              </a:r>
              <a:r>
                <a:rPr lang="en-US" altLang="ko-KR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·</a:t>
              </a:r>
              <a:r>
                <a:rPr lang="ko-KR" altLang="en-US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요구조자를 </a:t>
              </a:r>
              <a:r>
                <a:rPr lang="en-US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AI</a:t>
              </a:r>
              <a:r>
                <a:rPr lang="ko-KR" altLang="en-US" sz="3200" b="0" i="0" u="none" strike="noStrike" dirty="0">
                  <a:solidFill>
                    <a:srgbClr val="FFFFFF"/>
                  </a:solidFill>
                  <a:latin typeface="Pretendard SemiBold"/>
                  <a:ea typeface="Pretendard SemiBold"/>
                  <a:cs typeface="Pretendard SemiBold"/>
                </a:rPr>
                <a:t>로 자동 감지해 지휘관의 진입 판단을 지원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949968" y="4800600"/>
            <a:ext cx="3402564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116199"/>
              </a:lnSpc>
            </a:pPr>
            <a:r>
              <a:rPr lang="ko-KR" altLang="en-US" sz="2666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재난 구조 현장의 어려움</a:t>
            </a:r>
            <a:endParaRPr lang="en-US" altLang="ko-KR" sz="2666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214368" y="4800600"/>
            <a:ext cx="34925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116199"/>
              </a:lnSpc>
            </a:pPr>
            <a:r>
              <a:rPr lang="ko-KR" altLang="en-US" sz="2666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재난 관련 </a:t>
            </a:r>
            <a:r>
              <a:rPr lang="ko-KR" altLang="en-US" sz="2666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드론의</a:t>
            </a:r>
            <a:r>
              <a:rPr lang="ko-KR" altLang="en-US" sz="2666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등장</a:t>
            </a:r>
            <a:endParaRPr lang="en-US" altLang="ko-KR" sz="2666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6427968" y="4800600"/>
            <a:ext cx="3384032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ko-KR" altLang="en-US" sz="26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관련 기술의 등장 및 발전</a:t>
            </a:r>
            <a:endParaRPr lang="en-US" sz="2666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213850" y="5664200"/>
            <a:ext cx="6121400" cy="1612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>
              <a:lnSpc>
                <a:spcPct val="16019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재난현장 출동 건수 </a:t>
            </a:r>
            <a:r>
              <a:rPr lang="en-US" altLang="ko-KR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</a:t>
            </a: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년 만에 약 </a:t>
            </a:r>
            <a:r>
              <a:rPr lang="en-US" altLang="ko-KR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</a:t>
            </a: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 증가 </a:t>
            </a:r>
            <a:r>
              <a:rPr lang="en-US" altLang="ko-KR" sz="2400" baseline="300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3)</a:t>
            </a:r>
          </a:p>
          <a:p>
            <a:pPr marL="342900" lvl="1" indent="-342900">
              <a:lnSpc>
                <a:spcPct val="16019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소방청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‘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소방드론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협의회’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충청남도 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분석 추진 등 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전환 본격화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90950" y="5664200"/>
            <a:ext cx="6121400" cy="4137478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>
              <a:lnSpc>
                <a:spcPct val="16019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영상</a:t>
            </a:r>
            <a:r>
              <a:rPr lang="en-US" altLang="ko-KR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음성</a:t>
            </a:r>
            <a:r>
              <a:rPr lang="en-US" altLang="ko-KR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문자 </a:t>
            </a:r>
            <a:r>
              <a:rPr lang="ko-KR" altLang="en-US" sz="24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멀티모달</a:t>
            </a: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통합 인지 연구 본격화 </a:t>
            </a:r>
            <a:r>
              <a:rPr lang="en-US" altLang="ko-KR" sz="2400" baseline="300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4)</a:t>
            </a:r>
            <a:endParaRPr lang="ko-KR" altLang="en-US" sz="2400" b="0" i="0" u="none" strike="noStrike" baseline="300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6019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SAR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용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드론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오디오 데이터셋 </a:t>
            </a:r>
            <a:r>
              <a:rPr lang="ko-KR" altLang="en-US" sz="24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등을 통한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소리 기반 탐지 기반 마련 </a:t>
            </a:r>
            <a:r>
              <a:rPr lang="en-US" altLang="ko-KR" sz="2400" b="0" i="0" u="none" strike="noStrike" baseline="300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5)</a:t>
            </a:r>
            <a:endParaRPr lang="ko-KR" altLang="en-US" sz="2400" b="0" i="0" u="none" strike="noStrike" baseline="300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6019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DGS·TransUNet 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 복원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감지 요소기술 실용 단계 진입 </a:t>
            </a:r>
            <a:r>
              <a:rPr lang="en-US" altLang="ko-KR" sz="2400" b="0" i="0" u="none" strike="noStrike" baseline="300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6)</a:t>
            </a:r>
            <a:r>
              <a:rPr lang="ko-KR" altLang="en-US" sz="2400" b="0" i="0" u="none" strike="noStrike" baseline="300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2400" b="0" i="0" u="none" strike="noStrike" baseline="300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7)</a:t>
            </a:r>
            <a:endParaRPr lang="ko-KR" altLang="en-US" sz="2400" b="0" i="0" u="none" strike="noStrike" baseline="300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4200" y="6826890"/>
            <a:ext cx="889000" cy="889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468600" y="6826890"/>
            <a:ext cx="889000" cy="889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8274050" y="6712590"/>
            <a:ext cx="749300" cy="111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5400" b="0" i="0" u="none" strike="noStrike" dirty="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+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538450" y="6712590"/>
            <a:ext cx="749300" cy="111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5400" b="0" i="0" u="none" strike="noStrike" dirty="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+</a:t>
            </a: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재난 현장 실시간 </a:t>
            </a:r>
            <a:r>
              <a:rPr lang="en-US" altLang="ko-KR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  <a:r>
              <a:rPr lang="en" altLang="ko-KR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D </a:t>
            </a: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상황인식의 실현 가능성 확보</a:t>
            </a:r>
          </a:p>
        </p:txBody>
      </p:sp>
      <p:graphicFrame>
        <p:nvGraphicFramePr>
          <p:cNvPr id="34" name="차트 33">
            <a:extLst>
              <a:ext uri="{FF2B5EF4-FFF2-40B4-BE49-F238E27FC236}">
                <a16:creationId xmlns:a16="http://schemas.microsoft.com/office/drawing/2014/main" id="{9CE17F5B-B68F-C92D-F26C-30D3CF2F44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0112071"/>
              </p:ext>
            </p:extLst>
          </p:nvPr>
        </p:nvGraphicFramePr>
        <p:xfrm>
          <a:off x="9345930" y="7550183"/>
          <a:ext cx="5880100" cy="2053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41" name="출처 각주"/>
          <p:cNvSpPr txBox="1"/>
          <p:nvPr/>
        </p:nvSpPr>
        <p:spPr>
          <a:xfrm>
            <a:off x="1949450" y="9447871"/>
            <a:ext cx="6229350" cy="510921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MBC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뉴스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"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불 난 건물 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인명 구조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하다가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…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문경 화재 소방관 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 순직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", 2024.2.1.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대한민국 정책브리핑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국토교통부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"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광명 </a:t>
            </a:r>
            <a:r>
              <a:rPr lang="ko-KR" altLang="en-US" sz="1200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신안산선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터널 붕괴사고 조사결과 발표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", 2025.</a:t>
            </a:r>
            <a:endParaRPr lang="ko-KR" altLang="en-US" sz="1200" dirty="0">
              <a:solidFill>
                <a:srgbClr val="7F7F7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슬라이드 번호 개체 틀 39">
            <a:extLst>
              <a:ext uri="{FF2B5EF4-FFF2-40B4-BE49-F238E27FC236}">
                <a16:creationId xmlns:a16="http://schemas.microsoft.com/office/drawing/2014/main" id="{5BEF441A-9068-EB9E-8CEF-A38A1AEF7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4</a:t>
            </a:fld>
            <a:endParaRPr lang="ko-KR" altLang="en-US" dirty="0"/>
          </a:p>
        </p:txBody>
      </p:sp>
      <p:sp>
        <p:nvSpPr>
          <p:cNvPr id="17" name="출처 각주">
            <a:extLst>
              <a:ext uri="{FF2B5EF4-FFF2-40B4-BE49-F238E27FC236}">
                <a16:creationId xmlns:a16="http://schemas.microsoft.com/office/drawing/2014/main" id="{712264AD-58C7-C134-3E78-99447416DED1}"/>
              </a:ext>
            </a:extLst>
          </p:cNvPr>
          <p:cNvSpPr txBox="1"/>
          <p:nvPr/>
        </p:nvSpPr>
        <p:spPr>
          <a:xfrm>
            <a:off x="16357600" y="8966279"/>
            <a:ext cx="6495532" cy="987877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KISTI, "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이미지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영상 처리 인공지능 기술 활용의 현황과 전망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", </a:t>
            </a:r>
            <a:r>
              <a:rPr lang="en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KISTI </a:t>
            </a:r>
            <a:r>
              <a:rPr lang="ko-KR" altLang="en-US" sz="1200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이슈브리프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제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73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김윤정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2024.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200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DroneAudioset</a:t>
            </a:r>
            <a:r>
              <a:rPr lang="en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(Gupta et al., </a:t>
            </a:r>
            <a:r>
              <a:rPr lang="en" altLang="ko-KR" sz="1200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NeurIPS</a:t>
            </a:r>
            <a:r>
              <a:rPr lang="en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2025)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Gaussian Splatting (</a:t>
            </a:r>
            <a:r>
              <a:rPr lang="en" altLang="ko-KR" sz="1200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Kerbl</a:t>
            </a:r>
            <a:r>
              <a:rPr lang="en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et al., SIGGRAPH 2023)</a:t>
            </a:r>
          </a:p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200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TransUNet</a:t>
            </a:r>
            <a:r>
              <a:rPr lang="en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(Chen et al., 2021)</a:t>
            </a:r>
            <a:endParaRPr lang="ko-KR" altLang="en-US" sz="1200" dirty="0">
              <a:solidFill>
                <a:srgbClr val="7F7F7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출처 각주">
            <a:extLst>
              <a:ext uri="{FF2B5EF4-FFF2-40B4-BE49-F238E27FC236}">
                <a16:creationId xmlns:a16="http://schemas.microsoft.com/office/drawing/2014/main" id="{363AB6F4-724C-E45C-81E9-A0009717BBBB}"/>
              </a:ext>
            </a:extLst>
          </p:cNvPr>
          <p:cNvSpPr txBox="1"/>
          <p:nvPr/>
        </p:nvSpPr>
        <p:spPr>
          <a:xfrm>
            <a:off x="9213850" y="9700235"/>
            <a:ext cx="6495532" cy="253921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YTN, "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재난현장 </a:t>
            </a:r>
            <a:r>
              <a:rPr lang="ko-KR" altLang="en-US" sz="1200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소방드론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출동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3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년 만에 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2.7</a:t>
            </a:r>
            <a:r>
              <a:rPr lang="ko-KR" altLang="en-US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 급증</a:t>
            </a:r>
            <a:r>
              <a:rPr lang="en-US" altLang="ko-KR" sz="1200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", 2025.2.26.</a:t>
            </a:r>
            <a:endParaRPr lang="ko-KR" altLang="en-US" sz="1200" dirty="0">
              <a:solidFill>
                <a:srgbClr val="7F7F7F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A40BF57C-AAA6-0A56-F261-2D5C4B708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개발 목적 및 필요성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930F1-4001-E4A0-4535-972CCD2B8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>
            <a:extLst>
              <a:ext uri="{FF2B5EF4-FFF2-40B4-BE49-F238E27FC236}">
                <a16:creationId xmlns:a16="http://schemas.microsoft.com/office/drawing/2014/main" id="{C5A78E98-E72B-413D-4316-76FCC1A23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37" name="Picture 37">
            <a:extLst>
              <a:ext uri="{FF2B5EF4-FFF2-40B4-BE49-F238E27FC236}">
                <a16:creationId xmlns:a16="http://schemas.microsoft.com/office/drawing/2014/main" id="{DD2DB7C8-7E11-351D-6EA4-7DE77DE66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36" name="TextBox 8">
            <a:extLst>
              <a:ext uri="{FF2B5EF4-FFF2-40B4-BE49-F238E27FC236}">
                <a16:creationId xmlns:a16="http://schemas.microsoft.com/office/drawing/2014/main" id="{0B962090-56BA-58FF-4255-CB38BA5BBD32}"/>
              </a:ext>
            </a:extLst>
          </p:cNvPr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영상 복원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·AI 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감지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·3D 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투영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저지연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서빙의 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단계 통합 파이프라인을 통한</a:t>
            </a:r>
            <a:endParaRPr lang="en-US" sz="42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EE481939-6E82-79E9-E059-87947F46A0CF}"/>
              </a:ext>
            </a:extLst>
          </p:cNvPr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" altLang="ko-KR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Core-Edge </a:t>
            </a: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분산 처리 기반 재난 현장 실시간 </a:t>
            </a:r>
            <a:r>
              <a:rPr lang="en-US" altLang="ko-KR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  <a:r>
              <a:rPr lang="en" altLang="ko-KR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D </a:t>
            </a: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상황인식 구현</a:t>
            </a:r>
            <a:endParaRPr lang="en-US" sz="5600" b="0" i="0" u="none" strike="noStrike" spc="-200" dirty="0">
              <a:solidFill>
                <a:srgbClr val="0B345B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47" name="Picture 10">
            <a:extLst>
              <a:ext uri="{FF2B5EF4-FFF2-40B4-BE49-F238E27FC236}">
                <a16:creationId xmlns:a16="http://schemas.microsoft.com/office/drawing/2014/main" id="{7D5D41DE-3EEE-7687-3E2D-BD5988840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100" y="5702300"/>
            <a:ext cx="4978400" cy="5105400"/>
          </a:xfrm>
          <a:prstGeom prst="rect">
            <a:avLst/>
          </a:prstGeom>
        </p:spPr>
      </p:pic>
      <p:sp>
        <p:nvSpPr>
          <p:cNvPr id="48" name="TextBox 11">
            <a:extLst>
              <a:ext uri="{FF2B5EF4-FFF2-40B4-BE49-F238E27FC236}">
                <a16:creationId xmlns:a16="http://schemas.microsoft.com/office/drawing/2014/main" id="{713584F8-EE5D-C5BA-7C9C-79599E4B6E00}"/>
              </a:ext>
            </a:extLst>
          </p:cNvPr>
          <p:cNvSpPr txBox="1"/>
          <p:nvPr/>
        </p:nvSpPr>
        <p:spPr>
          <a:xfrm>
            <a:off x="2286000" y="6921500"/>
            <a:ext cx="3860800" cy="171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구역 분할 동시 촬영 → 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GLO</a:t>
            </a:r>
            <a:b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</a:b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MAP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포즈 추정 → </a:t>
            </a:r>
            <a:r>
              <a:rPr lang="en-US" sz="24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gsplat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3DGS GPU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학습 → 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Open3D ICP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융합</a:t>
            </a: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30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 주기 증분 갱신</a:t>
            </a:r>
            <a:endParaRPr lang="en-US" altLang="ko-KR" sz="24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9" name="Picture 12">
            <a:extLst>
              <a:ext uri="{FF2B5EF4-FFF2-40B4-BE49-F238E27FC236}">
                <a16:creationId xmlns:a16="http://schemas.microsoft.com/office/drawing/2014/main" id="{265561EC-1A31-753F-B359-32C2330C37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4500" y="11277600"/>
            <a:ext cx="20828000" cy="1003300"/>
          </a:xfrm>
          <a:prstGeom prst="rect">
            <a:avLst/>
          </a:prstGeom>
        </p:spPr>
      </p:pic>
      <p:sp>
        <p:nvSpPr>
          <p:cNvPr id="50" name="TextBox 13">
            <a:extLst>
              <a:ext uri="{FF2B5EF4-FFF2-40B4-BE49-F238E27FC236}">
                <a16:creationId xmlns:a16="http://schemas.microsoft.com/office/drawing/2014/main" id="{564A54E1-A644-9B90-9965-E1B08BDBDB3D}"/>
              </a:ext>
            </a:extLst>
          </p:cNvPr>
          <p:cNvSpPr txBox="1"/>
          <p:nvPr/>
        </p:nvSpPr>
        <p:spPr>
          <a:xfrm>
            <a:off x="2578100" y="11518900"/>
            <a:ext cx="19126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예상 결과물</a:t>
            </a:r>
            <a:r>
              <a:rPr lang="en-US" altLang="ko-KR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: </a:t>
            </a:r>
            <a:r>
              <a:rPr lang="ko-KR" alt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영상 전송 모듈 </a:t>
            </a:r>
            <a:r>
              <a:rPr lang="en-US" altLang="ko-KR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· 3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 </a:t>
            </a:r>
            <a:r>
              <a:rPr lang="ko-KR" alt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복원 엔진 </a:t>
            </a:r>
            <a:r>
              <a:rPr lang="en-US" altLang="ko-KR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AI </a:t>
            </a:r>
            <a:r>
              <a:rPr lang="ko-KR" alt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감지 모델 </a:t>
            </a:r>
            <a:r>
              <a:rPr lang="en-US" altLang="ko-KR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· 2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D→3D </a:t>
            </a:r>
            <a:r>
              <a:rPr lang="ko-KR" alt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투영 모듈 </a:t>
            </a:r>
            <a:r>
              <a:rPr lang="en-US" altLang="ko-KR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Edge 3D </a:t>
            </a:r>
            <a:r>
              <a:rPr lang="ko-KR" alt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상황판 → 통합 시스템 </a:t>
            </a:r>
            <a:r>
              <a:rPr lang="en-US" altLang="ko-KR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+ </a:t>
            </a:r>
            <a:r>
              <a:rPr lang="ko-KR" altLang="en-US" sz="3200" b="0" i="0" u="none" strike="noStrike" spc="-2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시연 데모</a:t>
            </a:r>
          </a:p>
        </p:txBody>
      </p:sp>
      <p:pic>
        <p:nvPicPr>
          <p:cNvPr id="51" name="Picture 14">
            <a:extLst>
              <a:ext uri="{FF2B5EF4-FFF2-40B4-BE49-F238E27FC236}">
                <a16:creationId xmlns:a16="http://schemas.microsoft.com/office/drawing/2014/main" id="{632946B8-1098-5594-3116-817F884C2E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2300" y="5702300"/>
            <a:ext cx="4978400" cy="5067300"/>
          </a:xfrm>
          <a:prstGeom prst="rect">
            <a:avLst/>
          </a:prstGeom>
        </p:spPr>
      </p:pic>
      <p:sp>
        <p:nvSpPr>
          <p:cNvPr id="52" name="TextBox 15">
            <a:extLst>
              <a:ext uri="{FF2B5EF4-FFF2-40B4-BE49-F238E27FC236}">
                <a16:creationId xmlns:a16="http://schemas.microsoft.com/office/drawing/2014/main" id="{AE0533F8-DE2F-BEB4-91B7-5418030C4894}"/>
              </a:ext>
            </a:extLst>
          </p:cNvPr>
          <p:cNvSpPr txBox="1"/>
          <p:nvPr/>
        </p:nvSpPr>
        <p:spPr>
          <a:xfrm>
            <a:off x="7581900" y="6921500"/>
            <a:ext cx="3860800" cy="2070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RGB 3ch +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열화상 </a:t>
            </a: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ch Early Fusion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4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TransUNet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공유 백본에 위험구역</a:t>
            </a: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영역 마스크</a:t>
            </a: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)·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사람</a:t>
            </a: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점</a:t>
            </a: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+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신뢰도</a:t>
            </a: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듀얼 헤드</a:t>
            </a:r>
            <a:endParaRPr lang="en-US" altLang="ko-KR" sz="24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53" name="Picture 16">
            <a:extLst>
              <a:ext uri="{FF2B5EF4-FFF2-40B4-BE49-F238E27FC236}">
                <a16:creationId xmlns:a16="http://schemas.microsoft.com/office/drawing/2014/main" id="{6DA2B9DE-6903-FA43-E58C-ED38786412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68200" y="5702300"/>
            <a:ext cx="4978400" cy="5105400"/>
          </a:xfrm>
          <a:prstGeom prst="rect">
            <a:avLst/>
          </a:prstGeom>
        </p:spPr>
      </p:pic>
      <p:sp>
        <p:nvSpPr>
          <p:cNvPr id="54" name="TextBox 17">
            <a:extLst>
              <a:ext uri="{FF2B5EF4-FFF2-40B4-BE49-F238E27FC236}">
                <a16:creationId xmlns:a16="http://schemas.microsoft.com/office/drawing/2014/main" id="{8D0A382B-4E9B-1E5E-0C3B-F0C0ABD1DF9D}"/>
              </a:ext>
            </a:extLst>
          </p:cNvPr>
          <p:cNvSpPr txBox="1"/>
          <p:nvPr/>
        </p:nvSpPr>
        <p:spPr>
          <a:xfrm>
            <a:off x="12877800" y="6921500"/>
            <a:ext cx="3860800" cy="119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3DGS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렌더링 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Depth Map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을 </a:t>
            </a:r>
            <a:r>
              <a:rPr lang="ko-KR" altLang="en-US" sz="24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역참조</a:t>
            </a: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4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핀홀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역투영과 포즈 변환으로 세계좌표 마커 생성</a:t>
            </a:r>
            <a:endParaRPr lang="en-US" altLang="ko-KR" sz="24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4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멀티드론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삼각측량으로 보정</a:t>
            </a:r>
            <a:endParaRPr lang="en-US" altLang="ko-KR" sz="24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55" name="Picture 18">
            <a:extLst>
              <a:ext uri="{FF2B5EF4-FFF2-40B4-BE49-F238E27FC236}">
                <a16:creationId xmlns:a16="http://schemas.microsoft.com/office/drawing/2014/main" id="{8400FDCE-D9EF-7BFB-ABB1-A48D02CF44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564100" y="5702300"/>
            <a:ext cx="4978400" cy="5067300"/>
          </a:xfrm>
          <a:prstGeom prst="rect">
            <a:avLst/>
          </a:prstGeom>
        </p:spPr>
      </p:pic>
      <p:pic>
        <p:nvPicPr>
          <p:cNvPr id="56" name="Picture 19">
            <a:extLst>
              <a:ext uri="{FF2B5EF4-FFF2-40B4-BE49-F238E27FC236}">
                <a16:creationId xmlns:a16="http://schemas.microsoft.com/office/drawing/2014/main" id="{BC348466-E5DF-2E3C-4AA5-BFC6AA6A8D9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89100" y="4241800"/>
            <a:ext cx="15278100" cy="952500"/>
          </a:xfrm>
          <a:prstGeom prst="rect">
            <a:avLst/>
          </a:prstGeom>
        </p:spPr>
      </p:pic>
      <p:pic>
        <p:nvPicPr>
          <p:cNvPr id="57" name="Picture 20">
            <a:extLst>
              <a:ext uri="{FF2B5EF4-FFF2-40B4-BE49-F238E27FC236}">
                <a16:creationId xmlns:a16="http://schemas.microsoft.com/office/drawing/2014/main" id="{A44225CA-D230-87DD-BA90-2FEE5803607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713200" y="4241800"/>
            <a:ext cx="5829300" cy="952500"/>
          </a:xfrm>
          <a:prstGeom prst="rect">
            <a:avLst/>
          </a:prstGeom>
        </p:spPr>
      </p:pic>
      <p:sp>
        <p:nvSpPr>
          <p:cNvPr id="60" name="TextBox 23">
            <a:extLst>
              <a:ext uri="{FF2B5EF4-FFF2-40B4-BE49-F238E27FC236}">
                <a16:creationId xmlns:a16="http://schemas.microsoft.com/office/drawing/2014/main" id="{20A61972-B725-F678-68B3-935B3B93E4E5}"/>
              </a:ext>
            </a:extLst>
          </p:cNvPr>
          <p:cNvSpPr txBox="1"/>
          <p:nvPr/>
        </p:nvSpPr>
        <p:spPr>
          <a:xfrm>
            <a:off x="18173700" y="6921500"/>
            <a:ext cx="38608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.splat +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마커를 </a:t>
            </a:r>
            <a:r>
              <a:rPr lang="en-US" sz="24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rsync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증분 동기화</a:t>
            </a:r>
            <a:r>
              <a:rPr lang="en-US" altLang="ko-KR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현장 인근 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Edge VM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 </a:t>
            </a:r>
            <a:r>
              <a:rPr lang="en-US" sz="24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Three.js</a:t>
            </a:r>
            <a:r>
              <a:rPr 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뷰어로 </a:t>
            </a:r>
            <a:r>
              <a:rPr lang="ko-KR" altLang="en-US" sz="24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저지연</a:t>
            </a:r>
            <a:r>
              <a:rPr lang="ko-KR" altLang="en-US" sz="24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서빙</a:t>
            </a:r>
            <a:endParaRPr lang="en-US" altLang="ko-KR" sz="24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61" name="TextBox 24">
            <a:extLst>
              <a:ext uri="{FF2B5EF4-FFF2-40B4-BE49-F238E27FC236}">
                <a16:creationId xmlns:a16="http://schemas.microsoft.com/office/drawing/2014/main" id="{80EC68BD-7942-FD8E-6B1C-E6BC79DF526E}"/>
              </a:ext>
            </a:extLst>
          </p:cNvPr>
          <p:cNvSpPr txBox="1"/>
          <p:nvPr/>
        </p:nvSpPr>
        <p:spPr>
          <a:xfrm>
            <a:off x="5194300" y="4457700"/>
            <a:ext cx="86233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ct val="124499"/>
              </a:lnSpc>
            </a:pPr>
            <a:r>
              <a:rPr 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Core HPC · </a:t>
            </a:r>
            <a:r>
              <a:rPr lang="ko-KR" alt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준실시간 복원 </a:t>
            </a:r>
            <a:r>
              <a:rPr lang="en-US" altLang="ko-KR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+ </a:t>
            </a:r>
            <a:r>
              <a:rPr 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AI </a:t>
            </a:r>
            <a:r>
              <a:rPr lang="ko-KR" alt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감지 </a:t>
            </a:r>
            <a:r>
              <a:rPr lang="en-US" altLang="ko-KR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+ 3</a:t>
            </a:r>
            <a:r>
              <a:rPr 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D </a:t>
            </a:r>
            <a:r>
              <a:rPr lang="ko-KR" alt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투영 </a:t>
            </a:r>
            <a:r>
              <a:rPr lang="en-US" altLang="ko-KR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연산 집약</a:t>
            </a:r>
            <a:r>
              <a:rPr lang="en-US" altLang="ko-KR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) </a:t>
            </a:r>
            <a:endParaRPr lang="en-US" sz="2933" b="0" i="0" u="none" strike="noStrike" spc="-200" dirty="0">
              <a:solidFill>
                <a:schemeClr val="bg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2" name="TextBox 25">
            <a:extLst>
              <a:ext uri="{FF2B5EF4-FFF2-40B4-BE49-F238E27FC236}">
                <a16:creationId xmlns:a16="http://schemas.microsoft.com/office/drawing/2014/main" id="{F5BDC5D2-F66A-1CFE-0E85-DE3901DA8422}"/>
              </a:ext>
            </a:extLst>
          </p:cNvPr>
          <p:cNvSpPr txBox="1"/>
          <p:nvPr/>
        </p:nvSpPr>
        <p:spPr>
          <a:xfrm>
            <a:off x="17246600" y="4457700"/>
            <a:ext cx="47879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Edge VM · </a:t>
            </a:r>
            <a:r>
              <a:rPr lang="ko-KR" altLang="en-US" sz="2933" b="0" i="0" u="none" strike="noStrike" spc="-200" dirty="0" err="1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저지연</a:t>
            </a:r>
            <a:r>
              <a:rPr lang="ko-KR" alt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 서빙 </a:t>
            </a:r>
            <a:r>
              <a:rPr lang="en-US" altLang="ko-KR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(</a:t>
            </a:r>
            <a:r>
              <a:rPr lang="ko-KR" altLang="en-US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서빙 집약</a:t>
            </a:r>
            <a:r>
              <a:rPr lang="en-US" altLang="ko-KR" sz="2933" b="0" i="0" u="none" strike="noStrike" spc="-200" dirty="0">
                <a:solidFill>
                  <a:schemeClr val="bg1"/>
                </a:solidFill>
                <a:latin typeface="Pretendard SemiBold"/>
                <a:ea typeface="Pretendard SemiBold"/>
                <a:cs typeface="Pretendard SemiBold"/>
              </a:rPr>
              <a:t>)</a:t>
            </a:r>
            <a:endParaRPr lang="en-US" sz="2933" b="0" i="0" u="none" strike="noStrike" spc="-200" dirty="0">
              <a:solidFill>
                <a:schemeClr val="bg1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63" name="TextBox 26">
            <a:extLst>
              <a:ext uri="{FF2B5EF4-FFF2-40B4-BE49-F238E27FC236}">
                <a16:creationId xmlns:a16="http://schemas.microsoft.com/office/drawing/2014/main" id="{3CB85882-00CB-D4CB-B11F-CF8207C4FE82}"/>
              </a:ext>
            </a:extLst>
          </p:cNvPr>
          <p:cNvSpPr txBox="1"/>
          <p:nvPr/>
        </p:nvSpPr>
        <p:spPr>
          <a:xfrm>
            <a:off x="2222500" y="6096000"/>
            <a:ext cx="3898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2933" b="0" i="0" u="none" strike="noStrike" spc="-2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멀티드론</a:t>
            </a:r>
            <a:r>
              <a:rPr lang="ko-KR" alt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 </a:t>
            </a:r>
            <a:r>
              <a:rPr lang="ko-KR" alt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복원</a:t>
            </a:r>
          </a:p>
        </p:txBody>
      </p:sp>
      <p:sp>
        <p:nvSpPr>
          <p:cNvPr id="64" name="TextBox 27">
            <a:extLst>
              <a:ext uri="{FF2B5EF4-FFF2-40B4-BE49-F238E27FC236}">
                <a16:creationId xmlns:a16="http://schemas.microsoft.com/office/drawing/2014/main" id="{06F57A23-4121-AA29-4878-ACF4FCC0F7A0}"/>
              </a:ext>
            </a:extLst>
          </p:cNvPr>
          <p:cNvSpPr txBox="1"/>
          <p:nvPr/>
        </p:nvSpPr>
        <p:spPr>
          <a:xfrm>
            <a:off x="7518400" y="6096000"/>
            <a:ext cx="3898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altLang="ko-KR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  <a:r>
              <a:rPr lang="ko-KR" alt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채널 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AI </a:t>
            </a:r>
            <a:r>
              <a:rPr lang="ko-KR" alt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감지</a:t>
            </a:r>
          </a:p>
        </p:txBody>
      </p:sp>
      <p:sp>
        <p:nvSpPr>
          <p:cNvPr id="65" name="TextBox 28">
            <a:extLst>
              <a:ext uri="{FF2B5EF4-FFF2-40B4-BE49-F238E27FC236}">
                <a16:creationId xmlns:a16="http://schemas.microsoft.com/office/drawing/2014/main" id="{A1F743FE-F908-B2D2-5A89-2671326A294F}"/>
              </a:ext>
            </a:extLst>
          </p:cNvPr>
          <p:cNvSpPr txBox="1"/>
          <p:nvPr/>
        </p:nvSpPr>
        <p:spPr>
          <a:xfrm>
            <a:off x="12814300" y="6096000"/>
            <a:ext cx="3898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2D → 3D </a:t>
            </a:r>
            <a:r>
              <a:rPr lang="ko-KR" alt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투영</a:t>
            </a:r>
          </a:p>
        </p:txBody>
      </p:sp>
      <p:sp>
        <p:nvSpPr>
          <p:cNvPr id="66" name="TextBox 29">
            <a:extLst>
              <a:ext uri="{FF2B5EF4-FFF2-40B4-BE49-F238E27FC236}">
                <a16:creationId xmlns:a16="http://schemas.microsoft.com/office/drawing/2014/main" id="{62531FEE-F114-3444-DB73-54C65151B331}"/>
              </a:ext>
            </a:extLst>
          </p:cNvPr>
          <p:cNvSpPr txBox="1"/>
          <p:nvPr/>
        </p:nvSpPr>
        <p:spPr>
          <a:xfrm>
            <a:off x="18110200" y="6096000"/>
            <a:ext cx="3898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ko-KR" altLang="en-US" sz="2933" b="0" i="0" u="none" strike="noStrike" spc="-200" dirty="0" err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저지연</a:t>
            </a:r>
            <a:r>
              <a:rPr lang="ko-KR" alt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altLang="ko-KR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D </a:t>
            </a:r>
            <a:r>
              <a:rPr lang="ko-KR" altLang="en-US" sz="2933" b="0" i="0" u="none" strike="noStrike" spc="-2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상황판</a:t>
            </a:r>
          </a:p>
        </p:txBody>
      </p:sp>
      <p:pic>
        <p:nvPicPr>
          <p:cNvPr id="69" name="Picture 32">
            <a:extLst>
              <a:ext uri="{FF2B5EF4-FFF2-40B4-BE49-F238E27FC236}">
                <a16:creationId xmlns:a16="http://schemas.microsoft.com/office/drawing/2014/main" id="{83E5C2A0-6294-9948-D283-475CE81562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62700" y="7797800"/>
            <a:ext cx="889000" cy="889000"/>
          </a:xfrm>
          <a:prstGeom prst="rect">
            <a:avLst/>
          </a:prstGeom>
        </p:spPr>
      </p:pic>
      <p:pic>
        <p:nvPicPr>
          <p:cNvPr id="70" name="Picture 33">
            <a:extLst>
              <a:ext uri="{FF2B5EF4-FFF2-40B4-BE49-F238E27FC236}">
                <a16:creationId xmlns:a16="http://schemas.microsoft.com/office/drawing/2014/main" id="{7D435310-2E54-9387-6B62-7F2545F4FB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6654800" y="8064500"/>
            <a:ext cx="406400" cy="342900"/>
          </a:xfrm>
          <a:prstGeom prst="rect">
            <a:avLst/>
          </a:prstGeom>
        </p:spPr>
      </p:pic>
      <p:pic>
        <p:nvPicPr>
          <p:cNvPr id="71" name="Picture 34">
            <a:extLst>
              <a:ext uri="{FF2B5EF4-FFF2-40B4-BE49-F238E27FC236}">
                <a16:creationId xmlns:a16="http://schemas.microsoft.com/office/drawing/2014/main" id="{A4B0F364-5F66-E0D2-64DF-0ECB57FC8AD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84000" y="7835900"/>
            <a:ext cx="889000" cy="889000"/>
          </a:xfrm>
          <a:prstGeom prst="rect">
            <a:avLst/>
          </a:prstGeom>
        </p:spPr>
      </p:pic>
      <p:pic>
        <p:nvPicPr>
          <p:cNvPr id="72" name="Picture 35">
            <a:extLst>
              <a:ext uri="{FF2B5EF4-FFF2-40B4-BE49-F238E27FC236}">
                <a16:creationId xmlns:a16="http://schemas.microsoft.com/office/drawing/2014/main" id="{91CA2289-0200-AF7F-8CEE-47FD23282A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11976100" y="8102600"/>
            <a:ext cx="406400" cy="342900"/>
          </a:xfrm>
          <a:prstGeom prst="rect">
            <a:avLst/>
          </a:prstGeom>
        </p:spPr>
      </p:pic>
      <p:pic>
        <p:nvPicPr>
          <p:cNvPr id="73" name="Picture 36">
            <a:extLst>
              <a:ext uri="{FF2B5EF4-FFF2-40B4-BE49-F238E27FC236}">
                <a16:creationId xmlns:a16="http://schemas.microsoft.com/office/drawing/2014/main" id="{BD56CE4D-4609-B41D-5797-EDB212D0DFA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967200" y="7759700"/>
            <a:ext cx="889000" cy="889000"/>
          </a:xfrm>
          <a:prstGeom prst="rect">
            <a:avLst/>
          </a:prstGeom>
        </p:spPr>
      </p:pic>
      <p:pic>
        <p:nvPicPr>
          <p:cNvPr id="74" name="Picture 37">
            <a:extLst>
              <a:ext uri="{FF2B5EF4-FFF2-40B4-BE49-F238E27FC236}">
                <a16:creationId xmlns:a16="http://schemas.microsoft.com/office/drawing/2014/main" id="{8CABAFE5-EA89-AA07-DB9F-D99819377CE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17272000" y="8039100"/>
            <a:ext cx="406400" cy="342900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BB326417-41AB-B151-F2D0-660CC02A7869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1" t="19811" r="75465" b="21701"/>
          <a:stretch>
            <a:fillRect/>
          </a:stretch>
        </p:blipFill>
        <p:spPr>
          <a:xfrm>
            <a:off x="3719043" y="9248468"/>
            <a:ext cx="905814" cy="1169796"/>
          </a:xfrm>
          <a:prstGeom prst="rect">
            <a:avLst/>
          </a:prstGeom>
        </p:spPr>
      </p:pic>
      <p:pic>
        <p:nvPicPr>
          <p:cNvPr id="92" name="그림 91">
            <a:extLst>
              <a:ext uri="{FF2B5EF4-FFF2-40B4-BE49-F238E27FC236}">
                <a16:creationId xmlns:a16="http://schemas.microsoft.com/office/drawing/2014/main" id="{9A86BBA1-CCD9-5AEA-C7CF-7BD35ABD3826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70" t="25142" r="51635" b="21707"/>
          <a:stretch>
            <a:fillRect/>
          </a:stretch>
        </p:blipFill>
        <p:spPr>
          <a:xfrm>
            <a:off x="8845040" y="9295165"/>
            <a:ext cx="966220" cy="1063074"/>
          </a:xfrm>
          <a:prstGeom prst="rect">
            <a:avLst/>
          </a:prstGeom>
        </p:spPr>
      </p:pic>
      <p:pic>
        <p:nvPicPr>
          <p:cNvPr id="93" name="그림 92">
            <a:extLst>
              <a:ext uri="{FF2B5EF4-FFF2-40B4-BE49-F238E27FC236}">
                <a16:creationId xmlns:a16="http://schemas.microsoft.com/office/drawing/2014/main" id="{1A244AA4-A64F-85F1-E6B0-1CE24082E8E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77" t="21883" r="27749" b="20288"/>
          <a:stretch>
            <a:fillRect/>
          </a:stretch>
        </p:blipFill>
        <p:spPr>
          <a:xfrm>
            <a:off x="14274799" y="9254222"/>
            <a:ext cx="965202" cy="1156644"/>
          </a:xfrm>
          <a:prstGeom prst="rect">
            <a:avLst/>
          </a:prstGeom>
        </p:spPr>
      </p:pic>
      <p:pic>
        <p:nvPicPr>
          <p:cNvPr id="94" name="그림 93">
            <a:extLst>
              <a:ext uri="{FF2B5EF4-FFF2-40B4-BE49-F238E27FC236}">
                <a16:creationId xmlns:a16="http://schemas.microsoft.com/office/drawing/2014/main" id="{177AC98D-76C1-9143-A486-BE081D89B6DF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clrChange>
              <a:clrFrom>
                <a:srgbClr val="FFFFFE"/>
              </a:clrFrom>
              <a:clrTo>
                <a:srgbClr val="FFFF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71" t="18859" r="4902" b="25002"/>
          <a:stretch>
            <a:fillRect/>
          </a:stretch>
        </p:blipFill>
        <p:spPr>
          <a:xfrm>
            <a:off x="19671248" y="9269019"/>
            <a:ext cx="878194" cy="1122826"/>
          </a:xfrm>
          <a:prstGeom prst="rect">
            <a:avLst/>
          </a:prstGeom>
        </p:spPr>
      </p:pic>
      <p:sp>
        <p:nvSpPr>
          <p:cNvPr id="97" name="슬라이드 번호 개체 틀 96">
            <a:extLst>
              <a:ext uri="{FF2B5EF4-FFF2-40B4-BE49-F238E27FC236}">
                <a16:creationId xmlns:a16="http://schemas.microsoft.com/office/drawing/2014/main" id="{853A4D8C-E50A-C2D4-C97C-EAE6A4B8D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5</a:t>
            </a:fld>
            <a:endParaRPr lang="ko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7DDB7D-71A4-8A15-8F69-3B4D7C097E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세부 개발 내용 및 범위</a:t>
            </a:r>
          </a:p>
        </p:txBody>
      </p:sp>
    </p:spTree>
    <p:extLst>
      <p:ext uri="{BB962C8B-B14F-4D97-AF65-F5344CB8AC3E}">
        <p14:creationId xmlns:p14="http://schemas.microsoft.com/office/powerpoint/2010/main" val="3831950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B1D30-935F-F81F-DA30-D1155CF25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4">
            <a:extLst>
              <a:ext uri="{FF2B5EF4-FFF2-40B4-BE49-F238E27FC236}">
                <a16:creationId xmlns:a16="http://schemas.microsoft.com/office/drawing/2014/main" id="{06D56825-9F93-5DBD-F5E6-042396FFD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37" name="Picture 37">
            <a:extLst>
              <a:ext uri="{FF2B5EF4-FFF2-40B4-BE49-F238E27FC236}">
                <a16:creationId xmlns:a16="http://schemas.microsoft.com/office/drawing/2014/main" id="{9DA3CF23-B47E-6DF5-99C3-5BE71FBCC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36" name="TextBox 8">
            <a:extLst>
              <a:ext uri="{FF2B5EF4-FFF2-40B4-BE49-F238E27FC236}">
                <a16:creationId xmlns:a16="http://schemas.microsoft.com/office/drawing/2014/main" id="{3364A505-0144-40A2-FC2E-046F373DA566}"/>
              </a:ext>
            </a:extLst>
          </p:cNvPr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영상 복원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·AI 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감지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·3D 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투영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저지연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서빙의 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4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단계 통합 파이프라인을 통한</a:t>
            </a:r>
            <a:endParaRPr lang="en-US" sz="42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CDBC39D7-3E63-138D-CA94-E19BA6D724D1}"/>
              </a:ext>
            </a:extLst>
          </p:cNvPr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" altLang="ko-KR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Core-Edge </a:t>
            </a: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분산 처리 기반 재난 현장 실시간 </a:t>
            </a:r>
            <a:r>
              <a:rPr lang="en-US" altLang="ko-KR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  <a:r>
              <a:rPr lang="en" altLang="ko-KR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D </a:t>
            </a: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상황인식 구현</a:t>
            </a:r>
            <a:endParaRPr lang="en-US" sz="5600" b="0" i="0" u="none" strike="noStrike" spc="-200" dirty="0">
              <a:solidFill>
                <a:srgbClr val="0B345B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2" name="Picture 49" descr="__type_image">
            <a:extLst>
              <a:ext uri="{FF2B5EF4-FFF2-40B4-BE49-F238E27FC236}">
                <a16:creationId xmlns:a16="http://schemas.microsoft.com/office/drawing/2014/main" id="{C400F168-4ACF-3C89-FA38-354CEAF8F5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71" t="11451" r="2784" b="1075"/>
          <a:stretch>
            <a:fillRect/>
          </a:stretch>
        </p:blipFill>
        <p:spPr>
          <a:xfrm>
            <a:off x="3794003" y="4038068"/>
            <a:ext cx="16795993" cy="8267700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E3FA83-7DDF-85DE-FF40-CA2FFCBAC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6</a:t>
            </a:fld>
            <a:endParaRPr lang="ko-KR" altLang="en-US"/>
          </a:p>
        </p:txBody>
      </p:sp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7396E888-E53D-6F52-3094-F3A5A7F5F4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74850" y="146050"/>
            <a:ext cx="6781800" cy="762000"/>
          </a:xfrm>
        </p:spPr>
        <p:txBody>
          <a:bodyPr/>
          <a:lstStyle/>
          <a:p>
            <a:r>
              <a:rPr lang="ko-KR" altLang="en-US" dirty="0"/>
              <a:t>세부 개발 내용 및 범위</a:t>
            </a:r>
          </a:p>
        </p:txBody>
      </p:sp>
    </p:spTree>
    <p:extLst>
      <p:ext uri="{BB962C8B-B14F-4D97-AF65-F5344CB8AC3E}">
        <p14:creationId xmlns:p14="http://schemas.microsoft.com/office/powerpoint/2010/main" val="3243329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FC6B5-9C76-EBFF-1B6C-EA24CECE3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F61B721-AB34-6713-E62A-60635D579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8000"/>
            <a:ext cx="24384000" cy="1562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1592E0D-F8D3-C0CE-C484-DEFB164D8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73441CD-D73E-91DC-ED4E-12C5B8494D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DDD0ACB9-3C8F-9107-A70C-5955B9F4274A}"/>
              </a:ext>
            </a:extLst>
          </p:cNvPr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4266" b="0" i="0" u="none" strike="noStrike" spc="-2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멀티드론</a:t>
            </a:r>
            <a:r>
              <a:rPr lang="ko-KR" altLang="en-US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제어와 </a:t>
            </a:r>
            <a:r>
              <a:rPr lang="en-US" altLang="ko-KR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en" altLang="ko-KR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DGS </a:t>
            </a:r>
            <a:r>
              <a:rPr lang="ko-KR" altLang="en-US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복원</a:t>
            </a:r>
            <a:r>
              <a:rPr lang="en-US" altLang="ko-KR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요구조자 감지를</a:t>
            </a:r>
            <a:endParaRPr lang="en-US" sz="4266" b="0" i="0" u="none" strike="noStrike" spc="-2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31DF5645-EB3C-5277-7929-A965C9A2A355}"/>
              </a:ext>
            </a:extLst>
          </p:cNvPr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5600" b="0" i="0" u="none" strike="noStrike" spc="-200" dirty="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두 영역으로 분리 실행한 실시간 </a:t>
            </a:r>
            <a:r>
              <a:rPr lang="en-US" altLang="ko-KR" sz="5600" b="0" i="0" u="none" strike="noStrike" spc="-200" dirty="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  <a:r>
              <a:rPr lang="en" altLang="ko-KR" sz="5600" b="0" i="0" u="none" strike="noStrike" spc="-200" dirty="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D </a:t>
            </a:r>
            <a:r>
              <a:rPr lang="ko-KR" altLang="en-US" sz="5600" b="0" i="0" u="none" strike="noStrike" spc="-200" dirty="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상황인식 결과물</a:t>
            </a:r>
            <a:endParaRPr lang="en-US" sz="5600" b="0" i="0" u="none" strike="noStrike" spc="-200" dirty="0"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2" name="직각 삼각형[R] 21">
            <a:extLst>
              <a:ext uri="{FF2B5EF4-FFF2-40B4-BE49-F238E27FC236}">
                <a16:creationId xmlns:a16="http://schemas.microsoft.com/office/drawing/2014/main" id="{48857EA7-5C24-B10E-010C-AD54373AF8D3}"/>
              </a:ext>
            </a:extLst>
          </p:cNvPr>
          <p:cNvSpPr/>
          <p:nvPr/>
        </p:nvSpPr>
        <p:spPr>
          <a:xfrm flipH="1">
            <a:off x="20625728" y="-1715367"/>
            <a:ext cx="3758272" cy="2760019"/>
          </a:xfrm>
          <a:prstGeom prst="rtTriangle">
            <a:avLst/>
          </a:prstGeom>
          <a:solidFill>
            <a:srgbClr val="1745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직각 삼각형[R] 42">
            <a:extLst>
              <a:ext uri="{FF2B5EF4-FFF2-40B4-BE49-F238E27FC236}">
                <a16:creationId xmlns:a16="http://schemas.microsoft.com/office/drawing/2014/main" id="{BAC444AB-E645-3AD0-1B38-0AF19C131E68}"/>
              </a:ext>
            </a:extLst>
          </p:cNvPr>
          <p:cNvSpPr/>
          <p:nvPr/>
        </p:nvSpPr>
        <p:spPr>
          <a:xfrm flipH="1">
            <a:off x="22174200" y="-1762047"/>
            <a:ext cx="2209800" cy="2806699"/>
          </a:xfrm>
          <a:prstGeom prst="rtTriangle">
            <a:avLst/>
          </a:prstGeom>
          <a:solidFill>
            <a:srgbClr val="1B49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6" name="슬라이드 번호 개체 틀 45">
            <a:extLst>
              <a:ext uri="{FF2B5EF4-FFF2-40B4-BE49-F238E27FC236}">
                <a16:creationId xmlns:a16="http://schemas.microsoft.com/office/drawing/2014/main" id="{A2CDFFDC-758B-B436-B3BA-3C17E54F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>
                <a:solidFill>
                  <a:schemeClr val="bg1">
                    <a:lumMod val="95000"/>
                  </a:schemeClr>
                </a:solidFill>
              </a:rPr>
              <a:pPr>
                <a:lnSpc>
                  <a:spcPct val="116199"/>
                </a:lnSpc>
              </a:pPr>
              <a:t>7</a:t>
            </a:fld>
            <a:endParaRPr lang="ko-KR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00C9D4F7-A011-767B-4633-639E2B4AAF09}"/>
              </a:ext>
            </a:extLst>
          </p:cNvPr>
          <p:cNvSpPr txBox="1"/>
          <p:nvPr/>
        </p:nvSpPr>
        <p:spPr>
          <a:xfrm>
            <a:off x="12915900" y="13055600"/>
            <a:ext cx="103378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6160"/>
              </a:lnSpc>
            </a:pPr>
            <a:r>
              <a:rPr lang="ko-KR" altLang="en-US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마당을 나온 </a:t>
            </a:r>
            <a:r>
              <a:rPr lang="ko-KR" altLang="en-US" sz="1866" b="0" i="0" u="none" strike="noStrike" dirty="0" err="1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드론</a:t>
            </a:r>
            <a:endParaRPr lang="en-US" sz="1866" b="0" i="0" u="none" strike="noStrike" dirty="0">
              <a:solidFill>
                <a:schemeClr val="bg1">
                  <a:lumMod val="95000"/>
                </a:schemeClr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8" name="TextBox 26">
            <a:extLst>
              <a:ext uri="{FF2B5EF4-FFF2-40B4-BE49-F238E27FC236}">
                <a16:creationId xmlns:a16="http://schemas.microsoft.com/office/drawing/2014/main" id="{A966623E-667C-9EB7-6F82-427C2B6B22D5}"/>
              </a:ext>
            </a:extLst>
          </p:cNvPr>
          <p:cNvSpPr txBox="1"/>
          <p:nvPr/>
        </p:nvSpPr>
        <p:spPr>
          <a:xfrm>
            <a:off x="1473200" y="13055600"/>
            <a:ext cx="46228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2026</a:t>
            </a:r>
            <a:r>
              <a:rPr lang="ko-KR" altLang="en-US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년 </a:t>
            </a:r>
            <a:r>
              <a:rPr lang="en" altLang="ko-KR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NET </a:t>
            </a:r>
            <a:r>
              <a:rPr lang="ko-KR" altLang="en-US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챌린지 캠프 시즌 </a:t>
            </a:r>
            <a:r>
              <a:rPr lang="en-US" altLang="ko-KR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13 </a:t>
            </a:r>
            <a:r>
              <a:rPr lang="ko-KR" altLang="en-US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착수보고회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D55E443-AA98-B3F1-4D10-E067F7337E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예상 결과물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134096-5CB2-265F-632A-6C22F1655B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85" y="4637731"/>
            <a:ext cx="22776630" cy="7132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90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431"/>
    </mc:Choice>
    <mc:Fallback xmlns="">
      <p:transition spd="slow" advTm="1843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D827F-DF8F-D26F-79E2-4D8F850F0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EE10FCAD-7043-12A9-4BCA-1A28F7464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FD0A8B7-5458-7C74-9369-A9BA064C9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B6A0E0BC-74F3-4704-3C1D-A1F959686F8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특징</a:t>
            </a:r>
          </a:p>
        </p:txBody>
      </p:sp>
      <p:sp>
        <p:nvSpPr>
          <p:cNvPr id="83" name="TextBox 8">
            <a:extLst>
              <a:ext uri="{FF2B5EF4-FFF2-40B4-BE49-F238E27FC236}">
                <a16:creationId xmlns:a16="http://schemas.microsoft.com/office/drawing/2014/main" id="{4A4620ED-1E19-1CCF-BAF3-4A17D25CABCA}"/>
              </a:ext>
            </a:extLst>
          </p:cNvPr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 시간이 걸리는 상황인식을 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30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초 이내의 </a:t>
            </a:r>
            <a:r>
              <a:rPr lang="ko-KR" altLang="en-US" sz="4266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준실시간으로</a:t>
            </a:r>
            <a:r>
              <a:rPr lang="ko-KR" altLang="en-US" sz="4266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구현</a:t>
            </a:r>
            <a:r>
              <a:rPr lang="en-US" altLang="ko-KR" sz="4266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endParaRPr lang="en-US" sz="42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84" name="TextBox 9">
            <a:extLst>
              <a:ext uri="{FF2B5EF4-FFF2-40B4-BE49-F238E27FC236}">
                <a16:creationId xmlns:a16="http://schemas.microsoft.com/office/drawing/2014/main" id="{6C52DAD5-4C25-85A7-F8F3-94F44B53349E}"/>
              </a:ext>
            </a:extLst>
          </p:cNvPr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단축된 시간이 곧 재난 대응 </a:t>
            </a:r>
            <a:r>
              <a:rPr lang="ko-KR" alt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골든타임</a:t>
            </a: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확보</a:t>
            </a:r>
            <a:endParaRPr lang="en-US" sz="5600" b="0" i="0" u="none" strike="noStrike" spc="-200" dirty="0">
              <a:solidFill>
                <a:srgbClr val="0B345B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91F91748-B7D9-FB4A-A0BA-90C51BA844C2}"/>
              </a:ext>
            </a:extLst>
          </p:cNvPr>
          <p:cNvSpPr/>
          <p:nvPr/>
        </p:nvSpPr>
        <p:spPr>
          <a:xfrm>
            <a:off x="2242822" y="5073149"/>
            <a:ext cx="2857500" cy="1698686"/>
          </a:xfrm>
          <a:prstGeom prst="roundRect">
            <a:avLst>
              <a:gd name="adj" fmla="val 6512"/>
            </a:avLst>
          </a:prstGeom>
          <a:solidFill>
            <a:srgbClr val="F7F9F9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ko-KR" altLang="en-US" sz="40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EE38B62C-020A-9F80-7C3E-11F80FD9FFF0}"/>
              </a:ext>
            </a:extLst>
          </p:cNvPr>
          <p:cNvSpPr/>
          <p:nvPr/>
        </p:nvSpPr>
        <p:spPr>
          <a:xfrm>
            <a:off x="2448937" y="5073149"/>
            <a:ext cx="2482746" cy="1698686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200" b="1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획득적</a:t>
            </a:r>
            <a:r>
              <a:rPr lang="en-US" sz="3200" b="1" dirty="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200" b="1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관점</a:t>
            </a:r>
            <a:endParaRPr lang="en-US" sz="32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Shape 14">
            <a:extLst>
              <a:ext uri="{FF2B5EF4-FFF2-40B4-BE49-F238E27FC236}">
                <a16:creationId xmlns:a16="http://schemas.microsoft.com/office/drawing/2014/main" id="{2859812A-55E6-6DA5-C6ED-1E936875E32E}"/>
              </a:ext>
            </a:extLst>
          </p:cNvPr>
          <p:cNvSpPr/>
          <p:nvPr/>
        </p:nvSpPr>
        <p:spPr>
          <a:xfrm>
            <a:off x="2242822" y="6929852"/>
            <a:ext cx="2857500" cy="2548029"/>
          </a:xfrm>
          <a:prstGeom prst="roundRect">
            <a:avLst>
              <a:gd name="adj" fmla="val 4341"/>
            </a:avLst>
          </a:prstGeom>
          <a:solidFill>
            <a:srgbClr val="F7F9F9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ko-KR" altLang="en-US" sz="40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Text 15">
            <a:extLst>
              <a:ext uri="{FF2B5EF4-FFF2-40B4-BE49-F238E27FC236}">
                <a16:creationId xmlns:a16="http://schemas.microsoft.com/office/drawing/2014/main" id="{B6B2EE03-2E85-F11F-3DB1-62066CD4082E}"/>
              </a:ext>
            </a:extLst>
          </p:cNvPr>
          <p:cNvSpPr/>
          <p:nvPr/>
        </p:nvSpPr>
        <p:spPr>
          <a:xfrm>
            <a:off x="2448937" y="6929852"/>
            <a:ext cx="2482746" cy="2548029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200" b="1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인지적</a:t>
            </a:r>
            <a:r>
              <a:rPr lang="en-US" sz="3200" b="1" dirty="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200" b="1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관점</a:t>
            </a:r>
            <a:endParaRPr lang="en-US" sz="32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979B6168-A856-D594-4F66-E028CB17D684}"/>
              </a:ext>
            </a:extLst>
          </p:cNvPr>
          <p:cNvSpPr/>
          <p:nvPr/>
        </p:nvSpPr>
        <p:spPr>
          <a:xfrm>
            <a:off x="2242822" y="9635899"/>
            <a:ext cx="2857500" cy="1698686"/>
          </a:xfrm>
          <a:prstGeom prst="roundRect">
            <a:avLst>
              <a:gd name="adj" fmla="val 6512"/>
            </a:avLst>
          </a:prstGeom>
          <a:solidFill>
            <a:srgbClr val="F7F9F9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ko-KR" altLang="en-US" sz="40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D7BE9382-59A1-3CAD-88BE-3A6656EE478F}"/>
              </a:ext>
            </a:extLst>
          </p:cNvPr>
          <p:cNvSpPr/>
          <p:nvPr/>
        </p:nvSpPr>
        <p:spPr>
          <a:xfrm>
            <a:off x="2448937" y="9635899"/>
            <a:ext cx="2482746" cy="1698686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200" b="1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처리적</a:t>
            </a:r>
            <a:r>
              <a:rPr lang="en-US" sz="3200" b="1" dirty="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200" b="1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관점</a:t>
            </a:r>
            <a:endParaRPr lang="en-US" sz="32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91A9AB5D-F6CD-133B-8BBF-7201A44BF441}"/>
              </a:ext>
            </a:extLst>
          </p:cNvPr>
          <p:cNvSpPr/>
          <p:nvPr/>
        </p:nvSpPr>
        <p:spPr>
          <a:xfrm>
            <a:off x="2242822" y="11492602"/>
            <a:ext cx="2857500" cy="849343"/>
          </a:xfrm>
          <a:prstGeom prst="roundRect">
            <a:avLst>
              <a:gd name="adj" fmla="val 13023"/>
            </a:avLst>
          </a:prstGeom>
          <a:solidFill>
            <a:srgbClr val="F7F9F9"/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endParaRPr lang="ko-KR" altLang="en-US" sz="40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1C5EDFF2-19F9-0457-A432-B22600431366}"/>
              </a:ext>
            </a:extLst>
          </p:cNvPr>
          <p:cNvSpPr/>
          <p:nvPr/>
        </p:nvSpPr>
        <p:spPr>
          <a:xfrm>
            <a:off x="2448937" y="11492602"/>
            <a:ext cx="2482746" cy="849343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200" b="1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의사결정</a:t>
            </a:r>
            <a:r>
              <a:rPr lang="en-US" sz="3200" b="1" dirty="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3200" b="1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관점</a:t>
            </a:r>
            <a:endParaRPr lang="en-US" sz="32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59B460B-5E58-A08A-3223-CDBC7B7133EB}"/>
              </a:ext>
            </a:extLst>
          </p:cNvPr>
          <p:cNvSpPr/>
          <p:nvPr/>
        </p:nvSpPr>
        <p:spPr>
          <a:xfrm>
            <a:off x="8390105" y="4066454"/>
            <a:ext cx="6739537" cy="753867"/>
          </a:xfrm>
          <a:prstGeom prst="roundRect">
            <a:avLst>
              <a:gd name="adj" fmla="val 13636"/>
            </a:avLst>
          </a:prstGeom>
          <a:solidFill>
            <a:srgbClr val="0934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F7F9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기존</a:t>
            </a:r>
            <a:r>
              <a:rPr lang="en-US" sz="3200" b="1" dirty="0">
                <a:solidFill>
                  <a:srgbClr val="F7F9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방식</a:t>
            </a:r>
            <a:endParaRPr lang="en-US" sz="3200" dirty="0">
              <a:solidFill>
                <a:srgbClr val="F7F9F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9197881-5421-5305-5FA8-1079F77DBC16}"/>
              </a:ext>
            </a:extLst>
          </p:cNvPr>
          <p:cNvSpPr/>
          <p:nvPr/>
        </p:nvSpPr>
        <p:spPr>
          <a:xfrm>
            <a:off x="15401640" y="4066454"/>
            <a:ext cx="6739537" cy="753867"/>
          </a:xfrm>
          <a:prstGeom prst="roundRect">
            <a:avLst>
              <a:gd name="adj" fmla="val 13636"/>
            </a:avLst>
          </a:prstGeom>
          <a:solidFill>
            <a:srgbClr val="2E8DE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F7F9F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SkyLens</a:t>
            </a:r>
            <a:endParaRPr lang="en-US" sz="3200" dirty="0">
              <a:solidFill>
                <a:srgbClr val="F7F9F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79BF7A2B-48AC-13DA-CE90-58F2A19BC9D1}"/>
              </a:ext>
            </a:extLst>
          </p:cNvPr>
          <p:cNvSpPr/>
          <p:nvPr/>
        </p:nvSpPr>
        <p:spPr>
          <a:xfrm>
            <a:off x="8390105" y="5120554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09345B">
              <a:alpha val="5098"/>
            </a:srgbClr>
          </a:solidFill>
          <a:ln>
            <a:noFill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70E3754F-793E-E342-B610-AEEEB58699CC}"/>
              </a:ext>
            </a:extLst>
          </p:cNvPr>
          <p:cNvSpPr/>
          <p:nvPr/>
        </p:nvSpPr>
        <p:spPr>
          <a:xfrm>
            <a:off x="8662105" y="5120554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단일</a:t>
            </a:r>
            <a:r>
              <a:rPr lang="en-US" sz="2800" dirty="0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드론 단독 촬영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Shape 8">
            <a:extLst>
              <a:ext uri="{FF2B5EF4-FFF2-40B4-BE49-F238E27FC236}">
                <a16:creationId xmlns:a16="http://schemas.microsoft.com/office/drawing/2014/main" id="{23B75D05-701E-EA4B-0E08-7C61220E25C8}"/>
              </a:ext>
            </a:extLst>
          </p:cNvPr>
          <p:cNvSpPr/>
          <p:nvPr/>
        </p:nvSpPr>
        <p:spPr>
          <a:xfrm>
            <a:off x="15401640" y="5120554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F3F6FB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7A49D690-5805-2B88-64A8-5367CB6AF5BC}"/>
              </a:ext>
            </a:extLst>
          </p:cNvPr>
          <p:cNvSpPr/>
          <p:nvPr/>
        </p:nvSpPr>
        <p:spPr>
          <a:xfrm>
            <a:off x="15673640" y="5120554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멀티드론 2~3대 구역 분할 동시 촬영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Shape 10">
            <a:extLst>
              <a:ext uri="{FF2B5EF4-FFF2-40B4-BE49-F238E27FC236}">
                <a16:creationId xmlns:a16="http://schemas.microsoft.com/office/drawing/2014/main" id="{3F228FB7-F1FD-4F1B-F360-C76F01B9C871}"/>
              </a:ext>
            </a:extLst>
          </p:cNvPr>
          <p:cNvSpPr/>
          <p:nvPr/>
        </p:nvSpPr>
        <p:spPr>
          <a:xfrm>
            <a:off x="8390105" y="5969897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09345B">
              <a:alpha val="5098"/>
            </a:srgbClr>
          </a:solidFill>
          <a:ln>
            <a:noFill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37BCCCE2-4F8A-15D6-B495-7E77A205BB37}"/>
              </a:ext>
            </a:extLst>
          </p:cNvPr>
          <p:cNvSpPr/>
          <p:nvPr/>
        </p:nvSpPr>
        <p:spPr>
          <a:xfrm>
            <a:off x="8662105" y="5969897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일반</a:t>
            </a:r>
            <a:r>
              <a:rPr lang="en-US" sz="2800" dirty="0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인터넷망 · 대역·지연 한계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256D4B96-0EDE-C86F-49C7-A7C1A23CA657}"/>
              </a:ext>
            </a:extLst>
          </p:cNvPr>
          <p:cNvSpPr/>
          <p:nvPr/>
        </p:nvSpPr>
        <p:spPr>
          <a:xfrm>
            <a:off x="15401640" y="5969897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F3F6FB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C048CA27-FF23-55B4-90D7-DBE1AC10F5DD}"/>
              </a:ext>
            </a:extLst>
          </p:cNvPr>
          <p:cNvSpPr/>
          <p:nvPr/>
        </p:nvSpPr>
        <p:spPr>
          <a:xfrm>
            <a:off x="15673640" y="5969897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KOREN 고속 연구망 · 고대역·저지연 QoS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7B1FD9F9-32A5-273F-E62F-CD81E6042125}"/>
              </a:ext>
            </a:extLst>
          </p:cNvPr>
          <p:cNvSpPr/>
          <p:nvPr/>
        </p:nvSpPr>
        <p:spPr>
          <a:xfrm>
            <a:off x="8390105" y="6977257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09345B">
              <a:alpha val="5098"/>
            </a:srgbClr>
          </a:solidFill>
          <a:ln>
            <a:noFill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B4CFFAC1-E082-631B-DE8A-045EF377A5C4}"/>
              </a:ext>
            </a:extLst>
          </p:cNvPr>
          <p:cNvSpPr/>
          <p:nvPr/>
        </p:nvSpPr>
        <p:spPr>
          <a:xfrm>
            <a:off x="8662105" y="6977257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 영상 실시간 중계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18">
            <a:extLst>
              <a:ext uri="{FF2B5EF4-FFF2-40B4-BE49-F238E27FC236}">
                <a16:creationId xmlns:a16="http://schemas.microsoft.com/office/drawing/2014/main" id="{99FE477C-9A28-7D85-87D4-93A488957E3D}"/>
              </a:ext>
            </a:extLst>
          </p:cNvPr>
          <p:cNvSpPr/>
          <p:nvPr/>
        </p:nvSpPr>
        <p:spPr>
          <a:xfrm>
            <a:off x="15401640" y="6977257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F3F6FB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652331A8-B47B-72F7-1B3C-FD1C2C0F8EE3}"/>
              </a:ext>
            </a:extLst>
          </p:cNvPr>
          <p:cNvSpPr/>
          <p:nvPr/>
        </p:nvSpPr>
        <p:spPr>
          <a:xfrm>
            <a:off x="15673640" y="6977257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3DGS 기반 현장 3D 복원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Shape 20">
            <a:extLst>
              <a:ext uri="{FF2B5EF4-FFF2-40B4-BE49-F238E27FC236}">
                <a16:creationId xmlns:a16="http://schemas.microsoft.com/office/drawing/2014/main" id="{28296C27-2804-D5E3-132E-872441FA86F8}"/>
              </a:ext>
            </a:extLst>
          </p:cNvPr>
          <p:cNvSpPr/>
          <p:nvPr/>
        </p:nvSpPr>
        <p:spPr>
          <a:xfrm>
            <a:off x="8390105" y="7826600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09345B">
              <a:alpha val="5098"/>
            </a:srgbClr>
          </a:solidFill>
          <a:ln>
            <a:noFill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7EBF4E0D-4CB7-0154-7672-BE8426393DAD}"/>
              </a:ext>
            </a:extLst>
          </p:cNvPr>
          <p:cNvSpPr/>
          <p:nvPr/>
        </p:nvSpPr>
        <p:spPr>
          <a:xfrm>
            <a:off x="8662105" y="7826600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RGB/열화상 단일 모달리티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B16123D2-C2B3-569F-43D3-EBE0E10219C5}"/>
              </a:ext>
            </a:extLst>
          </p:cNvPr>
          <p:cNvSpPr/>
          <p:nvPr/>
        </p:nvSpPr>
        <p:spPr>
          <a:xfrm>
            <a:off x="15401640" y="7826600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F3F6FB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FDD63869-FD5B-B566-3BB9-2557F3018110}"/>
              </a:ext>
            </a:extLst>
          </p:cNvPr>
          <p:cNvSpPr/>
          <p:nvPr/>
        </p:nvSpPr>
        <p:spPr>
          <a:xfrm>
            <a:off x="15673640" y="7826600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RGB+열화상 4채널 융합 (야간·연기 대응)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24">
            <a:extLst>
              <a:ext uri="{FF2B5EF4-FFF2-40B4-BE49-F238E27FC236}">
                <a16:creationId xmlns:a16="http://schemas.microsoft.com/office/drawing/2014/main" id="{DA387DFB-819B-7556-A392-CCB0C408FE80}"/>
              </a:ext>
            </a:extLst>
          </p:cNvPr>
          <p:cNvSpPr/>
          <p:nvPr/>
        </p:nvSpPr>
        <p:spPr>
          <a:xfrm>
            <a:off x="8390105" y="8675943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09345B">
              <a:alpha val="5098"/>
            </a:srgbClr>
          </a:solidFill>
          <a:ln>
            <a:noFill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AC0E173D-3EE8-1EB5-F4D2-5A0F8CE699D8}"/>
              </a:ext>
            </a:extLst>
          </p:cNvPr>
          <p:cNvSpPr/>
          <p:nvPr/>
        </p:nvSpPr>
        <p:spPr>
          <a:xfrm>
            <a:off x="8662105" y="8675943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화면상</a:t>
            </a:r>
            <a:r>
              <a:rPr lang="en-US" sz="2800" dirty="0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2D 바운딩 박스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Shape 26">
            <a:extLst>
              <a:ext uri="{FF2B5EF4-FFF2-40B4-BE49-F238E27FC236}">
                <a16:creationId xmlns:a16="http://schemas.microsoft.com/office/drawing/2014/main" id="{570E7634-73C1-4139-BECF-98E9661DFF90}"/>
              </a:ext>
            </a:extLst>
          </p:cNvPr>
          <p:cNvSpPr/>
          <p:nvPr/>
        </p:nvSpPr>
        <p:spPr>
          <a:xfrm>
            <a:off x="15401640" y="8675943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F3F6FB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Text 27">
            <a:extLst>
              <a:ext uri="{FF2B5EF4-FFF2-40B4-BE49-F238E27FC236}">
                <a16:creationId xmlns:a16="http://schemas.microsoft.com/office/drawing/2014/main" id="{EF28870D-5763-32B3-25E8-A65C7AA5408A}"/>
              </a:ext>
            </a:extLst>
          </p:cNvPr>
          <p:cNvSpPr/>
          <p:nvPr/>
        </p:nvSpPr>
        <p:spPr>
          <a:xfrm>
            <a:off x="15673640" y="8675943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2D→3D 투영 · 세계좌표 3D 마커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Shape 30">
            <a:extLst>
              <a:ext uri="{FF2B5EF4-FFF2-40B4-BE49-F238E27FC236}">
                <a16:creationId xmlns:a16="http://schemas.microsoft.com/office/drawing/2014/main" id="{EA2C83FB-B360-1F12-E72D-A7475DEF3AFB}"/>
              </a:ext>
            </a:extLst>
          </p:cNvPr>
          <p:cNvSpPr/>
          <p:nvPr/>
        </p:nvSpPr>
        <p:spPr>
          <a:xfrm>
            <a:off x="8390105" y="9683304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09345B">
              <a:alpha val="5098"/>
            </a:srgbClr>
          </a:solidFill>
          <a:ln>
            <a:noFill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2583A191-8C16-7756-0E79-CD823B99B976}"/>
              </a:ext>
            </a:extLst>
          </p:cNvPr>
          <p:cNvSpPr/>
          <p:nvPr/>
        </p:nvSpPr>
        <p:spPr>
          <a:xfrm>
            <a:off x="8662105" y="9683304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사후</a:t>
            </a:r>
            <a:r>
              <a:rPr lang="en-US" sz="2800" dirty="0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처리 · 수 시간 소요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8C165778-62FB-59E9-51A1-3DC9DC31C3C9}"/>
              </a:ext>
            </a:extLst>
          </p:cNvPr>
          <p:cNvSpPr/>
          <p:nvPr/>
        </p:nvSpPr>
        <p:spPr>
          <a:xfrm>
            <a:off x="15401640" y="9683304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F3F6FB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3FFC93C6-88EE-CDD7-1AC1-FC4B7AE20479}"/>
              </a:ext>
            </a:extLst>
          </p:cNvPr>
          <p:cNvSpPr/>
          <p:nvPr/>
        </p:nvSpPr>
        <p:spPr>
          <a:xfrm>
            <a:off x="15673640" y="9683304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준실시간 · 30초 주기 증분 갱신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Shape 34">
            <a:extLst>
              <a:ext uri="{FF2B5EF4-FFF2-40B4-BE49-F238E27FC236}">
                <a16:creationId xmlns:a16="http://schemas.microsoft.com/office/drawing/2014/main" id="{E209FBF5-56CC-8F6F-93A9-7D20984209F2}"/>
              </a:ext>
            </a:extLst>
          </p:cNvPr>
          <p:cNvSpPr/>
          <p:nvPr/>
        </p:nvSpPr>
        <p:spPr>
          <a:xfrm>
            <a:off x="8390105" y="10532647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09345B">
              <a:alpha val="5098"/>
            </a:srgbClr>
          </a:solidFill>
          <a:ln>
            <a:noFill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0CEE0059-9854-93A3-2FF7-45ABF8CE7F17}"/>
              </a:ext>
            </a:extLst>
          </p:cNvPr>
          <p:cNvSpPr/>
          <p:nvPr/>
        </p:nvSpPr>
        <p:spPr>
          <a:xfrm>
            <a:off x="8662105" y="10532647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단일</a:t>
            </a:r>
            <a:r>
              <a:rPr lang="en-US" sz="2800" dirty="0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서버 로컬 처리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91F28D3C-4634-6CE8-3BCC-5544D40B183A}"/>
              </a:ext>
            </a:extLst>
          </p:cNvPr>
          <p:cNvSpPr/>
          <p:nvPr/>
        </p:nvSpPr>
        <p:spPr>
          <a:xfrm>
            <a:off x="15401640" y="10532647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F3F6FB"/>
          </a:solidFill>
          <a:ln w="12700">
            <a:noFill/>
            <a:prstDash val="solid"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Text 37">
            <a:extLst>
              <a:ext uri="{FF2B5EF4-FFF2-40B4-BE49-F238E27FC236}">
                <a16:creationId xmlns:a16="http://schemas.microsoft.com/office/drawing/2014/main" id="{A5688962-169D-1A5D-66D5-CA34979BD74E}"/>
              </a:ext>
            </a:extLst>
          </p:cNvPr>
          <p:cNvSpPr/>
          <p:nvPr/>
        </p:nvSpPr>
        <p:spPr>
          <a:xfrm>
            <a:off x="15673640" y="10532647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Core HPC(복원·AI) + Edge VM(서빙) 분산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Shape 40">
            <a:extLst>
              <a:ext uri="{FF2B5EF4-FFF2-40B4-BE49-F238E27FC236}">
                <a16:creationId xmlns:a16="http://schemas.microsoft.com/office/drawing/2014/main" id="{ECB212AA-8E5C-4AC9-881F-4B15CDD42938}"/>
              </a:ext>
            </a:extLst>
          </p:cNvPr>
          <p:cNvSpPr/>
          <p:nvPr/>
        </p:nvSpPr>
        <p:spPr>
          <a:xfrm>
            <a:off x="8390105" y="11540007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09345B">
              <a:alpha val="5098"/>
            </a:srgbClr>
          </a:solidFill>
          <a:ln>
            <a:noFill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7" name="Text 41">
            <a:extLst>
              <a:ext uri="{FF2B5EF4-FFF2-40B4-BE49-F238E27FC236}">
                <a16:creationId xmlns:a16="http://schemas.microsoft.com/office/drawing/2014/main" id="{A9598381-5002-D71D-864F-93C06677B386}"/>
              </a:ext>
            </a:extLst>
          </p:cNvPr>
          <p:cNvSpPr/>
          <p:nvPr/>
        </p:nvSpPr>
        <p:spPr>
          <a:xfrm>
            <a:off x="8662105" y="11540007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5A6474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 영상 육안 판단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Shape 42">
            <a:extLst>
              <a:ext uri="{FF2B5EF4-FFF2-40B4-BE49-F238E27FC236}">
                <a16:creationId xmlns:a16="http://schemas.microsoft.com/office/drawing/2014/main" id="{57FEB9C9-537D-E7E8-F4F7-CA06A998EB40}"/>
              </a:ext>
            </a:extLst>
          </p:cNvPr>
          <p:cNvSpPr/>
          <p:nvPr/>
        </p:nvSpPr>
        <p:spPr>
          <a:xfrm>
            <a:off x="15401640" y="11540007"/>
            <a:ext cx="6739537" cy="754533"/>
          </a:xfrm>
          <a:prstGeom prst="roundRect">
            <a:avLst>
              <a:gd name="adj" fmla="val 10471"/>
            </a:avLst>
          </a:prstGeom>
          <a:solidFill>
            <a:srgbClr val="EAF0FB"/>
          </a:solidFill>
          <a:ln w="15875">
            <a:noFill/>
            <a:prstDash val="solid"/>
          </a:ln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Text 43">
            <a:extLst>
              <a:ext uri="{FF2B5EF4-FFF2-40B4-BE49-F238E27FC236}">
                <a16:creationId xmlns:a16="http://schemas.microsoft.com/office/drawing/2014/main" id="{37877DD7-E1F8-F454-3711-FE3A15E05C09}"/>
              </a:ext>
            </a:extLst>
          </p:cNvPr>
          <p:cNvSpPr/>
          <p:nvPr/>
        </p:nvSpPr>
        <p:spPr>
          <a:xfrm>
            <a:off x="15673640" y="11540007"/>
            <a:ext cx="6255982" cy="7545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상황판 기반 위치·동선 즉시 판단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6" name="Shape 6">
            <a:extLst>
              <a:ext uri="{FF2B5EF4-FFF2-40B4-BE49-F238E27FC236}">
                <a16:creationId xmlns:a16="http://schemas.microsoft.com/office/drawing/2014/main" id="{3E22D115-29C8-B701-DF78-66D78EF4C510}"/>
              </a:ext>
            </a:extLst>
          </p:cNvPr>
          <p:cNvSpPr/>
          <p:nvPr/>
        </p:nvSpPr>
        <p:spPr>
          <a:xfrm>
            <a:off x="5314458" y="5127575"/>
            <a:ext cx="2857500" cy="754533"/>
          </a:xfrm>
          <a:prstGeom prst="roundRect">
            <a:avLst>
              <a:gd name="adj" fmla="val 10471"/>
            </a:avLst>
          </a:prstGeom>
          <a:solidFill>
            <a:srgbClr val="F7F9F9"/>
          </a:solidFill>
          <a:ln>
            <a:noFill/>
          </a:ln>
        </p:spPr>
        <p:txBody>
          <a:bodyPr/>
          <a:lstStyle/>
          <a:p>
            <a:pPr algn="ctr"/>
            <a:endParaRPr lang="ko-KR" altLang="en-US" sz="28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7" name="Text 7">
            <a:extLst>
              <a:ext uri="{FF2B5EF4-FFF2-40B4-BE49-F238E27FC236}">
                <a16:creationId xmlns:a16="http://schemas.microsoft.com/office/drawing/2014/main" id="{A08D3204-9213-51DA-FCAD-849DB4E6A4FC}"/>
              </a:ext>
            </a:extLst>
          </p:cNvPr>
          <p:cNvSpPr/>
          <p:nvPr/>
        </p:nvSpPr>
        <p:spPr>
          <a:xfrm>
            <a:off x="5429783" y="5127575"/>
            <a:ext cx="2652477" cy="754533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촬영 방식</a:t>
            </a:r>
            <a:endParaRPr lang="en-US" sz="28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8" name="Shape 10">
            <a:extLst>
              <a:ext uri="{FF2B5EF4-FFF2-40B4-BE49-F238E27FC236}">
                <a16:creationId xmlns:a16="http://schemas.microsoft.com/office/drawing/2014/main" id="{E54D7614-17AD-B20A-3575-A549DF543398}"/>
              </a:ext>
            </a:extLst>
          </p:cNvPr>
          <p:cNvSpPr/>
          <p:nvPr/>
        </p:nvSpPr>
        <p:spPr>
          <a:xfrm>
            <a:off x="5314458" y="5976918"/>
            <a:ext cx="2857500" cy="754533"/>
          </a:xfrm>
          <a:prstGeom prst="roundRect">
            <a:avLst>
              <a:gd name="adj" fmla="val 10471"/>
            </a:avLst>
          </a:prstGeom>
          <a:solidFill>
            <a:srgbClr val="F7F9F9"/>
          </a:solidFill>
          <a:ln>
            <a:noFill/>
          </a:ln>
        </p:spPr>
        <p:txBody>
          <a:bodyPr/>
          <a:lstStyle/>
          <a:p>
            <a:pPr algn="ctr"/>
            <a:endParaRPr lang="ko-KR" altLang="en-US" sz="28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9" name="Text 11">
            <a:extLst>
              <a:ext uri="{FF2B5EF4-FFF2-40B4-BE49-F238E27FC236}">
                <a16:creationId xmlns:a16="http://schemas.microsoft.com/office/drawing/2014/main" id="{A277FDD2-EF94-872C-6E7F-B34A66ACACD4}"/>
              </a:ext>
            </a:extLst>
          </p:cNvPr>
          <p:cNvSpPr/>
          <p:nvPr/>
        </p:nvSpPr>
        <p:spPr>
          <a:xfrm>
            <a:off x="5429783" y="5976918"/>
            <a:ext cx="2652477" cy="754533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전송 인프라</a:t>
            </a:r>
            <a:endParaRPr lang="en-US" sz="28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0" name="Shape 16">
            <a:extLst>
              <a:ext uri="{FF2B5EF4-FFF2-40B4-BE49-F238E27FC236}">
                <a16:creationId xmlns:a16="http://schemas.microsoft.com/office/drawing/2014/main" id="{5C9C59F8-ED4A-0078-824D-9E0BD60AAEB1}"/>
              </a:ext>
            </a:extLst>
          </p:cNvPr>
          <p:cNvSpPr/>
          <p:nvPr/>
        </p:nvSpPr>
        <p:spPr>
          <a:xfrm>
            <a:off x="5314458" y="6984278"/>
            <a:ext cx="2857500" cy="754533"/>
          </a:xfrm>
          <a:prstGeom prst="roundRect">
            <a:avLst>
              <a:gd name="adj" fmla="val 10471"/>
            </a:avLst>
          </a:prstGeom>
          <a:solidFill>
            <a:srgbClr val="F7F9F9"/>
          </a:solidFill>
          <a:ln>
            <a:noFill/>
          </a:ln>
        </p:spPr>
        <p:txBody>
          <a:bodyPr/>
          <a:lstStyle/>
          <a:p>
            <a:pPr algn="ctr"/>
            <a:endParaRPr lang="ko-KR" altLang="en-US" sz="28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1" name="Text 17">
            <a:extLst>
              <a:ext uri="{FF2B5EF4-FFF2-40B4-BE49-F238E27FC236}">
                <a16:creationId xmlns:a16="http://schemas.microsoft.com/office/drawing/2014/main" id="{67841F6B-ED49-0751-B88C-028338AAA62F}"/>
              </a:ext>
            </a:extLst>
          </p:cNvPr>
          <p:cNvSpPr/>
          <p:nvPr/>
        </p:nvSpPr>
        <p:spPr>
          <a:xfrm>
            <a:off x="5429783" y="6984278"/>
            <a:ext cx="2652477" cy="754533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</a:t>
            </a:r>
            <a:r>
              <a:rPr lang="en-US" sz="2800" dirty="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800" dirty="0" err="1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표현</a:t>
            </a:r>
            <a:endParaRPr lang="en-US" sz="28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Shape 20">
            <a:extLst>
              <a:ext uri="{FF2B5EF4-FFF2-40B4-BE49-F238E27FC236}">
                <a16:creationId xmlns:a16="http://schemas.microsoft.com/office/drawing/2014/main" id="{0D33D967-7A9B-0084-2F38-F04AA7109D2D}"/>
              </a:ext>
            </a:extLst>
          </p:cNvPr>
          <p:cNvSpPr/>
          <p:nvPr/>
        </p:nvSpPr>
        <p:spPr>
          <a:xfrm>
            <a:off x="5314458" y="7833621"/>
            <a:ext cx="2857500" cy="754533"/>
          </a:xfrm>
          <a:prstGeom prst="roundRect">
            <a:avLst>
              <a:gd name="adj" fmla="val 10471"/>
            </a:avLst>
          </a:prstGeom>
          <a:solidFill>
            <a:srgbClr val="F7F9F9"/>
          </a:solidFill>
          <a:ln>
            <a:noFill/>
          </a:ln>
        </p:spPr>
        <p:txBody>
          <a:bodyPr/>
          <a:lstStyle/>
          <a:p>
            <a:pPr algn="ctr"/>
            <a:endParaRPr lang="ko-KR" altLang="en-US" sz="28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3" name="Text 21">
            <a:extLst>
              <a:ext uri="{FF2B5EF4-FFF2-40B4-BE49-F238E27FC236}">
                <a16:creationId xmlns:a16="http://schemas.microsoft.com/office/drawing/2014/main" id="{F3F72891-57BD-7B20-9681-DD166BD04933}"/>
              </a:ext>
            </a:extLst>
          </p:cNvPr>
          <p:cNvSpPr/>
          <p:nvPr/>
        </p:nvSpPr>
        <p:spPr>
          <a:xfrm>
            <a:off x="5429783" y="7833621"/>
            <a:ext cx="2652477" cy="754533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위험·인명 감지</a:t>
            </a:r>
            <a:endParaRPr lang="en-US" sz="28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Shape 24">
            <a:extLst>
              <a:ext uri="{FF2B5EF4-FFF2-40B4-BE49-F238E27FC236}">
                <a16:creationId xmlns:a16="http://schemas.microsoft.com/office/drawing/2014/main" id="{21E718EA-D35B-72F7-E4BE-1DF6F04E077E}"/>
              </a:ext>
            </a:extLst>
          </p:cNvPr>
          <p:cNvSpPr/>
          <p:nvPr/>
        </p:nvSpPr>
        <p:spPr>
          <a:xfrm>
            <a:off x="5314458" y="8682964"/>
            <a:ext cx="2857500" cy="754533"/>
          </a:xfrm>
          <a:prstGeom prst="roundRect">
            <a:avLst>
              <a:gd name="adj" fmla="val 10471"/>
            </a:avLst>
          </a:prstGeom>
          <a:solidFill>
            <a:srgbClr val="F7F9F9"/>
          </a:solidFill>
          <a:ln>
            <a:noFill/>
          </a:ln>
        </p:spPr>
        <p:txBody>
          <a:bodyPr/>
          <a:lstStyle/>
          <a:p>
            <a:pPr algn="ctr"/>
            <a:endParaRPr lang="ko-KR" altLang="en-US" sz="28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Text 25">
            <a:extLst>
              <a:ext uri="{FF2B5EF4-FFF2-40B4-BE49-F238E27FC236}">
                <a16:creationId xmlns:a16="http://schemas.microsoft.com/office/drawing/2014/main" id="{9C8CB867-F9B6-B703-A471-8B073902D44A}"/>
              </a:ext>
            </a:extLst>
          </p:cNvPr>
          <p:cNvSpPr/>
          <p:nvPr/>
        </p:nvSpPr>
        <p:spPr>
          <a:xfrm>
            <a:off x="5429783" y="8682964"/>
            <a:ext cx="2652477" cy="754533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표현</a:t>
            </a:r>
            <a:endParaRPr lang="en-US" sz="28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6" name="Shape 30">
            <a:extLst>
              <a:ext uri="{FF2B5EF4-FFF2-40B4-BE49-F238E27FC236}">
                <a16:creationId xmlns:a16="http://schemas.microsoft.com/office/drawing/2014/main" id="{5BD3F52E-4F7F-C2A8-AF12-B59B7984914A}"/>
              </a:ext>
            </a:extLst>
          </p:cNvPr>
          <p:cNvSpPr/>
          <p:nvPr/>
        </p:nvSpPr>
        <p:spPr>
          <a:xfrm>
            <a:off x="5314458" y="9690325"/>
            <a:ext cx="2857500" cy="754533"/>
          </a:xfrm>
          <a:prstGeom prst="roundRect">
            <a:avLst>
              <a:gd name="adj" fmla="val 10471"/>
            </a:avLst>
          </a:prstGeom>
          <a:solidFill>
            <a:srgbClr val="F7F9F9"/>
          </a:solidFill>
          <a:ln>
            <a:noFill/>
          </a:ln>
        </p:spPr>
        <p:txBody>
          <a:bodyPr/>
          <a:lstStyle/>
          <a:p>
            <a:pPr algn="ctr"/>
            <a:endParaRPr lang="ko-KR" altLang="en-US" sz="28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F1D07C5D-D8E8-FE5D-86A9-A23FCB98027C}"/>
              </a:ext>
            </a:extLst>
          </p:cNvPr>
          <p:cNvSpPr/>
          <p:nvPr/>
        </p:nvSpPr>
        <p:spPr>
          <a:xfrm>
            <a:off x="5429783" y="9690325"/>
            <a:ext cx="2652477" cy="754533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 시점</a:t>
            </a:r>
            <a:endParaRPr lang="en-US" sz="28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8" name="Shape 34">
            <a:extLst>
              <a:ext uri="{FF2B5EF4-FFF2-40B4-BE49-F238E27FC236}">
                <a16:creationId xmlns:a16="http://schemas.microsoft.com/office/drawing/2014/main" id="{D956BFD1-31CD-5320-E846-E75FC49BB3EC}"/>
              </a:ext>
            </a:extLst>
          </p:cNvPr>
          <p:cNvSpPr/>
          <p:nvPr/>
        </p:nvSpPr>
        <p:spPr>
          <a:xfrm>
            <a:off x="5314458" y="10539668"/>
            <a:ext cx="2857500" cy="754533"/>
          </a:xfrm>
          <a:prstGeom prst="roundRect">
            <a:avLst>
              <a:gd name="adj" fmla="val 10471"/>
            </a:avLst>
          </a:prstGeom>
          <a:solidFill>
            <a:srgbClr val="F7F9F9"/>
          </a:solidFill>
          <a:ln>
            <a:noFill/>
          </a:ln>
        </p:spPr>
        <p:txBody>
          <a:bodyPr/>
          <a:lstStyle/>
          <a:p>
            <a:pPr algn="ctr"/>
            <a:endParaRPr lang="ko-KR" altLang="en-US" sz="28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9" name="Text 35">
            <a:extLst>
              <a:ext uri="{FF2B5EF4-FFF2-40B4-BE49-F238E27FC236}">
                <a16:creationId xmlns:a16="http://schemas.microsoft.com/office/drawing/2014/main" id="{E571E8A4-88AE-DF50-9D57-CEDFD4A2178D}"/>
              </a:ext>
            </a:extLst>
          </p:cNvPr>
          <p:cNvSpPr/>
          <p:nvPr/>
        </p:nvSpPr>
        <p:spPr>
          <a:xfrm>
            <a:off x="5429783" y="10539668"/>
            <a:ext cx="2652477" cy="754533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연산 구조</a:t>
            </a:r>
            <a:endParaRPr lang="en-US" sz="28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0" name="Shape 40">
            <a:extLst>
              <a:ext uri="{FF2B5EF4-FFF2-40B4-BE49-F238E27FC236}">
                <a16:creationId xmlns:a16="http://schemas.microsoft.com/office/drawing/2014/main" id="{5F779DD3-FFDD-4693-8B86-DC107249CA73}"/>
              </a:ext>
            </a:extLst>
          </p:cNvPr>
          <p:cNvSpPr/>
          <p:nvPr/>
        </p:nvSpPr>
        <p:spPr>
          <a:xfrm>
            <a:off x="5314458" y="11547028"/>
            <a:ext cx="2857500" cy="754533"/>
          </a:xfrm>
          <a:prstGeom prst="roundRect">
            <a:avLst>
              <a:gd name="adj" fmla="val 10471"/>
            </a:avLst>
          </a:prstGeom>
          <a:solidFill>
            <a:srgbClr val="F7F9F9"/>
          </a:solidFill>
          <a:ln>
            <a:noFill/>
          </a:ln>
        </p:spPr>
        <p:txBody>
          <a:bodyPr/>
          <a:lstStyle/>
          <a:p>
            <a:pPr algn="ctr"/>
            <a:endParaRPr lang="ko-KR" altLang="en-US" sz="280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1" name="Text 41">
            <a:extLst>
              <a:ext uri="{FF2B5EF4-FFF2-40B4-BE49-F238E27FC236}">
                <a16:creationId xmlns:a16="http://schemas.microsoft.com/office/drawing/2014/main" id="{ECE8EE01-223E-6D75-3FD6-16DCDD55B696}"/>
              </a:ext>
            </a:extLst>
          </p:cNvPr>
          <p:cNvSpPr/>
          <p:nvPr/>
        </p:nvSpPr>
        <p:spPr>
          <a:xfrm>
            <a:off x="5429783" y="11547028"/>
            <a:ext cx="2652477" cy="754533"/>
          </a:xfrm>
          <a:prstGeom prst="rect">
            <a:avLst/>
          </a:prstGeom>
          <a:solidFill>
            <a:srgbClr val="F7F9F9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지휘관 판단</a:t>
            </a:r>
            <a:endParaRPr lang="en-US" sz="28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4" name="Text 2">
            <a:extLst>
              <a:ext uri="{FF2B5EF4-FFF2-40B4-BE49-F238E27FC236}">
                <a16:creationId xmlns:a16="http://schemas.microsoft.com/office/drawing/2014/main" id="{B0D184A3-ACAB-7A74-A6F2-0570DD43C180}"/>
              </a:ext>
            </a:extLst>
          </p:cNvPr>
          <p:cNvSpPr/>
          <p:nvPr/>
        </p:nvSpPr>
        <p:spPr>
          <a:xfrm>
            <a:off x="2242823" y="4075451"/>
            <a:ext cx="5929136" cy="753867"/>
          </a:xfrm>
          <a:prstGeom prst="roundRect">
            <a:avLst>
              <a:gd name="adj" fmla="val 13636"/>
            </a:avLst>
          </a:prstGeom>
          <a:solidFill>
            <a:srgbClr val="B7C8D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3200" b="1" dirty="0">
                <a:solidFill>
                  <a:srgbClr val="1B497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구분</a:t>
            </a:r>
            <a:endParaRPr lang="en-US" sz="3200" dirty="0">
              <a:solidFill>
                <a:srgbClr val="1B497B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9" name="슬라이드 번호 개체 틀 108">
            <a:extLst>
              <a:ext uri="{FF2B5EF4-FFF2-40B4-BE49-F238E27FC236}">
                <a16:creationId xmlns:a16="http://schemas.microsoft.com/office/drawing/2014/main" id="{117BF4CE-ECFB-5E5C-3C20-72986835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714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B5F1E-D76F-75A6-C0C4-6B1967DEF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30A01582-C5F0-B70A-9474-EA690DF51190}"/>
              </a:ext>
            </a:extLst>
          </p:cNvPr>
          <p:cNvSpPr/>
          <p:nvPr/>
        </p:nvSpPr>
        <p:spPr>
          <a:xfrm>
            <a:off x="12558643" y="1922718"/>
            <a:ext cx="10110994" cy="952500"/>
          </a:xfrm>
          <a:prstGeom prst="roundRect">
            <a:avLst/>
          </a:prstGeom>
          <a:solidFill>
            <a:srgbClr val="09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32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6" name="모서리가 둥근 직사각형 95">
            <a:extLst>
              <a:ext uri="{FF2B5EF4-FFF2-40B4-BE49-F238E27FC236}">
                <a16:creationId xmlns:a16="http://schemas.microsoft.com/office/drawing/2014/main" id="{0DD3127C-3060-7A12-F3B1-9AAFFC7CAE48}"/>
              </a:ext>
            </a:extLst>
          </p:cNvPr>
          <p:cNvSpPr/>
          <p:nvPr/>
        </p:nvSpPr>
        <p:spPr>
          <a:xfrm>
            <a:off x="1663700" y="1922718"/>
            <a:ext cx="10110994" cy="952500"/>
          </a:xfrm>
          <a:prstGeom prst="roundRect">
            <a:avLst/>
          </a:prstGeom>
          <a:solidFill>
            <a:srgbClr val="09345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32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104909F1-3A62-75C7-826A-4D3F92EE2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30399825-568C-4161-B66F-B81833C4A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19" name="TextBox 19">
            <a:extLst>
              <a:ext uri="{FF2B5EF4-FFF2-40B4-BE49-F238E27FC236}">
                <a16:creationId xmlns:a16="http://schemas.microsoft.com/office/drawing/2014/main" id="{19304A1E-B743-2F0D-57CE-39D45B800387}"/>
              </a:ext>
            </a:extLst>
          </p:cNvPr>
          <p:cNvSpPr txBox="1"/>
          <p:nvPr/>
        </p:nvSpPr>
        <p:spPr>
          <a:xfrm>
            <a:off x="4876800" y="2138618"/>
            <a:ext cx="3721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b="1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하드웨어</a:t>
            </a:r>
            <a:endParaRPr lang="en-US" sz="3200" b="1" i="0" u="none" strike="noStrike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37D2D2BE-C2A7-CD5F-E251-9392C0BBB22A}"/>
              </a:ext>
            </a:extLst>
          </p:cNvPr>
          <p:cNvSpPr txBox="1"/>
          <p:nvPr/>
        </p:nvSpPr>
        <p:spPr>
          <a:xfrm>
            <a:off x="15550390" y="2138618"/>
            <a:ext cx="4127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ko-KR" altLang="en-US" sz="3200" b="1" i="0" u="none" strike="noStrike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소프트웨어</a:t>
            </a:r>
            <a:endParaRPr lang="en-US" sz="3200" b="1" i="0" u="none" strike="noStrike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2" name="Shape 6">
            <a:extLst>
              <a:ext uri="{FF2B5EF4-FFF2-40B4-BE49-F238E27FC236}">
                <a16:creationId xmlns:a16="http://schemas.microsoft.com/office/drawing/2014/main" id="{1620FD98-752D-443B-7754-5FBC9304CC16}"/>
              </a:ext>
            </a:extLst>
          </p:cNvPr>
          <p:cNvSpPr/>
          <p:nvPr/>
        </p:nvSpPr>
        <p:spPr>
          <a:xfrm>
            <a:off x="12558506" y="3243674"/>
            <a:ext cx="10110994" cy="1282708"/>
          </a:xfrm>
          <a:prstGeom prst="roundRect">
            <a:avLst>
              <a:gd name="adj" fmla="val 10660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3" name="Shape 7">
            <a:extLst>
              <a:ext uri="{FF2B5EF4-FFF2-40B4-BE49-F238E27FC236}">
                <a16:creationId xmlns:a16="http://schemas.microsoft.com/office/drawing/2014/main" id="{995E10FA-430D-4B75-1C27-72059D0433A9}"/>
              </a:ext>
            </a:extLst>
          </p:cNvPr>
          <p:cNvSpPr/>
          <p:nvPr/>
        </p:nvSpPr>
        <p:spPr>
          <a:xfrm>
            <a:off x="12828133" y="3513889"/>
            <a:ext cx="775175" cy="742277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1EC24C70-5D3B-E1AF-5348-7128270AC6B3}"/>
              </a:ext>
            </a:extLst>
          </p:cNvPr>
          <p:cNvSpPr/>
          <p:nvPr/>
        </p:nvSpPr>
        <p:spPr>
          <a:xfrm>
            <a:off x="12828133" y="3513889"/>
            <a:ext cx="775175" cy="742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9A2992F9-F0BE-C32E-1FAB-0AAD19A3D28C}"/>
              </a:ext>
            </a:extLst>
          </p:cNvPr>
          <p:cNvSpPr/>
          <p:nvPr/>
        </p:nvSpPr>
        <p:spPr>
          <a:xfrm>
            <a:off x="13915738" y="3243674"/>
            <a:ext cx="299959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영상 전송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D582E281-B1F0-A76F-B8EC-6482F6CD60B0}"/>
              </a:ext>
            </a:extLst>
          </p:cNvPr>
          <p:cNvSpPr/>
          <p:nvPr/>
        </p:nvSpPr>
        <p:spPr>
          <a:xfrm>
            <a:off x="16380331" y="3243674"/>
            <a:ext cx="413242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RTSP/SRT </a:t>
            </a:r>
            <a:r>
              <a:rPr lang="en-US" sz="2400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스트리밍</a:t>
            </a:r>
            <a:r>
              <a:rPr lang="en-US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</a:t>
            </a:r>
            <a:br>
              <a:rPr lang="en-US" altLang="ko-KR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sz="2400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타임스탬프</a:t>
            </a:r>
            <a:r>
              <a:rPr lang="en-US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동기화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7" name="Text 11">
            <a:extLst>
              <a:ext uri="{FF2B5EF4-FFF2-40B4-BE49-F238E27FC236}">
                <a16:creationId xmlns:a16="http://schemas.microsoft.com/office/drawing/2014/main" id="{55D29A5F-EE4A-C9F0-58F1-1B3A24FC30C0}"/>
              </a:ext>
            </a:extLst>
          </p:cNvPr>
          <p:cNvSpPr/>
          <p:nvPr/>
        </p:nvSpPr>
        <p:spPr>
          <a:xfrm>
            <a:off x="20318856" y="3243674"/>
            <a:ext cx="2097870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DE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GStreamer · FFmpeg</a:t>
            </a:r>
            <a:endParaRPr lang="en-US" sz="2000" dirty="0">
              <a:solidFill>
                <a:srgbClr val="2E8DE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1" name="Shape 15">
            <a:extLst>
              <a:ext uri="{FF2B5EF4-FFF2-40B4-BE49-F238E27FC236}">
                <a16:creationId xmlns:a16="http://schemas.microsoft.com/office/drawing/2014/main" id="{491389AC-37EC-306D-606D-EF0888139B50}"/>
              </a:ext>
            </a:extLst>
          </p:cNvPr>
          <p:cNvSpPr/>
          <p:nvPr/>
        </p:nvSpPr>
        <p:spPr>
          <a:xfrm>
            <a:off x="12558506" y="4838917"/>
            <a:ext cx="10110994" cy="1282708"/>
          </a:xfrm>
          <a:prstGeom prst="roundRect">
            <a:avLst>
              <a:gd name="adj" fmla="val 10660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3D1781B7-8DF2-A880-E3DF-229C73ED0F05}"/>
              </a:ext>
            </a:extLst>
          </p:cNvPr>
          <p:cNvSpPr/>
          <p:nvPr/>
        </p:nvSpPr>
        <p:spPr>
          <a:xfrm>
            <a:off x="12828133" y="5109133"/>
            <a:ext cx="775175" cy="742277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3" name="Text 17">
            <a:extLst>
              <a:ext uri="{FF2B5EF4-FFF2-40B4-BE49-F238E27FC236}">
                <a16:creationId xmlns:a16="http://schemas.microsoft.com/office/drawing/2014/main" id="{78474FEC-3CD4-1929-6C46-E0722E599E9C}"/>
              </a:ext>
            </a:extLst>
          </p:cNvPr>
          <p:cNvSpPr/>
          <p:nvPr/>
        </p:nvSpPr>
        <p:spPr>
          <a:xfrm>
            <a:off x="12828133" y="5109133"/>
            <a:ext cx="775175" cy="742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2465012-7E8B-6FFF-8742-1EF5721DA2D3}"/>
              </a:ext>
            </a:extLst>
          </p:cNvPr>
          <p:cNvSpPr/>
          <p:nvPr/>
        </p:nvSpPr>
        <p:spPr>
          <a:xfrm>
            <a:off x="13915738" y="4838917"/>
            <a:ext cx="299959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복원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166A7B69-40C4-E490-2759-67ED2A14B973}"/>
              </a:ext>
            </a:extLst>
          </p:cNvPr>
          <p:cNvSpPr/>
          <p:nvPr/>
        </p:nvSpPr>
        <p:spPr>
          <a:xfrm>
            <a:off x="16380331" y="4838917"/>
            <a:ext cx="413242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멀티뷰 입력 점진적 모델 갱신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4806583D-1FC2-A82B-75AD-645C7DA28086}"/>
              </a:ext>
            </a:extLst>
          </p:cNvPr>
          <p:cNvSpPr/>
          <p:nvPr/>
        </p:nvSpPr>
        <p:spPr>
          <a:xfrm>
            <a:off x="20318856" y="4838917"/>
            <a:ext cx="2097870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DE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Gaussian Splatting</a:t>
            </a:r>
            <a:endParaRPr lang="en-US" sz="2000" dirty="0">
              <a:solidFill>
                <a:srgbClr val="2E8DE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21">
            <a:extLst>
              <a:ext uri="{FF2B5EF4-FFF2-40B4-BE49-F238E27FC236}">
                <a16:creationId xmlns:a16="http://schemas.microsoft.com/office/drawing/2014/main" id="{46A78919-9E5E-BE52-1E3D-1F9BACCE1A75}"/>
              </a:ext>
            </a:extLst>
          </p:cNvPr>
          <p:cNvSpPr/>
          <p:nvPr/>
        </p:nvSpPr>
        <p:spPr>
          <a:xfrm>
            <a:off x="12558506" y="6316962"/>
            <a:ext cx="10110994" cy="1282708"/>
          </a:xfrm>
          <a:prstGeom prst="roundRect">
            <a:avLst>
              <a:gd name="adj" fmla="val 10660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8" name="Shape 22">
            <a:extLst>
              <a:ext uri="{FF2B5EF4-FFF2-40B4-BE49-F238E27FC236}">
                <a16:creationId xmlns:a16="http://schemas.microsoft.com/office/drawing/2014/main" id="{C74F078E-0EFE-2A60-0FD2-BD950DE0BD59}"/>
              </a:ext>
            </a:extLst>
          </p:cNvPr>
          <p:cNvSpPr/>
          <p:nvPr/>
        </p:nvSpPr>
        <p:spPr>
          <a:xfrm>
            <a:off x="12828133" y="6587175"/>
            <a:ext cx="775175" cy="742277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BD104924-3DC9-4E72-B06E-C95A44DD8154}"/>
              </a:ext>
            </a:extLst>
          </p:cNvPr>
          <p:cNvSpPr/>
          <p:nvPr/>
        </p:nvSpPr>
        <p:spPr>
          <a:xfrm>
            <a:off x="12828133" y="6587175"/>
            <a:ext cx="775175" cy="742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Text 24">
            <a:extLst>
              <a:ext uri="{FF2B5EF4-FFF2-40B4-BE49-F238E27FC236}">
                <a16:creationId xmlns:a16="http://schemas.microsoft.com/office/drawing/2014/main" id="{A3E3212E-2457-8470-1626-9B82AC63DF0A}"/>
              </a:ext>
            </a:extLst>
          </p:cNvPr>
          <p:cNvSpPr/>
          <p:nvPr/>
        </p:nvSpPr>
        <p:spPr>
          <a:xfrm>
            <a:off x="13915738" y="6316962"/>
            <a:ext cx="299959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감지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1" name="Text 25">
            <a:extLst>
              <a:ext uri="{FF2B5EF4-FFF2-40B4-BE49-F238E27FC236}">
                <a16:creationId xmlns:a16="http://schemas.microsoft.com/office/drawing/2014/main" id="{0216B4CC-A352-1C68-8D85-B4FDBFFF0DEA}"/>
              </a:ext>
            </a:extLst>
          </p:cNvPr>
          <p:cNvSpPr/>
          <p:nvPr/>
        </p:nvSpPr>
        <p:spPr>
          <a:xfrm>
            <a:off x="16380331" y="6316962"/>
            <a:ext cx="413242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4채널 세그멘테이션 · 최적화 추론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524F6A66-ACBC-EFB8-C20F-BBC46F0A4264}"/>
              </a:ext>
            </a:extLst>
          </p:cNvPr>
          <p:cNvSpPr/>
          <p:nvPr/>
        </p:nvSpPr>
        <p:spPr>
          <a:xfrm>
            <a:off x="20318856" y="6316962"/>
            <a:ext cx="2097870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DE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PyTorch · TensorRT</a:t>
            </a:r>
            <a:endParaRPr lang="en-US" sz="2000" dirty="0">
              <a:solidFill>
                <a:srgbClr val="2E8DE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17C16AB3-7C01-63A8-DE6B-7C0B776FF65F}"/>
              </a:ext>
            </a:extLst>
          </p:cNvPr>
          <p:cNvSpPr/>
          <p:nvPr/>
        </p:nvSpPr>
        <p:spPr>
          <a:xfrm>
            <a:off x="12558506" y="7795004"/>
            <a:ext cx="10110994" cy="1282708"/>
          </a:xfrm>
          <a:prstGeom prst="roundRect">
            <a:avLst>
              <a:gd name="adj" fmla="val 10660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AC532CED-B9B8-6D03-6830-AD26CF6A151E}"/>
              </a:ext>
            </a:extLst>
          </p:cNvPr>
          <p:cNvSpPr/>
          <p:nvPr/>
        </p:nvSpPr>
        <p:spPr>
          <a:xfrm>
            <a:off x="12828133" y="8065218"/>
            <a:ext cx="775175" cy="742277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5" name="Text 29">
            <a:extLst>
              <a:ext uri="{FF2B5EF4-FFF2-40B4-BE49-F238E27FC236}">
                <a16:creationId xmlns:a16="http://schemas.microsoft.com/office/drawing/2014/main" id="{625A137A-CAAC-99B4-109D-C659F32A7C88}"/>
              </a:ext>
            </a:extLst>
          </p:cNvPr>
          <p:cNvSpPr/>
          <p:nvPr/>
        </p:nvSpPr>
        <p:spPr>
          <a:xfrm>
            <a:off x="12828133" y="8065218"/>
            <a:ext cx="775175" cy="742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6" name="Text 30">
            <a:extLst>
              <a:ext uri="{FF2B5EF4-FFF2-40B4-BE49-F238E27FC236}">
                <a16:creationId xmlns:a16="http://schemas.microsoft.com/office/drawing/2014/main" id="{83A0079E-B70B-A922-5E8D-7437094A3D6D}"/>
              </a:ext>
            </a:extLst>
          </p:cNvPr>
          <p:cNvSpPr/>
          <p:nvPr/>
        </p:nvSpPr>
        <p:spPr>
          <a:xfrm>
            <a:off x="13915738" y="7795004"/>
            <a:ext cx="299959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2D→3D 투영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7" name="Text 31">
            <a:extLst>
              <a:ext uri="{FF2B5EF4-FFF2-40B4-BE49-F238E27FC236}">
                <a16:creationId xmlns:a16="http://schemas.microsoft.com/office/drawing/2014/main" id="{CBA64D6B-0FCE-C606-C7E3-8EEB46E31675}"/>
              </a:ext>
            </a:extLst>
          </p:cNvPr>
          <p:cNvSpPr/>
          <p:nvPr/>
        </p:nvSpPr>
        <p:spPr>
          <a:xfrm>
            <a:off x="16380331" y="7795004"/>
            <a:ext cx="413242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카메라 파라미터 기반 레이캐스팅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8" name="Text 32">
            <a:extLst>
              <a:ext uri="{FF2B5EF4-FFF2-40B4-BE49-F238E27FC236}">
                <a16:creationId xmlns:a16="http://schemas.microsoft.com/office/drawing/2014/main" id="{C29C077D-6A8A-2D51-9813-8E9E8334C251}"/>
              </a:ext>
            </a:extLst>
          </p:cNvPr>
          <p:cNvSpPr/>
          <p:nvPr/>
        </p:nvSpPr>
        <p:spPr>
          <a:xfrm>
            <a:off x="20318856" y="7795004"/>
            <a:ext cx="2097870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DE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Depth Map · Raycast</a:t>
            </a:r>
            <a:endParaRPr lang="en-US" sz="2000" dirty="0">
              <a:solidFill>
                <a:srgbClr val="2E8DE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49CCDACF-6331-30E7-D6DC-06A20FCBA6C2}"/>
              </a:ext>
            </a:extLst>
          </p:cNvPr>
          <p:cNvSpPr/>
          <p:nvPr/>
        </p:nvSpPr>
        <p:spPr>
          <a:xfrm>
            <a:off x="12558506" y="9390248"/>
            <a:ext cx="10110994" cy="1282708"/>
          </a:xfrm>
          <a:prstGeom prst="roundRect">
            <a:avLst>
              <a:gd name="adj" fmla="val 10660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3" name="Shape 37">
            <a:extLst>
              <a:ext uri="{FF2B5EF4-FFF2-40B4-BE49-F238E27FC236}">
                <a16:creationId xmlns:a16="http://schemas.microsoft.com/office/drawing/2014/main" id="{D5E7B312-C215-0ADE-6219-8AA354E3965A}"/>
              </a:ext>
            </a:extLst>
          </p:cNvPr>
          <p:cNvSpPr/>
          <p:nvPr/>
        </p:nvSpPr>
        <p:spPr>
          <a:xfrm>
            <a:off x="12828133" y="9660463"/>
            <a:ext cx="775175" cy="742277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C86EF623-B100-B1AC-E76B-46610429E6AE}"/>
              </a:ext>
            </a:extLst>
          </p:cNvPr>
          <p:cNvSpPr/>
          <p:nvPr/>
        </p:nvSpPr>
        <p:spPr>
          <a:xfrm>
            <a:off x="12828133" y="9660463"/>
            <a:ext cx="775175" cy="742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5" name="Text 39">
            <a:extLst>
              <a:ext uri="{FF2B5EF4-FFF2-40B4-BE49-F238E27FC236}">
                <a16:creationId xmlns:a16="http://schemas.microsoft.com/office/drawing/2014/main" id="{9D818E6F-36D2-C78E-C5D2-E703C65B770B}"/>
              </a:ext>
            </a:extLst>
          </p:cNvPr>
          <p:cNvSpPr/>
          <p:nvPr/>
        </p:nvSpPr>
        <p:spPr>
          <a:xfrm>
            <a:off x="13915738" y="9390248"/>
            <a:ext cx="299959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상황판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16CBF163-8FF5-654E-ABD9-3728784A3D0B}"/>
              </a:ext>
            </a:extLst>
          </p:cNvPr>
          <p:cNvSpPr/>
          <p:nvPr/>
        </p:nvSpPr>
        <p:spPr>
          <a:xfrm>
            <a:off x="16380331" y="9390248"/>
            <a:ext cx="413242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웹 뷰어로 실시간 수신·렌더링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7" name="Text 41">
            <a:extLst>
              <a:ext uri="{FF2B5EF4-FFF2-40B4-BE49-F238E27FC236}">
                <a16:creationId xmlns:a16="http://schemas.microsoft.com/office/drawing/2014/main" id="{AAC06F7C-374A-1C9A-BF54-15A24DF387E8}"/>
              </a:ext>
            </a:extLst>
          </p:cNvPr>
          <p:cNvSpPr/>
          <p:nvPr/>
        </p:nvSpPr>
        <p:spPr>
          <a:xfrm>
            <a:off x="20318856" y="9390248"/>
            <a:ext cx="2097870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DE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Three.js · WebSocket</a:t>
            </a:r>
            <a:endParaRPr lang="en-US" sz="2000" dirty="0">
              <a:solidFill>
                <a:srgbClr val="2E8DE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1" name="Shape 45">
            <a:extLst>
              <a:ext uri="{FF2B5EF4-FFF2-40B4-BE49-F238E27FC236}">
                <a16:creationId xmlns:a16="http://schemas.microsoft.com/office/drawing/2014/main" id="{C42D4168-BC89-D968-146B-3ED2E5143119}"/>
              </a:ext>
            </a:extLst>
          </p:cNvPr>
          <p:cNvSpPr/>
          <p:nvPr/>
        </p:nvSpPr>
        <p:spPr>
          <a:xfrm>
            <a:off x="12558506" y="10985491"/>
            <a:ext cx="10110994" cy="1282708"/>
          </a:xfrm>
          <a:prstGeom prst="roundRect">
            <a:avLst>
              <a:gd name="adj" fmla="val 10660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2" name="Shape 46">
            <a:extLst>
              <a:ext uri="{FF2B5EF4-FFF2-40B4-BE49-F238E27FC236}">
                <a16:creationId xmlns:a16="http://schemas.microsoft.com/office/drawing/2014/main" id="{8C01BAC8-861C-AD94-8DF7-10AF72C3DB3F}"/>
              </a:ext>
            </a:extLst>
          </p:cNvPr>
          <p:cNvSpPr/>
          <p:nvPr/>
        </p:nvSpPr>
        <p:spPr>
          <a:xfrm>
            <a:off x="12828133" y="11255707"/>
            <a:ext cx="775175" cy="742277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3" name="Text 47">
            <a:extLst>
              <a:ext uri="{FF2B5EF4-FFF2-40B4-BE49-F238E27FC236}">
                <a16:creationId xmlns:a16="http://schemas.microsoft.com/office/drawing/2014/main" id="{DFE0E316-CA0E-7A60-44E7-AB7CE39DE8D6}"/>
              </a:ext>
            </a:extLst>
          </p:cNvPr>
          <p:cNvSpPr/>
          <p:nvPr/>
        </p:nvSpPr>
        <p:spPr>
          <a:xfrm>
            <a:off x="12828133" y="11255707"/>
            <a:ext cx="775175" cy="7422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4BBFFECD-1617-F90A-868A-63BC3E36A179}"/>
              </a:ext>
            </a:extLst>
          </p:cNvPr>
          <p:cNvSpPr/>
          <p:nvPr/>
        </p:nvSpPr>
        <p:spPr>
          <a:xfrm>
            <a:off x="13915738" y="10985491"/>
            <a:ext cx="299959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spc="-150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WebRTC</a:t>
            </a: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수신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5" name="Text 49">
            <a:extLst>
              <a:ext uri="{FF2B5EF4-FFF2-40B4-BE49-F238E27FC236}">
                <a16:creationId xmlns:a16="http://schemas.microsoft.com/office/drawing/2014/main" id="{D6481F0C-D172-30DA-8E94-15B53C2353CB}"/>
              </a:ext>
            </a:extLst>
          </p:cNvPr>
          <p:cNvSpPr/>
          <p:nvPr/>
        </p:nvSpPr>
        <p:spPr>
          <a:xfrm>
            <a:off x="16380331" y="10985491"/>
            <a:ext cx="4132425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400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회전·이동·거리 측정 인터랙션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6" name="Text 50">
            <a:extLst>
              <a:ext uri="{FF2B5EF4-FFF2-40B4-BE49-F238E27FC236}">
                <a16:creationId xmlns:a16="http://schemas.microsoft.com/office/drawing/2014/main" id="{C540C6D1-42B9-496F-BC39-BB9062F1737E}"/>
              </a:ext>
            </a:extLst>
          </p:cNvPr>
          <p:cNvSpPr/>
          <p:nvPr/>
        </p:nvSpPr>
        <p:spPr>
          <a:xfrm>
            <a:off x="20318856" y="10985491"/>
            <a:ext cx="2097870" cy="1282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2E8DE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WebRTC</a:t>
            </a:r>
            <a:endParaRPr lang="en-US" sz="2000" dirty="0">
              <a:solidFill>
                <a:srgbClr val="2E8DE6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7" name="Shape 52">
            <a:extLst>
              <a:ext uri="{FF2B5EF4-FFF2-40B4-BE49-F238E27FC236}">
                <a16:creationId xmlns:a16="http://schemas.microsoft.com/office/drawing/2014/main" id="{05DA3D9B-F6C9-7488-4FC9-79424D950742}"/>
              </a:ext>
            </a:extLst>
          </p:cNvPr>
          <p:cNvSpPr/>
          <p:nvPr/>
        </p:nvSpPr>
        <p:spPr>
          <a:xfrm>
            <a:off x="1234948" y="24148755"/>
            <a:ext cx="21434552" cy="903971"/>
          </a:xfrm>
          <a:prstGeom prst="roundRect">
            <a:avLst>
              <a:gd name="adj" fmla="val 17308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4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8" name="Text 53">
            <a:extLst>
              <a:ext uri="{FF2B5EF4-FFF2-40B4-BE49-F238E27FC236}">
                <a16:creationId xmlns:a16="http://schemas.microsoft.com/office/drawing/2014/main" id="{FC069E3F-DCB2-E76E-F1B9-E83002685524}"/>
              </a:ext>
            </a:extLst>
          </p:cNvPr>
          <p:cNvSpPr/>
          <p:nvPr/>
        </p:nvSpPr>
        <p:spPr>
          <a:xfrm>
            <a:off x="1843390" y="24148755"/>
            <a:ext cx="20165515" cy="903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FB0E6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흐름  </a:t>
            </a:r>
            <a:r>
              <a:rPr lang="en-US" sz="3200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드론 촬영 → KOREN 전송 → Core HPC 복원·AI 감지·3D 투영 → Edge VM 서빙 → 지휘관 3D 상황판</a:t>
            </a:r>
            <a:endParaRPr lang="en-US" sz="3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3" name="Text 51">
            <a:extLst>
              <a:ext uri="{FF2B5EF4-FFF2-40B4-BE49-F238E27FC236}">
                <a16:creationId xmlns:a16="http://schemas.microsoft.com/office/drawing/2014/main" id="{061E678C-A5AA-D218-5DCE-D1E223BA8739}"/>
              </a:ext>
            </a:extLst>
          </p:cNvPr>
          <p:cNvSpPr/>
          <p:nvPr/>
        </p:nvSpPr>
        <p:spPr>
          <a:xfrm rot="16200000">
            <a:off x="604968" y="7565131"/>
            <a:ext cx="268286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KOREN </a:t>
            </a:r>
            <a:r>
              <a:rPr lang="en-US" sz="2400" b="1" dirty="0" err="1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고속망</a:t>
            </a:r>
            <a:endParaRPr lang="en-US" sz="2400" b="1" dirty="0">
              <a:solidFill>
                <a:srgbClr val="16264A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9C1125AA-C529-A0A7-9D9C-5A3A86202ACE}"/>
              </a:ext>
            </a:extLst>
          </p:cNvPr>
          <p:cNvSpPr/>
          <p:nvPr/>
        </p:nvSpPr>
        <p:spPr>
          <a:xfrm>
            <a:off x="2499699" y="3261626"/>
            <a:ext cx="9274995" cy="1277904"/>
          </a:xfrm>
          <a:prstGeom prst="roundRect">
            <a:avLst>
              <a:gd name="adj" fmla="val 12183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0920EF3B-9CDD-962E-6ED9-E8D576B734E3}"/>
              </a:ext>
            </a:extLst>
          </p:cNvPr>
          <p:cNvSpPr/>
          <p:nvPr/>
        </p:nvSpPr>
        <p:spPr>
          <a:xfrm>
            <a:off x="2921291" y="3261626"/>
            <a:ext cx="8431813" cy="127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드론 · 3대 이상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lang="en-US" sz="2800" dirty="0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RGB + 열화상 </a:t>
            </a:r>
            <a:r>
              <a:rPr lang="en-US" sz="2800" dirty="0" err="1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카메라</a:t>
            </a:r>
            <a:r>
              <a:rPr lang="en-US" sz="2800" dirty="0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800" dirty="0" err="1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탑재</a:t>
            </a:r>
            <a:r>
              <a:rPr lang="en-US" sz="2800" dirty="0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· </a:t>
            </a:r>
            <a:r>
              <a:rPr lang="ko-KR" altLang="en-US" sz="2800" dirty="0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재난 현장 촬영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8" name="Shape 12">
            <a:extLst>
              <a:ext uri="{FF2B5EF4-FFF2-40B4-BE49-F238E27FC236}">
                <a16:creationId xmlns:a16="http://schemas.microsoft.com/office/drawing/2014/main" id="{AC1FBB85-3970-B152-095E-7DBC4A0B5CB4}"/>
              </a:ext>
            </a:extLst>
          </p:cNvPr>
          <p:cNvSpPr/>
          <p:nvPr/>
        </p:nvSpPr>
        <p:spPr>
          <a:xfrm>
            <a:off x="7137197" y="4578449"/>
            <a:ext cx="0" cy="233525"/>
          </a:xfrm>
          <a:prstGeom prst="line">
            <a:avLst/>
          </a:prstGeom>
          <a:noFill/>
          <a:ln w="57150">
            <a:solidFill>
              <a:srgbClr val="2740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Shape 13">
            <a:extLst>
              <a:ext uri="{FF2B5EF4-FFF2-40B4-BE49-F238E27FC236}">
                <a16:creationId xmlns:a16="http://schemas.microsoft.com/office/drawing/2014/main" id="{D0D531C0-D3FD-F4C9-641F-CB96829DA666}"/>
              </a:ext>
            </a:extLst>
          </p:cNvPr>
          <p:cNvSpPr/>
          <p:nvPr/>
        </p:nvSpPr>
        <p:spPr>
          <a:xfrm>
            <a:off x="2499699" y="4850896"/>
            <a:ext cx="9274995" cy="4222917"/>
          </a:xfrm>
          <a:prstGeom prst="roundRect">
            <a:avLst>
              <a:gd name="adj" fmla="val 3687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0" name="Text 14">
            <a:extLst>
              <a:ext uri="{FF2B5EF4-FFF2-40B4-BE49-F238E27FC236}">
                <a16:creationId xmlns:a16="http://schemas.microsoft.com/office/drawing/2014/main" id="{0B73FE14-2635-1CD9-8EEA-2B5591012822}"/>
              </a:ext>
            </a:extLst>
          </p:cNvPr>
          <p:cNvSpPr/>
          <p:nvPr/>
        </p:nvSpPr>
        <p:spPr>
          <a:xfrm>
            <a:off x="2921291" y="4850896"/>
            <a:ext cx="8431813" cy="422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Core HPC</a:t>
            </a:r>
          </a:p>
          <a:p>
            <a:pPr algn="ctr">
              <a:lnSpc>
                <a:spcPct val="105000"/>
              </a:lnSpc>
              <a:spcBef>
                <a:spcPts val="300"/>
              </a:spcBef>
            </a:pPr>
            <a:r>
              <a:rPr lang="en-US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KOREN </a:t>
            </a:r>
            <a:r>
              <a:rPr lang="en-US" sz="2800" dirty="0" err="1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접속</a:t>
            </a:r>
            <a:r>
              <a:rPr lang="en-US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800" dirty="0" err="1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노드</a:t>
            </a:r>
            <a:r>
              <a:rPr lang="en-US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GPU </a:t>
            </a:r>
            <a:r>
              <a:rPr lang="en-US" sz="2800" dirty="0" err="1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서버</a:t>
            </a:r>
            <a:r>
              <a:rPr lang="ko-KR" altLang="en-US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3DGS</a:t>
            </a:r>
            <a:r>
              <a:rPr lang="ko-KR" altLang="en-US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및 </a:t>
            </a:r>
            <a:r>
              <a:rPr lang="en-US" altLang="ko-KR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AI </a:t>
            </a:r>
            <a:r>
              <a:rPr lang="ko-KR" altLang="en-US" sz="2800" dirty="0">
                <a:solidFill>
                  <a:srgbClr val="6D768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추론 수행</a:t>
            </a:r>
            <a:endParaRPr lang="en-US" sz="2800" dirty="0">
              <a:solidFill>
                <a:srgbClr val="6D7689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95537299-DA2F-3EE7-181B-7DDF60C312DE}"/>
              </a:ext>
            </a:extLst>
          </p:cNvPr>
          <p:cNvSpPr/>
          <p:nvPr/>
        </p:nvSpPr>
        <p:spPr>
          <a:xfrm>
            <a:off x="7137197" y="9112733"/>
            <a:ext cx="0" cy="233525"/>
          </a:xfrm>
          <a:prstGeom prst="line">
            <a:avLst/>
          </a:prstGeom>
          <a:noFill/>
          <a:ln w="57150">
            <a:solidFill>
              <a:srgbClr val="27406E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0" name="Shape 34">
            <a:extLst>
              <a:ext uri="{FF2B5EF4-FFF2-40B4-BE49-F238E27FC236}">
                <a16:creationId xmlns:a16="http://schemas.microsoft.com/office/drawing/2014/main" id="{9E83E8C8-1890-1904-3A6E-DC33457E8E85}"/>
              </a:ext>
            </a:extLst>
          </p:cNvPr>
          <p:cNvSpPr/>
          <p:nvPr/>
        </p:nvSpPr>
        <p:spPr>
          <a:xfrm>
            <a:off x="2499699" y="9385180"/>
            <a:ext cx="9274995" cy="1277904"/>
          </a:xfrm>
          <a:prstGeom prst="roundRect">
            <a:avLst>
              <a:gd name="adj" fmla="val 12183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1" name="Text 35">
            <a:extLst>
              <a:ext uri="{FF2B5EF4-FFF2-40B4-BE49-F238E27FC236}">
                <a16:creationId xmlns:a16="http://schemas.microsoft.com/office/drawing/2014/main" id="{D981F35C-D561-0874-909A-65E6718DF43F}"/>
              </a:ext>
            </a:extLst>
          </p:cNvPr>
          <p:cNvSpPr/>
          <p:nvPr/>
        </p:nvSpPr>
        <p:spPr>
          <a:xfrm>
            <a:off x="2921291" y="9385180"/>
            <a:ext cx="8431813" cy="127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 VM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2800" dirty="0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현장 인근 엣지 노드 · 저지연 서빙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8" name="Shape 42">
            <a:extLst>
              <a:ext uri="{FF2B5EF4-FFF2-40B4-BE49-F238E27FC236}">
                <a16:creationId xmlns:a16="http://schemas.microsoft.com/office/drawing/2014/main" id="{BB4A0DA9-1F28-CFCA-3975-EE8C36D4D24B}"/>
              </a:ext>
            </a:extLst>
          </p:cNvPr>
          <p:cNvSpPr/>
          <p:nvPr/>
        </p:nvSpPr>
        <p:spPr>
          <a:xfrm>
            <a:off x="7137197" y="10702003"/>
            <a:ext cx="0" cy="233525"/>
          </a:xfrm>
          <a:prstGeom prst="line">
            <a:avLst/>
          </a:prstGeom>
          <a:noFill/>
          <a:ln w="57150">
            <a:solidFill>
              <a:srgbClr val="6B7488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9" name="Shape 43">
            <a:extLst>
              <a:ext uri="{FF2B5EF4-FFF2-40B4-BE49-F238E27FC236}">
                <a16:creationId xmlns:a16="http://schemas.microsoft.com/office/drawing/2014/main" id="{7370F72E-624D-A692-286B-21CD80EF0004}"/>
              </a:ext>
            </a:extLst>
          </p:cNvPr>
          <p:cNvSpPr/>
          <p:nvPr/>
        </p:nvSpPr>
        <p:spPr>
          <a:xfrm>
            <a:off x="2499699" y="10974448"/>
            <a:ext cx="9274995" cy="1277904"/>
          </a:xfrm>
          <a:prstGeom prst="roundRect">
            <a:avLst>
              <a:gd name="adj" fmla="val 12183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28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0" name="Text 44">
            <a:extLst>
              <a:ext uri="{FF2B5EF4-FFF2-40B4-BE49-F238E27FC236}">
                <a16:creationId xmlns:a16="http://schemas.microsoft.com/office/drawing/2014/main" id="{19B729F4-5F42-5103-F127-1731E8C4947D}"/>
              </a:ext>
            </a:extLst>
          </p:cNvPr>
          <p:cNvSpPr/>
          <p:nvPr/>
        </p:nvSpPr>
        <p:spPr>
          <a:xfrm>
            <a:off x="2921291" y="10974448"/>
            <a:ext cx="8431813" cy="127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지휘관 단말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ctr">
              <a:lnSpc>
                <a:spcPct val="105000"/>
              </a:lnSpc>
              <a:spcBef>
                <a:spcPts val="300"/>
              </a:spcBef>
              <a:buNone/>
            </a:pPr>
            <a:r>
              <a:rPr lang="en-US" sz="2800" dirty="0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상황판 확인 · 진입 판단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893B84-2123-16C2-03C0-CD3216C579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74850" y="146050"/>
            <a:ext cx="8159750" cy="762000"/>
          </a:xfrm>
        </p:spPr>
        <p:txBody>
          <a:bodyPr>
            <a:normAutofit/>
          </a:bodyPr>
          <a:lstStyle/>
          <a:p>
            <a:r>
              <a:rPr lang="ko-KR" altLang="en-US" dirty="0"/>
              <a:t>아이디어의 세부 구현 계획 및 적용</a:t>
            </a:r>
          </a:p>
        </p:txBody>
      </p:sp>
      <p:sp>
        <p:nvSpPr>
          <p:cNvPr id="104" name="슬라이드 번호 개체 틀 103">
            <a:extLst>
              <a:ext uri="{FF2B5EF4-FFF2-40B4-BE49-F238E27FC236}">
                <a16:creationId xmlns:a16="http://schemas.microsoft.com/office/drawing/2014/main" id="{8ED0EB27-893B-BEC5-9CC9-0653F1B66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707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322E-A3BD-352E-2CC8-9A3E4CC9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DAED8681-7B87-04B2-3687-A7F33B781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7920471-D44F-72F8-62DD-E9B2ADABE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4" name="TextBox 8">
            <a:extLst>
              <a:ext uri="{FF2B5EF4-FFF2-40B4-BE49-F238E27FC236}">
                <a16:creationId xmlns:a16="http://schemas.microsoft.com/office/drawing/2014/main" id="{573AC6E9-BA09-74AA-BCFF-6C5FEE8E0ED9}"/>
              </a:ext>
            </a:extLst>
          </p:cNvPr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멀티드론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동시 전송</a:t>
            </a:r>
            <a:r>
              <a:rPr lang="en-US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en" altLang="ko-KR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Core-Edge </a:t>
            </a:r>
            <a:r>
              <a:rPr lang="ko-KR" alt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저지연</a:t>
            </a: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분산을 가능케 하는</a:t>
            </a:r>
            <a:endParaRPr lang="en-US" sz="42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21FD9DD2-1A93-9DD2-B4B1-5B21CFB32335}"/>
              </a:ext>
            </a:extLst>
          </p:cNvPr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algn="ctr">
              <a:lnSpc>
                <a:spcPct val="107070"/>
              </a:lnSpc>
            </a:pPr>
            <a:r>
              <a:rPr lang="en" altLang="ko-KR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KOREN </a:t>
            </a: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전용 </a:t>
            </a:r>
            <a:r>
              <a:rPr lang="ko-KR" alt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연구망</a:t>
            </a: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기반 실시간 파이프라인</a:t>
            </a:r>
            <a:endParaRPr lang="en-US" sz="5600" b="0" i="0" u="none" strike="noStrike" spc="-200" dirty="0">
              <a:solidFill>
                <a:srgbClr val="0B345B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92499098-DBE2-E384-7003-CCF1E61F59E6}"/>
              </a:ext>
            </a:extLst>
          </p:cNvPr>
          <p:cNvGrpSpPr/>
          <p:nvPr/>
        </p:nvGrpSpPr>
        <p:grpSpPr>
          <a:xfrm>
            <a:off x="2955925" y="14749956"/>
            <a:ext cx="18472150" cy="6186023"/>
            <a:chOff x="2955925" y="4141700"/>
            <a:chExt cx="18472150" cy="6186023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0C83329A-40BC-9B03-C336-DAF8D78A5558}"/>
                </a:ext>
              </a:extLst>
            </p:cNvPr>
            <p:cNvSpPr/>
            <p:nvPr/>
          </p:nvSpPr>
          <p:spPr>
            <a:xfrm>
              <a:off x="2955925" y="4141700"/>
              <a:ext cx="9011353" cy="2924473"/>
            </a:xfrm>
            <a:prstGeom prst="roundRect">
              <a:avLst>
                <a:gd name="adj" fmla="val 3540"/>
              </a:avLst>
            </a:prstGeom>
            <a:solidFill>
              <a:srgbClr val="F3F6FB"/>
            </a:solidFill>
            <a:ln w="12700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105EEC90-25B8-FD4B-1457-D95E6BC7C491}"/>
                </a:ext>
              </a:extLst>
            </p:cNvPr>
            <p:cNvSpPr/>
            <p:nvPr/>
          </p:nvSpPr>
          <p:spPr>
            <a:xfrm>
              <a:off x="3285517" y="4468543"/>
              <a:ext cx="659185" cy="653686"/>
            </a:xfrm>
            <a:prstGeom prst="roundRect">
              <a:avLst>
                <a:gd name="adj" fmla="val 50000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333DA8B3-74C5-78EF-6945-515D508BB0AF}"/>
                </a:ext>
              </a:extLst>
            </p:cNvPr>
            <p:cNvSpPr/>
            <p:nvPr/>
          </p:nvSpPr>
          <p:spPr>
            <a:xfrm>
              <a:off x="3285517" y="4468543"/>
              <a:ext cx="659185" cy="653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endParaRPr lang="en-US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7EA615E7-FED7-8144-724C-3161B9A2185F}"/>
                </a:ext>
              </a:extLst>
            </p:cNvPr>
            <p:cNvSpPr/>
            <p:nvPr/>
          </p:nvSpPr>
          <p:spPr>
            <a:xfrm>
              <a:off x="4263408" y="4468543"/>
              <a:ext cx="6848320" cy="653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6264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멀티드론 영상 실시간 전송</a:t>
              </a:r>
              <a:endParaRPr lang="en-US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157CDAF8-F7E5-1CDE-AE3D-C35BD2662C2A}"/>
                </a:ext>
              </a:extLst>
            </p:cNvPr>
            <p:cNvSpPr/>
            <p:nvPr/>
          </p:nvSpPr>
          <p:spPr>
            <a:xfrm>
              <a:off x="3405369" y="5359932"/>
              <a:ext cx="8172391" cy="13370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고해상도 RGB+열화상을 10Gbps급 고속망으로 Core HPC에 실시간 전송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드론 1대당 50~100Mbps × 3대↑ = 수백 Mbps 동시 전송 필요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일반 인터넷망은 대역폭·지연상 불가 → 전용 고속 경로 필수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71F05B50-5624-069D-E698-E3762FEE1763}"/>
                </a:ext>
              </a:extLst>
            </p:cNvPr>
            <p:cNvSpPr/>
            <p:nvPr/>
          </p:nvSpPr>
          <p:spPr>
            <a:xfrm>
              <a:off x="12416722" y="4141700"/>
              <a:ext cx="9011353" cy="2924473"/>
            </a:xfrm>
            <a:prstGeom prst="roundRect">
              <a:avLst>
                <a:gd name="adj" fmla="val 3540"/>
              </a:avLst>
            </a:prstGeom>
            <a:solidFill>
              <a:srgbClr val="F3F6FB"/>
            </a:solidFill>
            <a:ln w="12700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B8CC1C4A-41F7-9E6C-1887-183B608F29FE}"/>
                </a:ext>
              </a:extLst>
            </p:cNvPr>
            <p:cNvSpPr/>
            <p:nvPr/>
          </p:nvSpPr>
          <p:spPr>
            <a:xfrm>
              <a:off x="12746314" y="4468543"/>
              <a:ext cx="659185" cy="653686"/>
            </a:xfrm>
            <a:prstGeom prst="roundRect">
              <a:avLst>
                <a:gd name="adj" fmla="val 50000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6" name="Text 12">
              <a:extLst>
                <a:ext uri="{FF2B5EF4-FFF2-40B4-BE49-F238E27FC236}">
                  <a16:creationId xmlns:a16="http://schemas.microsoft.com/office/drawing/2014/main" id="{6CF85462-FD6F-9655-99FC-750C2289FD66}"/>
                </a:ext>
              </a:extLst>
            </p:cNvPr>
            <p:cNvSpPr/>
            <p:nvPr/>
          </p:nvSpPr>
          <p:spPr>
            <a:xfrm>
              <a:off x="12746314" y="4468543"/>
              <a:ext cx="659185" cy="653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endParaRPr lang="en-US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7" name="Text 13">
              <a:extLst>
                <a:ext uri="{FF2B5EF4-FFF2-40B4-BE49-F238E27FC236}">
                  <a16:creationId xmlns:a16="http://schemas.microsoft.com/office/drawing/2014/main" id="{A6372C49-A85F-FCD3-6B7E-28771C6AB4CC}"/>
                </a:ext>
              </a:extLst>
            </p:cNvPr>
            <p:cNvSpPr/>
            <p:nvPr/>
          </p:nvSpPr>
          <p:spPr>
            <a:xfrm>
              <a:off x="13724205" y="4468543"/>
              <a:ext cx="6848320" cy="653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6264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Core HPC ↔ Edge VM 분산 처리</a:t>
              </a:r>
              <a:endParaRPr lang="en-US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A095553A-CE50-2C02-D0C2-053F3582D3A0}"/>
                </a:ext>
              </a:extLst>
            </p:cNvPr>
            <p:cNvSpPr/>
            <p:nvPr/>
          </p:nvSpPr>
          <p:spPr>
            <a:xfrm>
              <a:off x="12866166" y="5359932"/>
              <a:ext cx="8172391" cy="13370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3D 모델·AI 감지 결과를 KOREN망으로 Edge VM에 저지연 전달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3DGS 모델(수십~수백 MB)을 수 초 내 전송, Edge 즉시 렌더링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Core(연산) → Edge(서빙) 역할 분리를 저지연·고대역으로 실현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Shape 17">
              <a:extLst>
                <a:ext uri="{FF2B5EF4-FFF2-40B4-BE49-F238E27FC236}">
                  <a16:creationId xmlns:a16="http://schemas.microsoft.com/office/drawing/2014/main" id="{B2F15E4C-0B36-B631-3B25-40865AB43B8B}"/>
                </a:ext>
              </a:extLst>
            </p:cNvPr>
            <p:cNvSpPr/>
            <p:nvPr/>
          </p:nvSpPr>
          <p:spPr>
            <a:xfrm>
              <a:off x="2955925" y="7403250"/>
              <a:ext cx="9011353" cy="2924473"/>
            </a:xfrm>
            <a:prstGeom prst="roundRect">
              <a:avLst>
                <a:gd name="adj" fmla="val 3540"/>
              </a:avLst>
            </a:prstGeom>
            <a:solidFill>
              <a:srgbClr val="F3F6FB"/>
            </a:solidFill>
            <a:ln w="12700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Shape 18">
              <a:extLst>
                <a:ext uri="{FF2B5EF4-FFF2-40B4-BE49-F238E27FC236}">
                  <a16:creationId xmlns:a16="http://schemas.microsoft.com/office/drawing/2014/main" id="{A5BD2D7E-3C42-92C9-9E6B-C79C4A87FCE1}"/>
                </a:ext>
              </a:extLst>
            </p:cNvPr>
            <p:cNvSpPr/>
            <p:nvPr/>
          </p:nvSpPr>
          <p:spPr>
            <a:xfrm>
              <a:off x="3285517" y="7730093"/>
              <a:ext cx="659185" cy="653686"/>
            </a:xfrm>
            <a:prstGeom prst="roundRect">
              <a:avLst>
                <a:gd name="adj" fmla="val 50000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 19">
              <a:extLst>
                <a:ext uri="{FF2B5EF4-FFF2-40B4-BE49-F238E27FC236}">
                  <a16:creationId xmlns:a16="http://schemas.microsoft.com/office/drawing/2014/main" id="{D515F140-9B88-38A1-3CC2-CED7A35EE26D}"/>
                </a:ext>
              </a:extLst>
            </p:cNvPr>
            <p:cNvSpPr/>
            <p:nvPr/>
          </p:nvSpPr>
          <p:spPr>
            <a:xfrm>
              <a:off x="3285517" y="7730093"/>
              <a:ext cx="659185" cy="653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endParaRPr lang="en-US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 20">
              <a:extLst>
                <a:ext uri="{FF2B5EF4-FFF2-40B4-BE49-F238E27FC236}">
                  <a16:creationId xmlns:a16="http://schemas.microsoft.com/office/drawing/2014/main" id="{6A0A294D-E87E-9C14-2897-8BE555DB2FDE}"/>
                </a:ext>
              </a:extLst>
            </p:cNvPr>
            <p:cNvSpPr/>
            <p:nvPr/>
          </p:nvSpPr>
          <p:spPr>
            <a:xfrm>
              <a:off x="4263408" y="7730093"/>
              <a:ext cx="6848320" cy="653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6264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KOREN 인프라 활용 계획</a:t>
              </a:r>
              <a:endParaRPr lang="en-US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7" name="Text 21">
              <a:extLst>
                <a:ext uri="{FF2B5EF4-FFF2-40B4-BE49-F238E27FC236}">
                  <a16:creationId xmlns:a16="http://schemas.microsoft.com/office/drawing/2014/main" id="{CB6C23B2-6439-2A22-0EA3-4E737D967827}"/>
                </a:ext>
              </a:extLst>
            </p:cNvPr>
            <p:cNvSpPr/>
            <p:nvPr/>
          </p:nvSpPr>
          <p:spPr>
            <a:xfrm>
              <a:off x="3405369" y="8621483"/>
              <a:ext cx="8172391" cy="13370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Core HPC: 접속기관 GPU 서버로 3D 복원 + AI 추론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Edge VM: 현장 인근 엣지 노드 VM 할당, 3D 상황판 서빙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네트워크: KOREN SDN QoS로 영상 트래픽 우선순위 보장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0" name="Shape 24">
              <a:extLst>
                <a:ext uri="{FF2B5EF4-FFF2-40B4-BE49-F238E27FC236}">
                  <a16:creationId xmlns:a16="http://schemas.microsoft.com/office/drawing/2014/main" id="{7BEF0A66-2E42-74F1-0B84-CCED9F9282F0}"/>
                </a:ext>
              </a:extLst>
            </p:cNvPr>
            <p:cNvSpPr/>
            <p:nvPr/>
          </p:nvSpPr>
          <p:spPr>
            <a:xfrm>
              <a:off x="12416722" y="7403250"/>
              <a:ext cx="9011353" cy="2924473"/>
            </a:xfrm>
            <a:prstGeom prst="roundRect">
              <a:avLst>
                <a:gd name="adj" fmla="val 3540"/>
              </a:avLst>
            </a:prstGeom>
            <a:solidFill>
              <a:srgbClr val="F3F6FB"/>
            </a:solidFill>
            <a:ln w="15875">
              <a:solidFill>
                <a:srgbClr val="D64541"/>
              </a:solidFill>
              <a:prstDash val="solid"/>
            </a:ln>
          </p:spPr>
          <p:txBody>
            <a:bodyPr/>
            <a:lstStyle/>
            <a:p>
              <a:endParaRPr lang="ko-KR" altLang="en-US"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1" name="Shape 25">
              <a:extLst>
                <a:ext uri="{FF2B5EF4-FFF2-40B4-BE49-F238E27FC236}">
                  <a16:creationId xmlns:a16="http://schemas.microsoft.com/office/drawing/2014/main" id="{BFF6F32F-59BF-57D1-104F-09C5025AA4BA}"/>
                </a:ext>
              </a:extLst>
            </p:cNvPr>
            <p:cNvSpPr/>
            <p:nvPr/>
          </p:nvSpPr>
          <p:spPr>
            <a:xfrm>
              <a:off x="12746314" y="7730093"/>
              <a:ext cx="659185" cy="653686"/>
            </a:xfrm>
            <a:prstGeom prst="roundRect">
              <a:avLst>
                <a:gd name="adj" fmla="val 50000"/>
              </a:avLst>
            </a:prstGeom>
            <a:solidFill>
              <a:srgbClr val="D64541"/>
            </a:solidFill>
            <a:ln/>
          </p:spPr>
          <p:txBody>
            <a:bodyPr/>
            <a:lstStyle/>
            <a:p>
              <a:endParaRPr lang="ko-KR" altLang="en-US" sz="3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2" name="Text 26">
              <a:extLst>
                <a:ext uri="{FF2B5EF4-FFF2-40B4-BE49-F238E27FC236}">
                  <a16:creationId xmlns:a16="http://schemas.microsoft.com/office/drawing/2014/main" id="{73D8CD0F-CE6E-44EC-3285-D57134510EA4}"/>
                </a:ext>
              </a:extLst>
            </p:cNvPr>
            <p:cNvSpPr/>
            <p:nvPr/>
          </p:nvSpPr>
          <p:spPr>
            <a:xfrm>
              <a:off x="12746314" y="7730093"/>
              <a:ext cx="659185" cy="653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</a:t>
              </a:r>
              <a:endParaRPr lang="en-US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27">
              <a:extLst>
                <a:ext uri="{FF2B5EF4-FFF2-40B4-BE49-F238E27FC236}">
                  <a16:creationId xmlns:a16="http://schemas.microsoft.com/office/drawing/2014/main" id="{E41BAC73-A081-D097-FA0B-24155BB4CCDA}"/>
                </a:ext>
              </a:extLst>
            </p:cNvPr>
            <p:cNvSpPr/>
            <p:nvPr/>
          </p:nvSpPr>
          <p:spPr>
            <a:xfrm>
              <a:off x="13724205" y="7730093"/>
              <a:ext cx="6848320" cy="6536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6264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KOREN망 없이는 불가능한 이유</a:t>
              </a:r>
              <a:endParaRPr lang="en-US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DAA3CAF2-E9F1-B7B4-F7C4-CD5E9E3269D5}"/>
                </a:ext>
              </a:extLst>
            </p:cNvPr>
            <p:cNvSpPr/>
            <p:nvPr/>
          </p:nvSpPr>
          <p:spPr>
            <a:xfrm>
              <a:off x="12866166" y="8621483"/>
              <a:ext cx="8172391" cy="13370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멀티드론 고해상도 동시 전송은 일반 인터넷 대역폭·안정성으로 불가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Core→Edge 3D 모델 전송 저지연(수백 ms 이내)은 전용망만 충족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342900" indent="-342900">
                <a:lnSpc>
                  <a:spcPct val="130000"/>
                </a:lnSpc>
                <a:spcAft>
                  <a:spcPts val="700"/>
                </a:spcAft>
                <a:buSzPct val="100000"/>
                <a:buChar char="•"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안정적 QoS가 재난 미션 크리티컬 데이터 흐름에 필수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89" name="Shape 2">
            <a:extLst>
              <a:ext uri="{FF2B5EF4-FFF2-40B4-BE49-F238E27FC236}">
                <a16:creationId xmlns:a16="http://schemas.microsoft.com/office/drawing/2014/main" id="{1EA33CA8-DF39-A40F-9312-364BD5FDD769}"/>
              </a:ext>
            </a:extLst>
          </p:cNvPr>
          <p:cNvSpPr/>
          <p:nvPr/>
        </p:nvSpPr>
        <p:spPr>
          <a:xfrm>
            <a:off x="2171017" y="4020078"/>
            <a:ext cx="12678615" cy="7898827"/>
          </a:xfrm>
          <a:prstGeom prst="roundRect">
            <a:avLst>
              <a:gd name="adj" fmla="val 1271"/>
            </a:avLst>
          </a:prstGeom>
          <a:solidFill>
            <a:srgbClr val="FBFCFE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90" name="Image 0">
            <a:extLst>
              <a:ext uri="{FF2B5EF4-FFF2-40B4-BE49-F238E27FC236}">
                <a16:creationId xmlns:a16="http://schemas.microsoft.com/office/drawing/2014/main" id="{52305A95-F01D-7571-CBBF-691F5BD4F8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0360" y="4220896"/>
            <a:ext cx="12199930" cy="7530661"/>
          </a:xfrm>
          <a:prstGeom prst="rect">
            <a:avLst/>
          </a:prstGeom>
        </p:spPr>
      </p:pic>
      <p:sp>
        <p:nvSpPr>
          <p:cNvPr id="91" name="Text 3">
            <a:extLst>
              <a:ext uri="{FF2B5EF4-FFF2-40B4-BE49-F238E27FC236}">
                <a16:creationId xmlns:a16="http://schemas.microsoft.com/office/drawing/2014/main" id="{C6B53B91-B9CA-3E23-5934-A71E0A780A37}"/>
              </a:ext>
            </a:extLst>
          </p:cNvPr>
          <p:cNvSpPr/>
          <p:nvPr/>
        </p:nvSpPr>
        <p:spPr>
          <a:xfrm>
            <a:off x="2171017" y="11985844"/>
            <a:ext cx="12678615" cy="401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[그림] SkyLens KOREN </a:t>
            </a:r>
            <a:r>
              <a:rPr lang="en-US" sz="2000" dirty="0" err="1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</a:t>
            </a:r>
            <a:r>
              <a:rPr lang="en-US" sz="2000" dirty="0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000" dirty="0" err="1">
                <a:solidFill>
                  <a:srgbClr val="6B748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구성</a:t>
            </a:r>
            <a:endParaRPr lang="en-US" sz="20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2" name="Shape 4">
            <a:extLst>
              <a:ext uri="{FF2B5EF4-FFF2-40B4-BE49-F238E27FC236}">
                <a16:creationId xmlns:a16="http://schemas.microsoft.com/office/drawing/2014/main" id="{4003DE61-94FE-A10B-F4A0-B4CB08948BC8}"/>
              </a:ext>
            </a:extLst>
          </p:cNvPr>
          <p:cNvSpPr/>
          <p:nvPr/>
        </p:nvSpPr>
        <p:spPr>
          <a:xfrm>
            <a:off x="15174725" y="4020078"/>
            <a:ext cx="7038257" cy="1723685"/>
          </a:xfrm>
          <a:prstGeom prst="roundRect">
            <a:avLst>
              <a:gd name="adj" fmla="val 7767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4" name="Shape 5">
            <a:extLst>
              <a:ext uri="{FF2B5EF4-FFF2-40B4-BE49-F238E27FC236}">
                <a16:creationId xmlns:a16="http://schemas.microsoft.com/office/drawing/2014/main" id="{A6D0254A-169A-DDE6-79B2-261C8C077108}"/>
              </a:ext>
            </a:extLst>
          </p:cNvPr>
          <p:cNvSpPr/>
          <p:nvPr/>
        </p:nvSpPr>
        <p:spPr>
          <a:xfrm>
            <a:off x="15467308" y="4246884"/>
            <a:ext cx="587287" cy="552748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5" name="Text 6">
            <a:extLst>
              <a:ext uri="{FF2B5EF4-FFF2-40B4-BE49-F238E27FC236}">
                <a16:creationId xmlns:a16="http://schemas.microsoft.com/office/drawing/2014/main" id="{F0D25CD4-7443-1587-94A0-C357E1C46112}"/>
              </a:ext>
            </a:extLst>
          </p:cNvPr>
          <p:cNvSpPr/>
          <p:nvPr/>
        </p:nvSpPr>
        <p:spPr>
          <a:xfrm>
            <a:off x="15467308" y="4246884"/>
            <a:ext cx="58728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7" name="Text 7">
            <a:extLst>
              <a:ext uri="{FF2B5EF4-FFF2-40B4-BE49-F238E27FC236}">
                <a16:creationId xmlns:a16="http://schemas.microsoft.com/office/drawing/2014/main" id="{B9553C7D-B3F2-15BE-9D0A-B349DEB5CE4A}"/>
              </a:ext>
            </a:extLst>
          </p:cNvPr>
          <p:cNvSpPr/>
          <p:nvPr/>
        </p:nvSpPr>
        <p:spPr>
          <a:xfrm>
            <a:off x="16339295" y="4138499"/>
            <a:ext cx="5542831" cy="721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멀티드론 </a:t>
            </a:r>
            <a:r>
              <a:rPr lang="en-US" sz="2800" b="1" dirty="0" err="1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실시간</a:t>
            </a: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800" b="1" dirty="0" err="1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전송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9" name="Shape 8">
            <a:extLst>
              <a:ext uri="{FF2B5EF4-FFF2-40B4-BE49-F238E27FC236}">
                <a16:creationId xmlns:a16="http://schemas.microsoft.com/office/drawing/2014/main" id="{5F4B78AA-25AF-E793-EC76-6EB730FDA91B}"/>
              </a:ext>
            </a:extLst>
          </p:cNvPr>
          <p:cNvSpPr/>
          <p:nvPr/>
        </p:nvSpPr>
        <p:spPr>
          <a:xfrm>
            <a:off x="15174725" y="6078459"/>
            <a:ext cx="7038257" cy="1723685"/>
          </a:xfrm>
          <a:prstGeom prst="roundRect">
            <a:avLst>
              <a:gd name="adj" fmla="val 7767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0" name="Shape 9">
            <a:extLst>
              <a:ext uri="{FF2B5EF4-FFF2-40B4-BE49-F238E27FC236}">
                <a16:creationId xmlns:a16="http://schemas.microsoft.com/office/drawing/2014/main" id="{03B6CE50-188A-E483-5FC6-39CF10FF37C5}"/>
              </a:ext>
            </a:extLst>
          </p:cNvPr>
          <p:cNvSpPr/>
          <p:nvPr/>
        </p:nvSpPr>
        <p:spPr>
          <a:xfrm>
            <a:off x="15467308" y="6305264"/>
            <a:ext cx="587287" cy="552748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FDD90BFB-B73C-2967-B23C-B944CEBAAB00}"/>
              </a:ext>
            </a:extLst>
          </p:cNvPr>
          <p:cNvSpPr/>
          <p:nvPr/>
        </p:nvSpPr>
        <p:spPr>
          <a:xfrm>
            <a:off x="15467308" y="6305264"/>
            <a:ext cx="58728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2" name="Text 11">
            <a:extLst>
              <a:ext uri="{FF2B5EF4-FFF2-40B4-BE49-F238E27FC236}">
                <a16:creationId xmlns:a16="http://schemas.microsoft.com/office/drawing/2014/main" id="{55A670C2-B0F2-58A1-B99B-C507D050939E}"/>
              </a:ext>
            </a:extLst>
          </p:cNvPr>
          <p:cNvSpPr/>
          <p:nvPr/>
        </p:nvSpPr>
        <p:spPr>
          <a:xfrm>
            <a:off x="16339295" y="6196880"/>
            <a:ext cx="5542831" cy="721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Core-Edge </a:t>
            </a:r>
            <a:r>
              <a:rPr lang="en-US" sz="2800" b="1" dirty="0" err="1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분산</a:t>
            </a: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800" b="1" dirty="0" err="1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처리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4" name="Shape 12">
            <a:extLst>
              <a:ext uri="{FF2B5EF4-FFF2-40B4-BE49-F238E27FC236}">
                <a16:creationId xmlns:a16="http://schemas.microsoft.com/office/drawing/2014/main" id="{487E3E5B-AB71-8B6F-254B-85E0C4078347}"/>
              </a:ext>
            </a:extLst>
          </p:cNvPr>
          <p:cNvSpPr/>
          <p:nvPr/>
        </p:nvSpPr>
        <p:spPr>
          <a:xfrm>
            <a:off x="15174725" y="8136839"/>
            <a:ext cx="7038257" cy="1723685"/>
          </a:xfrm>
          <a:prstGeom prst="roundRect">
            <a:avLst>
              <a:gd name="adj" fmla="val 7767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5" name="Shape 13">
            <a:extLst>
              <a:ext uri="{FF2B5EF4-FFF2-40B4-BE49-F238E27FC236}">
                <a16:creationId xmlns:a16="http://schemas.microsoft.com/office/drawing/2014/main" id="{A8D7961A-D4A8-AF2F-7CFC-EE3C979F2F79}"/>
              </a:ext>
            </a:extLst>
          </p:cNvPr>
          <p:cNvSpPr/>
          <p:nvPr/>
        </p:nvSpPr>
        <p:spPr>
          <a:xfrm>
            <a:off x="15467308" y="8363645"/>
            <a:ext cx="587287" cy="552748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6" name="Text 14">
            <a:extLst>
              <a:ext uri="{FF2B5EF4-FFF2-40B4-BE49-F238E27FC236}">
                <a16:creationId xmlns:a16="http://schemas.microsoft.com/office/drawing/2014/main" id="{9A77EF2B-0FDC-6C61-8917-C6067D38A16C}"/>
              </a:ext>
            </a:extLst>
          </p:cNvPr>
          <p:cNvSpPr/>
          <p:nvPr/>
        </p:nvSpPr>
        <p:spPr>
          <a:xfrm>
            <a:off x="15467308" y="8363645"/>
            <a:ext cx="58728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7" name="Text 15">
            <a:extLst>
              <a:ext uri="{FF2B5EF4-FFF2-40B4-BE49-F238E27FC236}">
                <a16:creationId xmlns:a16="http://schemas.microsoft.com/office/drawing/2014/main" id="{25A39573-BAA0-6212-D0D4-00C2DBBA3FD1}"/>
              </a:ext>
            </a:extLst>
          </p:cNvPr>
          <p:cNvSpPr/>
          <p:nvPr/>
        </p:nvSpPr>
        <p:spPr>
          <a:xfrm>
            <a:off x="16339295" y="8255260"/>
            <a:ext cx="5542831" cy="721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KOREN </a:t>
            </a:r>
            <a:r>
              <a:rPr lang="en-US" sz="2800" b="1" dirty="0" err="1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인프라</a:t>
            </a: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800" b="1" dirty="0" err="1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활용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8" name="Shape 16">
            <a:extLst>
              <a:ext uri="{FF2B5EF4-FFF2-40B4-BE49-F238E27FC236}">
                <a16:creationId xmlns:a16="http://schemas.microsoft.com/office/drawing/2014/main" id="{3BEAD0CD-3B6D-1D8F-E560-A0CC5061B14D}"/>
              </a:ext>
            </a:extLst>
          </p:cNvPr>
          <p:cNvSpPr/>
          <p:nvPr/>
        </p:nvSpPr>
        <p:spPr>
          <a:xfrm>
            <a:off x="15174725" y="10195220"/>
            <a:ext cx="7038257" cy="1723685"/>
          </a:xfrm>
          <a:prstGeom prst="roundRect">
            <a:avLst>
              <a:gd name="adj" fmla="val 7767"/>
            </a:avLst>
          </a:prstGeom>
          <a:solidFill>
            <a:srgbClr val="F3F6FB"/>
          </a:solidFill>
          <a:ln w="12700">
            <a:solidFill>
              <a:srgbClr val="D9E1EF"/>
            </a:solidFill>
            <a:prstDash val="solid"/>
          </a:ln>
        </p:spPr>
        <p:txBody>
          <a:bodyPr/>
          <a:lstStyle/>
          <a:p>
            <a:endParaRPr lang="ko-KR" altLang="en-US" sz="40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9" name="Shape 17">
            <a:extLst>
              <a:ext uri="{FF2B5EF4-FFF2-40B4-BE49-F238E27FC236}">
                <a16:creationId xmlns:a16="http://schemas.microsoft.com/office/drawing/2014/main" id="{CCECF2D2-34C9-C562-D606-8981DB27360D}"/>
              </a:ext>
            </a:extLst>
          </p:cNvPr>
          <p:cNvSpPr/>
          <p:nvPr/>
        </p:nvSpPr>
        <p:spPr>
          <a:xfrm>
            <a:off x="15467308" y="10422026"/>
            <a:ext cx="587287" cy="552748"/>
          </a:xfrm>
          <a:prstGeom prst="roundRect">
            <a:avLst>
              <a:gd name="adj" fmla="val 50000"/>
            </a:avLst>
          </a:prstGeom>
          <a:solidFill>
            <a:srgbClr val="16264A"/>
          </a:solidFill>
          <a:ln/>
        </p:spPr>
        <p:txBody>
          <a:bodyPr/>
          <a:lstStyle/>
          <a:p>
            <a:endParaRPr lang="ko-KR" altLang="en-US" sz="2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0" name="Text 18">
            <a:extLst>
              <a:ext uri="{FF2B5EF4-FFF2-40B4-BE49-F238E27FC236}">
                <a16:creationId xmlns:a16="http://schemas.microsoft.com/office/drawing/2014/main" id="{81ADDA11-2516-8D1C-CB99-9EF8EE9FD7F6}"/>
              </a:ext>
            </a:extLst>
          </p:cNvPr>
          <p:cNvSpPr/>
          <p:nvPr/>
        </p:nvSpPr>
        <p:spPr>
          <a:xfrm>
            <a:off x="15467308" y="10422026"/>
            <a:ext cx="58728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endParaRPr lang="en-US" sz="2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1" name="Text 19">
            <a:extLst>
              <a:ext uri="{FF2B5EF4-FFF2-40B4-BE49-F238E27FC236}">
                <a16:creationId xmlns:a16="http://schemas.microsoft.com/office/drawing/2014/main" id="{7DCAB369-B353-DC8B-9A85-7C9245E4419E}"/>
              </a:ext>
            </a:extLst>
          </p:cNvPr>
          <p:cNvSpPr/>
          <p:nvPr/>
        </p:nvSpPr>
        <p:spPr>
          <a:xfrm>
            <a:off x="16339295" y="10313641"/>
            <a:ext cx="5542831" cy="721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spcBef>
                <a:spcPts val="200"/>
              </a:spcBef>
              <a:buNone/>
            </a:pPr>
            <a:r>
              <a:rPr lang="en-US" sz="2800" b="1" dirty="0" err="1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전용망이라</a:t>
            </a:r>
            <a:r>
              <a:rPr 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2800" b="1" dirty="0" err="1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가능</a:t>
            </a:r>
            <a:r>
              <a:rPr lang="ko-KR" altLang="en-US" sz="2800" b="1" dirty="0">
                <a:solidFill>
                  <a:srgbClr val="16264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4" name="Text 7">
            <a:extLst>
              <a:ext uri="{FF2B5EF4-FFF2-40B4-BE49-F238E27FC236}">
                <a16:creationId xmlns:a16="http://schemas.microsoft.com/office/drawing/2014/main" id="{7104D738-E758-57A2-E3B9-4948F95FAF0F}"/>
              </a:ext>
            </a:extLst>
          </p:cNvPr>
          <p:cNvSpPr/>
          <p:nvPr/>
        </p:nvSpPr>
        <p:spPr>
          <a:xfrm>
            <a:off x="15467308" y="4913747"/>
            <a:ext cx="6414818" cy="72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고해상도 RGB+열화상을 10Gbps급 </a:t>
            </a:r>
            <a:r>
              <a:rPr lang="en-US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고속망으로</a:t>
            </a: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실시간</a:t>
            </a: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전송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드론 1대당 50~100Mbps × 3대↑ = 수백 Mbps 동시 </a:t>
            </a:r>
            <a:r>
              <a:rPr lang="en-US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전송</a:t>
            </a: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필요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5" name="Text 14">
            <a:extLst>
              <a:ext uri="{FF2B5EF4-FFF2-40B4-BE49-F238E27FC236}">
                <a16:creationId xmlns:a16="http://schemas.microsoft.com/office/drawing/2014/main" id="{D8E78155-D8C6-65FC-5E6D-FEE38F2DCF68}"/>
              </a:ext>
            </a:extLst>
          </p:cNvPr>
          <p:cNvSpPr/>
          <p:nvPr/>
        </p:nvSpPr>
        <p:spPr>
          <a:xfrm>
            <a:off x="15467308" y="6945202"/>
            <a:ext cx="6414818" cy="72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 모델·AI 감지 결과를 KOREN망으로 Edge VM에 저지연 전달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3DGS 모델(수십~수백 MB)을 수 초 내 전송, Edge </a:t>
            </a:r>
            <a:r>
              <a:rPr lang="en-US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즉시</a:t>
            </a: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렌더링</a:t>
            </a:r>
            <a:endParaRPr lang="en-US" dirty="0">
              <a:solidFill>
                <a:srgbClr val="1A244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6" name="Text 21">
            <a:extLst>
              <a:ext uri="{FF2B5EF4-FFF2-40B4-BE49-F238E27FC236}">
                <a16:creationId xmlns:a16="http://schemas.microsoft.com/office/drawing/2014/main" id="{D8255B75-2405-CFEE-BCD1-C8EA311D28F7}"/>
              </a:ext>
            </a:extLst>
          </p:cNvPr>
          <p:cNvSpPr/>
          <p:nvPr/>
        </p:nvSpPr>
        <p:spPr>
          <a:xfrm>
            <a:off x="15467308" y="9030508"/>
            <a:ext cx="6414818" cy="72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Core HPC: 접속기관 GPU 서버로 3D 복원 + AI 추론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 VM: 현장 인근 엣지 노드 VM 할당, 3D </a:t>
            </a:r>
            <a:r>
              <a:rPr lang="en-US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상황판</a:t>
            </a: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서빙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7" name="Text 28">
            <a:extLst>
              <a:ext uri="{FF2B5EF4-FFF2-40B4-BE49-F238E27FC236}">
                <a16:creationId xmlns:a16="http://schemas.microsoft.com/office/drawing/2014/main" id="{B1B492CB-8C3C-91A6-09B9-FBB437087CAD}"/>
              </a:ext>
            </a:extLst>
          </p:cNvPr>
          <p:cNvSpPr/>
          <p:nvPr/>
        </p:nvSpPr>
        <p:spPr>
          <a:xfrm>
            <a:off x="15467308" y="11059613"/>
            <a:ext cx="6414818" cy="72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 err="1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Core→Edge</a:t>
            </a: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3D 모델 전송 저지연(수백 ms 이내)은 전용망만 충족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342900" indent="-342900">
              <a:lnSpc>
                <a:spcPct val="110000"/>
              </a:lnSpc>
              <a:spcAft>
                <a:spcPts val="700"/>
              </a:spcAft>
              <a:buSzPct val="100000"/>
              <a:buChar char="•"/>
            </a:pPr>
            <a:r>
              <a:rPr lang="en-US" dirty="0">
                <a:solidFill>
                  <a:srgbClr val="1A244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안정적 QoS가 재난 미션 크리티컬 데이터 흐름에 필수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73CFE0A0-FF65-7FA4-7510-3BC2981B52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KOREN </a:t>
            </a:r>
            <a:r>
              <a:rPr lang="ko-KR" altLang="en-US" dirty="0"/>
              <a:t>연동 및 활용 방안</a:t>
            </a:r>
          </a:p>
        </p:txBody>
      </p:sp>
      <p:sp>
        <p:nvSpPr>
          <p:cNvPr id="118" name="슬라이드 번호 개체 틀 117">
            <a:extLst>
              <a:ext uri="{FF2B5EF4-FFF2-40B4-BE49-F238E27FC236}">
                <a16:creationId xmlns:a16="http://schemas.microsoft.com/office/drawing/2014/main" id="{03CC7A57-2BC1-D4F7-6A6F-2FC33213B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210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63C5D-09D4-818C-6736-5A4F5FAB5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5CE63F6A-7857-88F6-1F2C-EC0B82A4F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0EED0A8D-E0B1-47CB-0210-E6726C91E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8" name="TextBox 8">
            <a:extLst>
              <a:ext uri="{FF2B5EF4-FFF2-40B4-BE49-F238E27FC236}">
                <a16:creationId xmlns:a16="http://schemas.microsoft.com/office/drawing/2014/main" id="{E9B5D09E-9657-9BFC-861C-C2C6A671E766}"/>
              </a:ext>
            </a:extLst>
          </p:cNvPr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단위 모듈부터 실제 재난 시나리오까지</a:t>
            </a:r>
            <a:endParaRPr lang="en-US" sz="42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4D45591-272C-8EAC-F4AE-40BBB685B9C4}"/>
              </a:ext>
            </a:extLst>
          </p:cNvPr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단계별 세부 검증 계획 및 달성 목표 수립</a:t>
            </a:r>
            <a:endParaRPr lang="en-US" sz="5600" b="0" i="0" u="none" strike="noStrike" spc="-200" dirty="0">
              <a:solidFill>
                <a:srgbClr val="0B345B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AC050509-409E-72B8-D836-EA9C4CFB7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5747" y="4229100"/>
            <a:ext cx="6603508" cy="80518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73C75D60-41CB-6328-2CC1-B88B0D9638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1272" y="5232400"/>
            <a:ext cx="5983460" cy="6787254"/>
          </a:xfrm>
          <a:prstGeom prst="rect">
            <a:avLst/>
          </a:prstGeom>
        </p:spPr>
      </p:pic>
      <p:sp>
        <p:nvSpPr>
          <p:cNvPr id="12" name="TextBox 12">
            <a:extLst>
              <a:ext uri="{FF2B5EF4-FFF2-40B4-BE49-F238E27FC236}">
                <a16:creationId xmlns:a16="http://schemas.microsoft.com/office/drawing/2014/main" id="{5CFA8D01-257B-8860-6550-7C2896E29862}"/>
              </a:ext>
            </a:extLst>
          </p:cNvPr>
          <p:cNvSpPr txBox="1"/>
          <p:nvPr/>
        </p:nvSpPr>
        <p:spPr>
          <a:xfrm>
            <a:off x="9339781" y="4483100"/>
            <a:ext cx="5750942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ko-KR" alt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파이프라인 통합 검증</a:t>
            </a:r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C9A8D462-DB59-C8DA-0DC0-A62627AD5D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0700" y="4229100"/>
            <a:ext cx="6603508" cy="80518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CA5C71E5-5DC8-D738-1475-45F34C9D80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0724" y="5232400"/>
            <a:ext cx="5983460" cy="6787254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EB5A93F3-B9B1-730A-B776-2B4542C78EDF}"/>
              </a:ext>
            </a:extLst>
          </p:cNvPr>
          <p:cNvSpPr txBox="1"/>
          <p:nvPr/>
        </p:nvSpPr>
        <p:spPr>
          <a:xfrm>
            <a:off x="2224733" y="4483100"/>
            <a:ext cx="5750942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ko-KR" alt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단위 모듈 검증</a:t>
            </a: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70E18A57-63C1-26F2-382E-C2857B0A30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89792" y="4229100"/>
            <a:ext cx="6603508" cy="80518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F6DD7720-2E29-E2B1-5C46-0D45C42274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299816" y="5232400"/>
            <a:ext cx="5983460" cy="6787254"/>
          </a:xfrm>
          <a:prstGeom prst="rect">
            <a:avLst/>
          </a:prstGeom>
        </p:spPr>
      </p:pic>
      <p:sp>
        <p:nvSpPr>
          <p:cNvPr id="21" name="TextBox 21">
            <a:extLst>
              <a:ext uri="{FF2B5EF4-FFF2-40B4-BE49-F238E27FC236}">
                <a16:creationId xmlns:a16="http://schemas.microsoft.com/office/drawing/2014/main" id="{82A4846A-7B25-E6CE-A484-C15EA69F905D}"/>
              </a:ext>
            </a:extLst>
          </p:cNvPr>
          <p:cNvSpPr txBox="1"/>
          <p:nvPr/>
        </p:nvSpPr>
        <p:spPr>
          <a:xfrm>
            <a:off x="16423825" y="4483100"/>
            <a:ext cx="5750942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ko-KR" altLang="en-US" sz="2933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시나리오 기반 시험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79E532B-09FB-B455-4EBF-3496661B2A4B}"/>
              </a:ext>
            </a:extLst>
          </p:cNvPr>
          <p:cNvSpPr txBox="1"/>
          <p:nvPr/>
        </p:nvSpPr>
        <p:spPr>
          <a:xfrm>
            <a:off x="2345951" y="5465011"/>
            <a:ext cx="5400000" cy="364543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>
              <a:lnSpc>
                <a:spcPct val="13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영상 전송</a:t>
            </a:r>
            <a:r>
              <a:rPr lang="en-US" altLang="ko-KR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en-US" sz="2270" u="none" strike="noStrike" dirty="0" err="1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드론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대 동시 스트리밍 시 </a:t>
            </a:r>
            <a:r>
              <a:rPr 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KOREN </a:t>
            </a:r>
            <a:r>
              <a:rPr lang="ko-KR" altLang="en-US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망 대역폭</a:t>
            </a:r>
            <a:r>
              <a:rPr 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지연 측정</a:t>
            </a:r>
            <a:endParaRPr lang="en-US" altLang="ko-KR" sz="2270" u="none" strike="noStrike" dirty="0">
              <a:solidFill>
                <a:srgbClr val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lvl="1" indent="-342900">
              <a:lnSpc>
                <a:spcPct val="13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270" b="1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3D </a:t>
            </a:r>
            <a:r>
              <a:rPr lang="ko-KR" altLang="en-US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복원</a:t>
            </a:r>
            <a:r>
              <a:rPr lang="en-US" altLang="ko-KR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3D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Gaussian Splatting 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품질</a:t>
            </a:r>
            <a:r>
              <a:rPr lang="en-US" altLang="ko-KR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(PSNR/SSIM)</a:t>
            </a:r>
            <a:r>
              <a:rPr lang="ko-KR" altLang="en-US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및 갱신 주기 측정</a:t>
            </a:r>
          </a:p>
          <a:p>
            <a:pPr marL="342900" lvl="1" indent="-342900">
              <a:lnSpc>
                <a:spcPct val="1300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AI</a:t>
            </a:r>
            <a:r>
              <a:rPr lang="ko-KR" altLang="en-US" sz="2270" b="1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감지</a:t>
            </a:r>
            <a:r>
              <a:rPr 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위험구역</a:t>
            </a:r>
            <a:r>
              <a:rPr 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사람 감지 정확도</a:t>
            </a:r>
            <a:r>
              <a:rPr lang="en-US" altLang="ko-KR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en-US" altLang="ko-KR" sz="2270" dirty="0" err="1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mIoU</a:t>
            </a:r>
            <a:r>
              <a:rPr lang="en-US" altLang="ko-KR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F1-score)</a:t>
            </a:r>
            <a:r>
              <a:rPr lang="ko-KR" altLang="en-US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평가</a:t>
            </a:r>
            <a:endParaRPr lang="ko-KR" altLang="en-US" sz="2270" u="none" strike="noStrike" dirty="0">
              <a:solidFill>
                <a:srgbClr val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 marL="342900" lvl="1" indent="-342900">
              <a:lnSpc>
                <a:spcPct val="13000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2</a:t>
            </a:r>
            <a:r>
              <a:rPr lang="en-US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 </a:t>
            </a:r>
            <a:r>
              <a:rPr lang="en-US" altLang="ko-KR" sz="2270" b="1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→</a:t>
            </a:r>
            <a:r>
              <a:rPr lang="ko-KR" altLang="en-US" sz="2270" b="1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3D </a:t>
            </a:r>
            <a:r>
              <a:rPr lang="ko-KR" altLang="en-US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투영</a:t>
            </a:r>
            <a:r>
              <a:rPr 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 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투영 좌표의 실제 위치 대비 오차 단위 측정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952CB10-D76C-A8BA-6641-A5C33368BB75}"/>
              </a:ext>
            </a:extLst>
          </p:cNvPr>
          <p:cNvSpPr txBox="1"/>
          <p:nvPr/>
        </p:nvSpPr>
        <p:spPr>
          <a:xfrm>
            <a:off x="9525000" y="5588000"/>
            <a:ext cx="5400000" cy="3645432"/>
          </a:xfrm>
          <a:prstGeom prst="rect">
            <a:avLst/>
          </a:prstGeom>
        </p:spPr>
        <p:txBody>
          <a:bodyPr lIns="0" tIns="0" rIns="0" bIns="0" rtlCol="0" anchor="t"/>
          <a:lstStyle>
            <a:defPPr>
              <a:defRPr lang="en-US"/>
            </a:defPPr>
            <a:lvl2pPr marL="342900" lvl="1" indent="-342900">
              <a:lnSpc>
                <a:spcPct val="126160"/>
              </a:lnSpc>
              <a:buClr>
                <a:srgbClr val="000000"/>
              </a:buClr>
              <a:buFont typeface="Arial"/>
              <a:buChar char="●"/>
              <a:defRPr sz="2270" u="none" strike="noStrike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defRPr>
            </a:lvl2pPr>
          </a:lstStyle>
          <a:p>
            <a:pPr lvl="1">
              <a:lnSpc>
                <a:spcPct val="130000"/>
              </a:lnSpc>
            </a:pPr>
            <a:r>
              <a:rPr lang="ko-KR" altLang="en-US" dirty="0" err="1"/>
              <a:t>드론</a:t>
            </a:r>
            <a:r>
              <a:rPr lang="ko-KR" altLang="en-US" dirty="0"/>
              <a:t> 촬영 → </a:t>
            </a:r>
            <a:r>
              <a:rPr lang="en-US" altLang="ko-KR" dirty="0"/>
              <a:t>KOREN </a:t>
            </a:r>
            <a:r>
              <a:rPr lang="ko-KR" altLang="en-US" dirty="0"/>
              <a:t>전송 → </a:t>
            </a:r>
            <a:r>
              <a:rPr lang="en-US" altLang="ko-KR" dirty="0"/>
              <a:t>HPC </a:t>
            </a:r>
            <a:r>
              <a:rPr lang="ko-KR" altLang="en-US" dirty="0"/>
              <a:t>처리 → </a:t>
            </a:r>
            <a:r>
              <a:rPr lang="en-US" altLang="ko-KR" dirty="0"/>
              <a:t>Edge </a:t>
            </a:r>
            <a:r>
              <a:rPr lang="ko-KR" altLang="en-US" dirty="0"/>
              <a:t>서빙까지 </a:t>
            </a:r>
            <a:r>
              <a:rPr lang="en-US" altLang="ko-KR" dirty="0"/>
              <a:t>End-to-End </a:t>
            </a:r>
            <a:r>
              <a:rPr lang="ko-KR" altLang="en-US" dirty="0"/>
              <a:t>지연시간 측정</a:t>
            </a:r>
          </a:p>
          <a:p>
            <a:pPr lvl="1">
              <a:lnSpc>
                <a:spcPct val="130000"/>
              </a:lnSpc>
            </a:pPr>
            <a:r>
              <a:rPr lang="ko-KR" altLang="en-US" dirty="0"/>
              <a:t>목표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ko-KR" altLang="en-US" b="1" dirty="0"/>
              <a:t>촬영 시점 </a:t>
            </a:r>
            <a:r>
              <a:rPr lang="en-US" altLang="ko-KR" b="1" dirty="0"/>
              <a:t>~</a:t>
            </a:r>
            <a:r>
              <a:rPr lang="ko-KR" altLang="en-US" b="1" dirty="0"/>
              <a:t> 상황판 반영까지 </a:t>
            </a:r>
            <a:r>
              <a:rPr lang="en-US" altLang="ko-KR" b="1" dirty="0"/>
              <a:t>30</a:t>
            </a:r>
            <a:r>
              <a:rPr lang="ko-KR" altLang="en-US" b="1" dirty="0"/>
              <a:t>초 이내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86F3A73-2115-0AFF-7F0C-9302DF7F4642}"/>
              </a:ext>
            </a:extLst>
          </p:cNvPr>
          <p:cNvSpPr txBox="1"/>
          <p:nvPr/>
        </p:nvSpPr>
        <p:spPr>
          <a:xfrm>
            <a:off x="16599296" y="5562600"/>
            <a:ext cx="5400000" cy="3645432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>
              <a:lnSpc>
                <a:spcPct val="13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모의 재난 현장</a:t>
            </a:r>
            <a:r>
              <a:rPr lang="en-US" altLang="ko-KR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(</a:t>
            </a:r>
            <a:r>
              <a:rPr lang="ko-KR" altLang="en-US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건물 모형 </a:t>
            </a:r>
            <a:r>
              <a:rPr lang="en-US" altLang="ko-KR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+ </a:t>
            </a:r>
            <a:r>
              <a:rPr lang="ko-KR" altLang="en-US" sz="227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열원 배치</a:t>
            </a:r>
            <a:r>
              <a:rPr lang="en-US" altLang="ko-KR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)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에서 </a:t>
            </a:r>
            <a:r>
              <a:rPr lang="ko-KR" altLang="en-US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실제 </a:t>
            </a:r>
            <a:r>
              <a:rPr lang="ko-KR" altLang="en-US" sz="2270" b="1" u="none" strike="noStrike" dirty="0" err="1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드론</a:t>
            </a:r>
            <a:r>
              <a:rPr lang="ko-KR" altLang="en-US" sz="2270" b="1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운용 테스트</a:t>
            </a:r>
          </a:p>
          <a:p>
            <a:pPr marL="342900" lvl="1" indent="-342900">
              <a:lnSpc>
                <a:spcPct val="1300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지휘관 역할 사용자가 </a:t>
            </a:r>
            <a:r>
              <a:rPr lang="en-US" altLang="ko-KR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3</a:t>
            </a:r>
            <a:r>
              <a:rPr 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 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상황판으로 위험구역</a:t>
            </a:r>
            <a:r>
              <a:rPr lang="en-US" altLang="ko-KR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/</a:t>
            </a:r>
            <a:r>
              <a:rPr lang="ko-KR" altLang="en-US" sz="2270" u="none" strike="noStrike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인명을 식별하는 사용성 평가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82E511BC-2A2A-0193-E09F-2E34F59764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22" t="20939" r="67994" b="20519"/>
          <a:stretch>
            <a:fillRect/>
          </a:stretch>
        </p:blipFill>
        <p:spPr>
          <a:xfrm>
            <a:off x="4001054" y="9628632"/>
            <a:ext cx="2182800" cy="1930332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311F5642-EDC7-E70C-18CA-88C8D56F1D6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98" t="33407" r="35390" b="23054"/>
          <a:stretch>
            <a:fillRect/>
          </a:stretch>
        </p:blipFill>
        <p:spPr>
          <a:xfrm>
            <a:off x="11048999" y="9875982"/>
            <a:ext cx="2286001" cy="1435632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91AE96C6-2CEB-AE32-7342-6EBD64DE3B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68" t="13517" r="6862" b="12517"/>
          <a:stretch>
            <a:fillRect/>
          </a:stretch>
        </p:blipFill>
        <p:spPr>
          <a:xfrm>
            <a:off x="18348357" y="9374332"/>
            <a:ext cx="1901877" cy="2438932"/>
          </a:xfrm>
          <a:prstGeom prst="rect">
            <a:avLst/>
          </a:prstGeom>
        </p:spPr>
      </p:pic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E2E4048F-E0ED-6A52-96AD-CB533ABAB5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74850" y="146050"/>
            <a:ext cx="9607550" cy="762000"/>
          </a:xfrm>
        </p:spPr>
        <p:txBody>
          <a:bodyPr>
            <a:normAutofit/>
          </a:bodyPr>
          <a:lstStyle/>
          <a:p>
            <a:r>
              <a:rPr lang="ko-KR" altLang="en-US" dirty="0"/>
              <a:t>결과물의 통합 및 시험</a:t>
            </a:r>
            <a:r>
              <a:rPr lang="en-US" altLang="ko-KR" dirty="0"/>
              <a:t>/</a:t>
            </a:r>
            <a:r>
              <a:rPr lang="ko-KR" altLang="en-US" dirty="0"/>
              <a:t>검증 계획</a:t>
            </a:r>
          </a:p>
        </p:txBody>
      </p:sp>
      <p:sp>
        <p:nvSpPr>
          <p:cNvPr id="61" name="슬라이드 번호 개체 틀 60">
            <a:extLst>
              <a:ext uri="{FF2B5EF4-FFF2-40B4-BE49-F238E27FC236}">
                <a16:creationId xmlns:a16="http://schemas.microsoft.com/office/drawing/2014/main" id="{F27D2047-9A56-E04B-49DD-D0F83A1C6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155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3A8E1-C7CE-162E-497D-48018045E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9C1456F2-5AC3-C62E-8833-794E3B6E6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8EA93B6C-246F-42E4-0878-3E39C5817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34C1B1ED-E40D-33FC-C31F-3AC378760C78}"/>
              </a:ext>
            </a:extLst>
          </p:cNvPr>
          <p:cNvSpPr/>
          <p:nvPr/>
        </p:nvSpPr>
        <p:spPr>
          <a:xfrm>
            <a:off x="2079743" y="1790700"/>
            <a:ext cx="12349443" cy="512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3200" b="1" dirty="0" err="1">
                <a:solidFill>
                  <a:srgbClr val="2740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참가</a:t>
            </a:r>
            <a:r>
              <a:rPr lang="en-US" sz="3200" b="1" dirty="0">
                <a:solidFill>
                  <a:srgbClr val="2740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구성원별 역할</a:t>
            </a:r>
            <a:endParaRPr lang="en-US" sz="3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FC773F4F-E94F-02FB-DEC6-9E59F13472C4}"/>
              </a:ext>
            </a:extLst>
          </p:cNvPr>
          <p:cNvSpPr/>
          <p:nvPr/>
        </p:nvSpPr>
        <p:spPr>
          <a:xfrm>
            <a:off x="7086600" y="1790700"/>
            <a:ext cx="9915871" cy="512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Wingdings" pitchFamily="2" charset="2"/>
              <a:buChar char="v"/>
            </a:pPr>
            <a:r>
              <a:rPr lang="en-US" sz="3200" b="1" dirty="0" err="1">
                <a:solidFill>
                  <a:srgbClr val="2740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세부</a:t>
            </a:r>
            <a:r>
              <a:rPr lang="en-US" sz="3200" b="1" dirty="0">
                <a:solidFill>
                  <a:srgbClr val="2740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과제 수행내용 및 구현 일정</a:t>
            </a:r>
            <a:endParaRPr lang="en-US" sz="3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39D60C6B-053B-EA61-AE96-ED9A44552BEC}"/>
              </a:ext>
            </a:extLst>
          </p:cNvPr>
          <p:cNvGrpSpPr/>
          <p:nvPr/>
        </p:nvGrpSpPr>
        <p:grpSpPr>
          <a:xfrm>
            <a:off x="1974850" y="2628899"/>
            <a:ext cx="21062950" cy="9651232"/>
            <a:chOff x="1974850" y="2568797"/>
            <a:chExt cx="21062950" cy="9711334"/>
          </a:xfrm>
        </p:grpSpPr>
        <p:sp>
          <p:nvSpPr>
            <p:cNvPr id="22" name="Shape 6">
              <a:extLst>
                <a:ext uri="{FF2B5EF4-FFF2-40B4-BE49-F238E27FC236}">
                  <a16:creationId xmlns:a16="http://schemas.microsoft.com/office/drawing/2014/main" id="{9E955F8D-C5A7-E222-DA9A-9316A8BBD4D0}"/>
                </a:ext>
              </a:extLst>
            </p:cNvPr>
            <p:cNvSpPr/>
            <p:nvPr/>
          </p:nvSpPr>
          <p:spPr>
            <a:xfrm>
              <a:off x="1974850" y="5065423"/>
              <a:ext cx="4526843" cy="2175369"/>
            </a:xfrm>
            <a:prstGeom prst="roundRect">
              <a:avLst>
                <a:gd name="adj" fmla="val 6863"/>
              </a:avLst>
            </a:prstGeom>
            <a:solidFill>
              <a:srgbClr val="F3F6FB"/>
            </a:solidFill>
            <a:ln w="12700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Text 7">
              <a:extLst>
                <a:ext uri="{FF2B5EF4-FFF2-40B4-BE49-F238E27FC236}">
                  <a16:creationId xmlns:a16="http://schemas.microsoft.com/office/drawing/2014/main" id="{8C41CA00-D7B6-7C18-5B19-33FD0D66D999}"/>
                </a:ext>
              </a:extLst>
            </p:cNvPr>
            <p:cNvSpPr/>
            <p:nvPr/>
          </p:nvSpPr>
          <p:spPr>
            <a:xfrm>
              <a:off x="2190965" y="5221456"/>
              <a:ext cx="4094612" cy="639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6264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박상우</a:t>
              </a:r>
              <a:endParaRPr lang="en-US" sz="2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ADF7E035-DAF9-0D2D-EDAE-149032903C3B}"/>
                </a:ext>
              </a:extLst>
            </p:cNvPr>
            <p:cNvSpPr/>
            <p:nvPr/>
          </p:nvSpPr>
          <p:spPr>
            <a:xfrm>
              <a:off x="2190965" y="5961163"/>
              <a:ext cx="4156359" cy="1109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3DGS 복원 엔진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제출 서류·문서 작업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Shape 9">
              <a:extLst>
                <a:ext uri="{FF2B5EF4-FFF2-40B4-BE49-F238E27FC236}">
                  <a16:creationId xmlns:a16="http://schemas.microsoft.com/office/drawing/2014/main" id="{1BDA74B3-B643-5CF3-3A8F-38B5725401D4}"/>
                </a:ext>
              </a:extLst>
            </p:cNvPr>
            <p:cNvSpPr/>
            <p:nvPr/>
          </p:nvSpPr>
          <p:spPr>
            <a:xfrm>
              <a:off x="1974850" y="7562048"/>
              <a:ext cx="4526843" cy="2175369"/>
            </a:xfrm>
            <a:prstGeom prst="roundRect">
              <a:avLst>
                <a:gd name="adj" fmla="val 6863"/>
              </a:avLst>
            </a:prstGeom>
            <a:solidFill>
              <a:srgbClr val="F3F6FB"/>
            </a:solidFill>
            <a:ln w="12700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 10">
              <a:extLst>
                <a:ext uri="{FF2B5EF4-FFF2-40B4-BE49-F238E27FC236}">
                  <a16:creationId xmlns:a16="http://schemas.microsoft.com/office/drawing/2014/main" id="{E0225413-893B-D85D-FA9C-176E1FAC7F9B}"/>
                </a:ext>
              </a:extLst>
            </p:cNvPr>
            <p:cNvSpPr/>
            <p:nvPr/>
          </p:nvSpPr>
          <p:spPr>
            <a:xfrm>
              <a:off x="2190965" y="7718082"/>
              <a:ext cx="4094612" cy="639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6264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나소진</a:t>
              </a:r>
              <a:endParaRPr lang="en-US" sz="2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7" name="Text 11">
              <a:extLst>
                <a:ext uri="{FF2B5EF4-FFF2-40B4-BE49-F238E27FC236}">
                  <a16:creationId xmlns:a16="http://schemas.microsoft.com/office/drawing/2014/main" id="{2D55192C-ACEC-731E-19F0-61787DBFBB07}"/>
                </a:ext>
              </a:extLst>
            </p:cNvPr>
            <p:cNvSpPr/>
            <p:nvPr/>
          </p:nvSpPr>
          <p:spPr>
            <a:xfrm>
              <a:off x="2190965" y="8457788"/>
              <a:ext cx="4156359" cy="1109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2D→3D 투영 모듈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Edge VM 3D 상황판(웹 뷰어)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배포 자동화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1" name="Shape 12">
              <a:extLst>
                <a:ext uri="{FF2B5EF4-FFF2-40B4-BE49-F238E27FC236}">
                  <a16:creationId xmlns:a16="http://schemas.microsoft.com/office/drawing/2014/main" id="{E5747F63-21AF-C509-A2DE-02E8E42F176C}"/>
                </a:ext>
              </a:extLst>
            </p:cNvPr>
            <p:cNvSpPr/>
            <p:nvPr/>
          </p:nvSpPr>
          <p:spPr>
            <a:xfrm>
              <a:off x="1974850" y="10058673"/>
              <a:ext cx="4526843" cy="2175369"/>
            </a:xfrm>
            <a:prstGeom prst="roundRect">
              <a:avLst>
                <a:gd name="adj" fmla="val 6863"/>
              </a:avLst>
            </a:prstGeom>
            <a:solidFill>
              <a:srgbClr val="F3F6FB"/>
            </a:solidFill>
            <a:ln w="12700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219BBFC2-035A-7560-F3C0-9B244CE10CB2}"/>
                </a:ext>
              </a:extLst>
            </p:cNvPr>
            <p:cNvSpPr/>
            <p:nvPr/>
          </p:nvSpPr>
          <p:spPr>
            <a:xfrm>
              <a:off x="2190966" y="10214706"/>
              <a:ext cx="4094612" cy="639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6264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문채운</a:t>
              </a:r>
              <a:endParaRPr lang="en-US" sz="2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E1314131-D466-3582-1AD6-E66D0C2954DC}"/>
                </a:ext>
              </a:extLst>
            </p:cNvPr>
            <p:cNvSpPr/>
            <p:nvPr/>
          </p:nvSpPr>
          <p:spPr>
            <a:xfrm>
              <a:off x="2190966" y="10954413"/>
              <a:ext cx="4156359" cy="1109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 err="1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RGB+열화상</a:t>
              </a: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2400" dirty="0" err="1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세그멘테이션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AI </a:t>
              </a:r>
              <a:r>
                <a:rPr lang="en-US" sz="2400" dirty="0" err="1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모델</a:t>
              </a: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en-US" sz="2400" dirty="0" err="1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설계·학습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 err="1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TensorRT</a:t>
              </a: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추론 최적화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5" name="Shape 16">
              <a:extLst>
                <a:ext uri="{FF2B5EF4-FFF2-40B4-BE49-F238E27FC236}">
                  <a16:creationId xmlns:a16="http://schemas.microsoft.com/office/drawing/2014/main" id="{74EA390F-267B-DD75-FD0B-5D97E50CBE91}"/>
                </a:ext>
              </a:extLst>
            </p:cNvPr>
            <p:cNvSpPr/>
            <p:nvPr/>
          </p:nvSpPr>
          <p:spPr>
            <a:xfrm>
              <a:off x="11829128" y="2571461"/>
              <a:ext cx="2148544" cy="736587"/>
            </a:xfrm>
            <a:prstGeom prst="roundRect">
              <a:avLst>
                <a:gd name="adj" fmla="val 13333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6" name="Text 17">
              <a:extLst>
                <a:ext uri="{FF2B5EF4-FFF2-40B4-BE49-F238E27FC236}">
                  <a16:creationId xmlns:a16="http://schemas.microsoft.com/office/drawing/2014/main" id="{60D8E181-4026-F288-687C-BE5E0C004EE9}"/>
                </a:ext>
              </a:extLst>
            </p:cNvPr>
            <p:cNvSpPr/>
            <p:nvPr/>
          </p:nvSpPr>
          <p:spPr>
            <a:xfrm>
              <a:off x="11790298" y="2571461"/>
              <a:ext cx="2226202" cy="7365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7월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7" name="Shape 18">
              <a:extLst>
                <a:ext uri="{FF2B5EF4-FFF2-40B4-BE49-F238E27FC236}">
                  <a16:creationId xmlns:a16="http://schemas.microsoft.com/office/drawing/2014/main" id="{F6FE9743-E5D0-101B-88A0-8252C42AD534}"/>
                </a:ext>
              </a:extLst>
            </p:cNvPr>
            <p:cNvSpPr/>
            <p:nvPr/>
          </p:nvSpPr>
          <p:spPr>
            <a:xfrm>
              <a:off x="14055330" y="2571461"/>
              <a:ext cx="2148544" cy="736587"/>
            </a:xfrm>
            <a:prstGeom prst="roundRect">
              <a:avLst>
                <a:gd name="adj" fmla="val 13333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8" name="Text 19">
              <a:extLst>
                <a:ext uri="{FF2B5EF4-FFF2-40B4-BE49-F238E27FC236}">
                  <a16:creationId xmlns:a16="http://schemas.microsoft.com/office/drawing/2014/main" id="{5F7FEF92-EFED-18B6-A069-77DC2AD54327}"/>
                </a:ext>
              </a:extLst>
            </p:cNvPr>
            <p:cNvSpPr/>
            <p:nvPr/>
          </p:nvSpPr>
          <p:spPr>
            <a:xfrm>
              <a:off x="14016501" y="2571461"/>
              <a:ext cx="2226202" cy="7365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8월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9" name="Shape 20">
              <a:extLst>
                <a:ext uri="{FF2B5EF4-FFF2-40B4-BE49-F238E27FC236}">
                  <a16:creationId xmlns:a16="http://schemas.microsoft.com/office/drawing/2014/main" id="{FB24F3C1-C7CD-CBF8-325D-299388A13E67}"/>
                </a:ext>
              </a:extLst>
            </p:cNvPr>
            <p:cNvSpPr/>
            <p:nvPr/>
          </p:nvSpPr>
          <p:spPr>
            <a:xfrm>
              <a:off x="16281534" y="2571461"/>
              <a:ext cx="2148544" cy="736587"/>
            </a:xfrm>
            <a:prstGeom prst="roundRect">
              <a:avLst>
                <a:gd name="adj" fmla="val 13333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0" name="Text 21">
              <a:extLst>
                <a:ext uri="{FF2B5EF4-FFF2-40B4-BE49-F238E27FC236}">
                  <a16:creationId xmlns:a16="http://schemas.microsoft.com/office/drawing/2014/main" id="{F4E05FE4-93D6-DC30-BE21-5DC5247AF06A}"/>
                </a:ext>
              </a:extLst>
            </p:cNvPr>
            <p:cNvSpPr/>
            <p:nvPr/>
          </p:nvSpPr>
          <p:spPr>
            <a:xfrm>
              <a:off x="16242704" y="2571461"/>
              <a:ext cx="2226202" cy="7365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9월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1" name="Shape 22">
              <a:extLst>
                <a:ext uri="{FF2B5EF4-FFF2-40B4-BE49-F238E27FC236}">
                  <a16:creationId xmlns:a16="http://schemas.microsoft.com/office/drawing/2014/main" id="{20CC2599-3949-2569-72A5-E71303E0B6C8}"/>
                </a:ext>
              </a:extLst>
            </p:cNvPr>
            <p:cNvSpPr/>
            <p:nvPr/>
          </p:nvSpPr>
          <p:spPr>
            <a:xfrm>
              <a:off x="18507737" y="2571461"/>
              <a:ext cx="2148544" cy="736587"/>
            </a:xfrm>
            <a:prstGeom prst="roundRect">
              <a:avLst>
                <a:gd name="adj" fmla="val 13333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2" name="Text 23">
              <a:extLst>
                <a:ext uri="{FF2B5EF4-FFF2-40B4-BE49-F238E27FC236}">
                  <a16:creationId xmlns:a16="http://schemas.microsoft.com/office/drawing/2014/main" id="{CFF343DB-2CB3-7D58-B202-2664966A46D1}"/>
                </a:ext>
              </a:extLst>
            </p:cNvPr>
            <p:cNvSpPr/>
            <p:nvPr/>
          </p:nvSpPr>
          <p:spPr>
            <a:xfrm>
              <a:off x="18468907" y="2571461"/>
              <a:ext cx="2226202" cy="7365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10월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3" name="Shape 24">
              <a:extLst>
                <a:ext uri="{FF2B5EF4-FFF2-40B4-BE49-F238E27FC236}">
                  <a16:creationId xmlns:a16="http://schemas.microsoft.com/office/drawing/2014/main" id="{E2CBD0E6-E9E4-32DE-F499-31DF944FB490}"/>
                </a:ext>
              </a:extLst>
            </p:cNvPr>
            <p:cNvSpPr/>
            <p:nvPr/>
          </p:nvSpPr>
          <p:spPr>
            <a:xfrm>
              <a:off x="20733939" y="2571461"/>
              <a:ext cx="2148544" cy="736587"/>
            </a:xfrm>
            <a:prstGeom prst="roundRect">
              <a:avLst>
                <a:gd name="adj" fmla="val 13333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" name="Text 25">
              <a:extLst>
                <a:ext uri="{FF2B5EF4-FFF2-40B4-BE49-F238E27FC236}">
                  <a16:creationId xmlns:a16="http://schemas.microsoft.com/office/drawing/2014/main" id="{F5DC3FD9-1EAD-E5D8-C665-2E6F1817045D}"/>
                </a:ext>
              </a:extLst>
            </p:cNvPr>
            <p:cNvSpPr/>
            <p:nvPr/>
          </p:nvSpPr>
          <p:spPr>
            <a:xfrm>
              <a:off x="20695110" y="2571461"/>
              <a:ext cx="2226202" cy="7365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11월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5" name="Shape 26">
              <a:extLst>
                <a:ext uri="{FF2B5EF4-FFF2-40B4-BE49-F238E27FC236}">
                  <a16:creationId xmlns:a16="http://schemas.microsoft.com/office/drawing/2014/main" id="{FEB71231-B178-08A9-8549-019A58363E1D}"/>
                </a:ext>
              </a:extLst>
            </p:cNvPr>
            <p:cNvSpPr/>
            <p:nvPr/>
          </p:nvSpPr>
          <p:spPr>
            <a:xfrm>
              <a:off x="7001374" y="4339273"/>
              <a:ext cx="15919939" cy="982118"/>
            </a:xfrm>
            <a:prstGeom prst="rect">
              <a:avLst/>
            </a:prstGeom>
            <a:solidFill>
              <a:srgbClr val="F7F9FC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6" name="Shape 27">
              <a:extLst>
                <a:ext uri="{FF2B5EF4-FFF2-40B4-BE49-F238E27FC236}">
                  <a16:creationId xmlns:a16="http://schemas.microsoft.com/office/drawing/2014/main" id="{33EF97AF-D361-9CCF-A2FB-5F2425126E3C}"/>
                </a:ext>
              </a:extLst>
            </p:cNvPr>
            <p:cNvSpPr/>
            <p:nvPr/>
          </p:nvSpPr>
          <p:spPr>
            <a:xfrm>
              <a:off x="7001374" y="6303509"/>
              <a:ext cx="15919939" cy="982118"/>
            </a:xfrm>
            <a:prstGeom prst="rect">
              <a:avLst/>
            </a:prstGeom>
            <a:solidFill>
              <a:srgbClr val="F7F9FC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7" name="Shape 28">
              <a:extLst>
                <a:ext uri="{FF2B5EF4-FFF2-40B4-BE49-F238E27FC236}">
                  <a16:creationId xmlns:a16="http://schemas.microsoft.com/office/drawing/2014/main" id="{6206365F-4AF6-91F0-4090-59FB1D807A12}"/>
                </a:ext>
              </a:extLst>
            </p:cNvPr>
            <p:cNvSpPr/>
            <p:nvPr/>
          </p:nvSpPr>
          <p:spPr>
            <a:xfrm>
              <a:off x="7001374" y="8267743"/>
              <a:ext cx="15919939" cy="982118"/>
            </a:xfrm>
            <a:prstGeom prst="rect">
              <a:avLst/>
            </a:prstGeom>
            <a:solidFill>
              <a:srgbClr val="F7F9FC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8" name="Shape 29">
              <a:extLst>
                <a:ext uri="{FF2B5EF4-FFF2-40B4-BE49-F238E27FC236}">
                  <a16:creationId xmlns:a16="http://schemas.microsoft.com/office/drawing/2014/main" id="{7F7FADE0-1A82-396F-E63A-2CF6AFE58CD5}"/>
                </a:ext>
              </a:extLst>
            </p:cNvPr>
            <p:cNvSpPr/>
            <p:nvPr/>
          </p:nvSpPr>
          <p:spPr>
            <a:xfrm>
              <a:off x="14016501" y="3357155"/>
              <a:ext cx="0" cy="6874824"/>
            </a:xfrm>
            <a:prstGeom prst="line">
              <a:avLst/>
            </a:prstGeom>
            <a:noFill/>
            <a:ln w="9525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9" name="Shape 30">
              <a:extLst>
                <a:ext uri="{FF2B5EF4-FFF2-40B4-BE49-F238E27FC236}">
                  <a16:creationId xmlns:a16="http://schemas.microsoft.com/office/drawing/2014/main" id="{CABE29F9-1E22-FC8D-2D26-7A601B592F95}"/>
                </a:ext>
              </a:extLst>
            </p:cNvPr>
            <p:cNvSpPr/>
            <p:nvPr/>
          </p:nvSpPr>
          <p:spPr>
            <a:xfrm>
              <a:off x="16242704" y="3357155"/>
              <a:ext cx="0" cy="6874824"/>
            </a:xfrm>
            <a:prstGeom prst="line">
              <a:avLst/>
            </a:prstGeom>
            <a:noFill/>
            <a:ln w="9525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0" name="Shape 31">
              <a:extLst>
                <a:ext uri="{FF2B5EF4-FFF2-40B4-BE49-F238E27FC236}">
                  <a16:creationId xmlns:a16="http://schemas.microsoft.com/office/drawing/2014/main" id="{D30712F9-2734-A93E-274D-A8734FADF1D6}"/>
                </a:ext>
              </a:extLst>
            </p:cNvPr>
            <p:cNvSpPr/>
            <p:nvPr/>
          </p:nvSpPr>
          <p:spPr>
            <a:xfrm>
              <a:off x="18468907" y="3357155"/>
              <a:ext cx="0" cy="6874824"/>
            </a:xfrm>
            <a:prstGeom prst="line">
              <a:avLst/>
            </a:prstGeom>
            <a:noFill/>
            <a:ln w="9525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1" name="Shape 32">
              <a:extLst>
                <a:ext uri="{FF2B5EF4-FFF2-40B4-BE49-F238E27FC236}">
                  <a16:creationId xmlns:a16="http://schemas.microsoft.com/office/drawing/2014/main" id="{6DAD75D6-8FA4-AF2B-73E8-46CD3F80459E}"/>
                </a:ext>
              </a:extLst>
            </p:cNvPr>
            <p:cNvSpPr/>
            <p:nvPr/>
          </p:nvSpPr>
          <p:spPr>
            <a:xfrm>
              <a:off x="20695110" y="3357155"/>
              <a:ext cx="0" cy="6874824"/>
            </a:xfrm>
            <a:prstGeom prst="line">
              <a:avLst/>
            </a:prstGeom>
            <a:noFill/>
            <a:ln w="9525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2" name="Text 33">
              <a:extLst>
                <a:ext uri="{FF2B5EF4-FFF2-40B4-BE49-F238E27FC236}">
                  <a16:creationId xmlns:a16="http://schemas.microsoft.com/office/drawing/2014/main" id="{74FEF519-8749-10A5-687A-1B2F05012939}"/>
                </a:ext>
              </a:extLst>
            </p:cNvPr>
            <p:cNvSpPr/>
            <p:nvPr/>
          </p:nvSpPr>
          <p:spPr>
            <a:xfrm>
              <a:off x="7277819" y="3357155"/>
              <a:ext cx="4594779" cy="982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KOREN 접속·드론 스트리밍 파이프라인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3" name="Shape 34">
              <a:extLst>
                <a:ext uri="{FF2B5EF4-FFF2-40B4-BE49-F238E27FC236}">
                  <a16:creationId xmlns:a16="http://schemas.microsoft.com/office/drawing/2014/main" id="{27F3331E-273F-713B-5DA7-C4B6031719BF}"/>
                </a:ext>
              </a:extLst>
            </p:cNvPr>
            <p:cNvSpPr/>
            <p:nvPr/>
          </p:nvSpPr>
          <p:spPr>
            <a:xfrm>
              <a:off x="11855013" y="3578131"/>
              <a:ext cx="2096772" cy="540164"/>
            </a:xfrm>
            <a:prstGeom prst="roundRect">
              <a:avLst>
                <a:gd name="adj" fmla="val 27273"/>
              </a:avLst>
            </a:prstGeom>
            <a:solidFill>
              <a:srgbClr val="27406E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4" name="Text 35">
              <a:extLst>
                <a:ext uri="{FF2B5EF4-FFF2-40B4-BE49-F238E27FC236}">
                  <a16:creationId xmlns:a16="http://schemas.microsoft.com/office/drawing/2014/main" id="{86A43572-7D5E-80AC-FC9A-24BB24A8EB54}"/>
                </a:ext>
              </a:extLst>
            </p:cNvPr>
            <p:cNvSpPr/>
            <p:nvPr/>
          </p:nvSpPr>
          <p:spPr>
            <a:xfrm>
              <a:off x="7277819" y="4339273"/>
              <a:ext cx="4594779" cy="982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3DGS 복원 엔진 + GPU 가속 최적화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5" name="Shape 36">
              <a:extLst>
                <a:ext uri="{FF2B5EF4-FFF2-40B4-BE49-F238E27FC236}">
                  <a16:creationId xmlns:a16="http://schemas.microsoft.com/office/drawing/2014/main" id="{56154FAA-6E9F-55CB-AE6B-89A48BBC6BC3}"/>
                </a:ext>
              </a:extLst>
            </p:cNvPr>
            <p:cNvSpPr/>
            <p:nvPr/>
          </p:nvSpPr>
          <p:spPr>
            <a:xfrm>
              <a:off x="14081216" y="4560250"/>
              <a:ext cx="1874152" cy="540164"/>
            </a:xfrm>
            <a:prstGeom prst="roundRect">
              <a:avLst>
                <a:gd name="adj" fmla="val 27273"/>
              </a:avLst>
            </a:prstGeom>
            <a:solidFill>
              <a:srgbClr val="27406E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6" name="Text 37">
              <a:extLst>
                <a:ext uri="{FF2B5EF4-FFF2-40B4-BE49-F238E27FC236}">
                  <a16:creationId xmlns:a16="http://schemas.microsoft.com/office/drawing/2014/main" id="{5B395CAA-FB8B-A2D6-1D40-332FB7328C4F}"/>
                </a:ext>
              </a:extLst>
            </p:cNvPr>
            <p:cNvSpPr/>
            <p:nvPr/>
          </p:nvSpPr>
          <p:spPr>
            <a:xfrm>
              <a:off x="7277819" y="5321390"/>
              <a:ext cx="4594779" cy="982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RGB+열화상 4채널 AI + TensorRT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57" name="Shape 38">
              <a:extLst>
                <a:ext uri="{FF2B5EF4-FFF2-40B4-BE49-F238E27FC236}">
                  <a16:creationId xmlns:a16="http://schemas.microsoft.com/office/drawing/2014/main" id="{AF207FD2-E083-1CDA-BC23-6D0268E72060}"/>
                </a:ext>
              </a:extLst>
            </p:cNvPr>
            <p:cNvSpPr/>
            <p:nvPr/>
          </p:nvSpPr>
          <p:spPr>
            <a:xfrm>
              <a:off x="16307420" y="5542366"/>
              <a:ext cx="1540222" cy="540164"/>
            </a:xfrm>
            <a:prstGeom prst="roundRect">
              <a:avLst>
                <a:gd name="adj" fmla="val 27273"/>
              </a:avLst>
            </a:prstGeom>
            <a:solidFill>
              <a:srgbClr val="3E5C8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1" name="Text 39">
              <a:extLst>
                <a:ext uri="{FF2B5EF4-FFF2-40B4-BE49-F238E27FC236}">
                  <a16:creationId xmlns:a16="http://schemas.microsoft.com/office/drawing/2014/main" id="{917CE89C-5869-7956-DA0D-A4CF6CC60542}"/>
                </a:ext>
              </a:extLst>
            </p:cNvPr>
            <p:cNvSpPr/>
            <p:nvPr/>
          </p:nvSpPr>
          <p:spPr>
            <a:xfrm>
              <a:off x="7277819" y="6303509"/>
              <a:ext cx="4594779" cy="982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Depth Map 기반 2D→3D 투영 모듈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2" name="Shape 40">
              <a:extLst>
                <a:ext uri="{FF2B5EF4-FFF2-40B4-BE49-F238E27FC236}">
                  <a16:creationId xmlns:a16="http://schemas.microsoft.com/office/drawing/2014/main" id="{CAB12EEE-B90C-F1A2-29AE-F108ADF0DE50}"/>
                </a:ext>
              </a:extLst>
            </p:cNvPr>
            <p:cNvSpPr/>
            <p:nvPr/>
          </p:nvSpPr>
          <p:spPr>
            <a:xfrm>
              <a:off x="17977072" y="6524484"/>
              <a:ext cx="1094981" cy="540164"/>
            </a:xfrm>
            <a:prstGeom prst="roundRect">
              <a:avLst>
                <a:gd name="adj" fmla="val 27273"/>
              </a:avLst>
            </a:prstGeom>
            <a:solidFill>
              <a:srgbClr val="3E5C8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3" name="Text 41">
              <a:extLst>
                <a:ext uri="{FF2B5EF4-FFF2-40B4-BE49-F238E27FC236}">
                  <a16:creationId xmlns:a16="http://schemas.microsoft.com/office/drawing/2014/main" id="{81FBE2F2-28E2-49F1-43F0-ED27E25634BD}"/>
                </a:ext>
              </a:extLst>
            </p:cNvPr>
            <p:cNvSpPr/>
            <p:nvPr/>
          </p:nvSpPr>
          <p:spPr>
            <a:xfrm>
              <a:off x="7277819" y="7285627"/>
              <a:ext cx="4594779" cy="982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Edge VM 3D 상황판 + 파이프라인 통합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4" name="Shape 42">
              <a:extLst>
                <a:ext uri="{FF2B5EF4-FFF2-40B4-BE49-F238E27FC236}">
                  <a16:creationId xmlns:a16="http://schemas.microsoft.com/office/drawing/2014/main" id="{A262C97A-FB4E-9246-235E-E6A79B18E2AB}"/>
                </a:ext>
              </a:extLst>
            </p:cNvPr>
            <p:cNvSpPr/>
            <p:nvPr/>
          </p:nvSpPr>
          <p:spPr>
            <a:xfrm>
              <a:off x="19201482" y="7506604"/>
              <a:ext cx="1428912" cy="540164"/>
            </a:xfrm>
            <a:prstGeom prst="roundRect">
              <a:avLst>
                <a:gd name="adj" fmla="val 27273"/>
              </a:avLst>
            </a:prstGeom>
            <a:solidFill>
              <a:srgbClr val="27406E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5" name="Text 43">
              <a:extLst>
                <a:ext uri="{FF2B5EF4-FFF2-40B4-BE49-F238E27FC236}">
                  <a16:creationId xmlns:a16="http://schemas.microsoft.com/office/drawing/2014/main" id="{366D81D5-28EE-3581-06C1-375D6181809B}"/>
                </a:ext>
              </a:extLst>
            </p:cNvPr>
            <p:cNvSpPr/>
            <p:nvPr/>
          </p:nvSpPr>
          <p:spPr>
            <a:xfrm>
              <a:off x="7277819" y="8267743"/>
              <a:ext cx="4594779" cy="982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시나리오 통합 테스트·성능 최적화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6" name="Shape 44">
              <a:extLst>
                <a:ext uri="{FF2B5EF4-FFF2-40B4-BE49-F238E27FC236}">
                  <a16:creationId xmlns:a16="http://schemas.microsoft.com/office/drawing/2014/main" id="{F4928FAA-CC87-6803-0840-A3DAE2605932}"/>
                </a:ext>
              </a:extLst>
            </p:cNvPr>
            <p:cNvSpPr/>
            <p:nvPr/>
          </p:nvSpPr>
          <p:spPr>
            <a:xfrm>
              <a:off x="20759826" y="8488722"/>
              <a:ext cx="983671" cy="540164"/>
            </a:xfrm>
            <a:prstGeom prst="roundRect">
              <a:avLst>
                <a:gd name="adj" fmla="val 27273"/>
              </a:avLst>
            </a:prstGeom>
            <a:solidFill>
              <a:srgbClr val="27406E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7" name="Text 45">
              <a:extLst>
                <a:ext uri="{FF2B5EF4-FFF2-40B4-BE49-F238E27FC236}">
                  <a16:creationId xmlns:a16="http://schemas.microsoft.com/office/drawing/2014/main" id="{8C244718-8905-9441-E891-B20D461E8CAF}"/>
                </a:ext>
              </a:extLst>
            </p:cNvPr>
            <p:cNvSpPr/>
            <p:nvPr/>
          </p:nvSpPr>
          <p:spPr>
            <a:xfrm>
              <a:off x="7277819" y="9249862"/>
              <a:ext cx="4594779" cy="982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98000"/>
                </a:lnSpc>
                <a:buNone/>
              </a:pPr>
              <a:r>
                <a:rPr lang="en-US" sz="2000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시연 준비·문서화·최종 발표 자료</a:t>
              </a:r>
              <a:endParaRPr lang="en-US" sz="2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8" name="Shape 46">
              <a:extLst>
                <a:ext uri="{FF2B5EF4-FFF2-40B4-BE49-F238E27FC236}">
                  <a16:creationId xmlns:a16="http://schemas.microsoft.com/office/drawing/2014/main" id="{99E33BD8-B78D-0740-924D-680282AB5F57}"/>
                </a:ext>
              </a:extLst>
            </p:cNvPr>
            <p:cNvSpPr/>
            <p:nvPr/>
          </p:nvSpPr>
          <p:spPr>
            <a:xfrm>
              <a:off x="21872927" y="9470838"/>
              <a:ext cx="983671" cy="540164"/>
            </a:xfrm>
            <a:prstGeom prst="roundRect">
              <a:avLst>
                <a:gd name="adj" fmla="val 27273"/>
              </a:avLst>
            </a:prstGeom>
            <a:solidFill>
              <a:srgbClr val="27406E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69" name="Shape 47">
              <a:extLst>
                <a:ext uri="{FF2B5EF4-FFF2-40B4-BE49-F238E27FC236}">
                  <a16:creationId xmlns:a16="http://schemas.microsoft.com/office/drawing/2014/main" id="{3FE85891-1938-BE64-297D-286C835011FC}"/>
                </a:ext>
              </a:extLst>
            </p:cNvPr>
            <p:cNvSpPr/>
            <p:nvPr/>
          </p:nvSpPr>
          <p:spPr>
            <a:xfrm>
              <a:off x="16126217" y="10305638"/>
              <a:ext cx="232975" cy="302710"/>
            </a:xfrm>
            <a:prstGeom prst="diamond">
              <a:avLst/>
            </a:prstGeom>
            <a:solidFill>
              <a:srgbClr val="FCCD4B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0" name="Shape 48">
              <a:extLst>
                <a:ext uri="{FF2B5EF4-FFF2-40B4-BE49-F238E27FC236}">
                  <a16:creationId xmlns:a16="http://schemas.microsoft.com/office/drawing/2014/main" id="{3062DBBA-093B-BBCF-14EC-FB7097507378}"/>
                </a:ext>
              </a:extLst>
            </p:cNvPr>
            <p:cNvSpPr/>
            <p:nvPr/>
          </p:nvSpPr>
          <p:spPr>
            <a:xfrm>
              <a:off x="18352420" y="10305638"/>
              <a:ext cx="232975" cy="302710"/>
            </a:xfrm>
            <a:prstGeom prst="diamond">
              <a:avLst/>
            </a:prstGeom>
            <a:solidFill>
              <a:srgbClr val="FCCD4B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1" name="Shape 49">
              <a:extLst>
                <a:ext uri="{FF2B5EF4-FFF2-40B4-BE49-F238E27FC236}">
                  <a16:creationId xmlns:a16="http://schemas.microsoft.com/office/drawing/2014/main" id="{9893BAD0-EE17-590B-37A9-4CDC996CDA6A}"/>
                </a:ext>
              </a:extLst>
            </p:cNvPr>
            <p:cNvSpPr/>
            <p:nvPr/>
          </p:nvSpPr>
          <p:spPr>
            <a:xfrm>
              <a:off x="22804825" y="10305638"/>
              <a:ext cx="232975" cy="302710"/>
            </a:xfrm>
            <a:prstGeom prst="diamond">
              <a:avLst/>
            </a:prstGeom>
            <a:solidFill>
              <a:srgbClr val="FCCD4B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2" name="Shape 50">
              <a:extLst>
                <a:ext uri="{FF2B5EF4-FFF2-40B4-BE49-F238E27FC236}">
                  <a16:creationId xmlns:a16="http://schemas.microsoft.com/office/drawing/2014/main" id="{EB4D6B1B-789B-77C6-9080-3874800E4290}"/>
                </a:ext>
              </a:extLst>
            </p:cNvPr>
            <p:cNvSpPr/>
            <p:nvPr/>
          </p:nvSpPr>
          <p:spPr>
            <a:xfrm>
              <a:off x="7001374" y="10913878"/>
              <a:ext cx="15958768" cy="1366253"/>
            </a:xfrm>
            <a:prstGeom prst="roundRect">
              <a:avLst>
                <a:gd name="adj" fmla="val 15517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73" name="Text 51">
              <a:extLst>
                <a:ext uri="{FF2B5EF4-FFF2-40B4-BE49-F238E27FC236}">
                  <a16:creationId xmlns:a16="http://schemas.microsoft.com/office/drawing/2014/main" id="{F166F39C-B104-1CC7-FFE0-8209A17474BE}"/>
                </a:ext>
              </a:extLst>
            </p:cNvPr>
            <p:cNvSpPr/>
            <p:nvPr/>
          </p:nvSpPr>
          <p:spPr>
            <a:xfrm>
              <a:off x="7316048" y="10913878"/>
              <a:ext cx="15329420" cy="136625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CCD4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~8월 </a:t>
              </a:r>
              <a:r>
                <a:rPr lang="en-US" sz="2400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영상전송·3D복원 v1     </a:t>
              </a:r>
              <a:r>
                <a:rPr lang="en-US" sz="2400" b="1" dirty="0">
                  <a:solidFill>
                    <a:srgbClr val="FCCD4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~9월 </a:t>
              </a:r>
              <a:r>
                <a:rPr lang="en-US" sz="2400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AI감지·2D→3D v1·통합 시스템     </a:t>
              </a:r>
              <a:r>
                <a:rPr lang="en-US" sz="2400" b="1" dirty="0">
                  <a:solidFill>
                    <a:srgbClr val="FCCD4B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~11월 </a:t>
              </a:r>
              <a:r>
                <a:rPr lang="en-US" sz="2400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최종 시스템·시연 데모·발표 자료·보고서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37" name="Shape 3">
              <a:extLst>
                <a:ext uri="{FF2B5EF4-FFF2-40B4-BE49-F238E27FC236}">
                  <a16:creationId xmlns:a16="http://schemas.microsoft.com/office/drawing/2014/main" id="{F292CE33-8A4B-2695-CE19-C7347170335B}"/>
                </a:ext>
              </a:extLst>
            </p:cNvPr>
            <p:cNvSpPr/>
            <p:nvPr/>
          </p:nvSpPr>
          <p:spPr>
            <a:xfrm>
              <a:off x="2002559" y="2568797"/>
              <a:ext cx="4526843" cy="2175369"/>
            </a:xfrm>
            <a:prstGeom prst="roundRect">
              <a:avLst>
                <a:gd name="adj" fmla="val 6863"/>
              </a:avLst>
            </a:prstGeom>
            <a:solidFill>
              <a:srgbClr val="F3F6FB"/>
            </a:solidFill>
            <a:ln w="12700">
              <a:solidFill>
                <a:srgbClr val="D9E1EF"/>
              </a:solidFill>
              <a:prstDash val="solid"/>
            </a:ln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38" name="Text 4">
              <a:extLst>
                <a:ext uri="{FF2B5EF4-FFF2-40B4-BE49-F238E27FC236}">
                  <a16:creationId xmlns:a16="http://schemas.microsoft.com/office/drawing/2014/main" id="{CE32DBD7-9CA7-415E-05BA-6F80C269A3BD}"/>
                </a:ext>
              </a:extLst>
            </p:cNvPr>
            <p:cNvSpPr/>
            <p:nvPr/>
          </p:nvSpPr>
          <p:spPr>
            <a:xfrm>
              <a:off x="2218674" y="2724831"/>
              <a:ext cx="4094612" cy="6398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600" b="1" dirty="0">
                  <a:solidFill>
                    <a:srgbClr val="16264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정준모</a:t>
              </a:r>
              <a:endParaRPr lang="en-US" sz="2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39" name="Text 5">
              <a:extLst>
                <a:ext uri="{FF2B5EF4-FFF2-40B4-BE49-F238E27FC236}">
                  <a16:creationId xmlns:a16="http://schemas.microsoft.com/office/drawing/2014/main" id="{11473521-D23F-CA6F-F542-A3FCA9B4C7AA}"/>
                </a:ext>
              </a:extLst>
            </p:cNvPr>
            <p:cNvSpPr/>
            <p:nvPr/>
          </p:nvSpPr>
          <p:spPr>
            <a:xfrm>
              <a:off x="2218674" y="3464537"/>
              <a:ext cx="4156359" cy="11090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과제 총괄·최종 발표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KOREN 연동·인프라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marL="285750" indent="-285750">
                <a:lnSpc>
                  <a:spcPct val="103000"/>
                </a:lnSpc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스트리밍 파이프라인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EF2E8E-3BC3-9BA6-226C-E54F21BBD6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74850" y="146050"/>
            <a:ext cx="8540750" cy="762000"/>
          </a:xfrm>
        </p:spPr>
        <p:txBody>
          <a:bodyPr>
            <a:normAutofit/>
          </a:bodyPr>
          <a:lstStyle/>
          <a:p>
            <a:r>
              <a:rPr lang="ko-KR" altLang="en-US" dirty="0"/>
              <a:t>참여 구성원별 역할 및 개발 일정</a:t>
            </a:r>
          </a:p>
        </p:txBody>
      </p:sp>
      <p:sp>
        <p:nvSpPr>
          <p:cNvPr id="144" name="슬라이드 번호 개체 틀 143">
            <a:extLst>
              <a:ext uri="{FF2B5EF4-FFF2-40B4-BE49-F238E27FC236}">
                <a16:creationId xmlns:a16="http://schemas.microsoft.com/office/drawing/2014/main" id="{1E4DA5BF-9D3A-EDD7-3A90-764F38D0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236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5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76577C-17F9-2CE6-53CE-B0604674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21C8CC4E-BFE1-52D5-F3BE-76C27E3671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8000"/>
            <a:ext cx="24384000" cy="15621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E9D305F-027D-8BCC-3767-BA3D42890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9B25E5E0-3A38-6C7A-9E94-5DC30E9608F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C1B76EA6-9F35-4E02-6482-7384AECE0A3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1689100" y="4508500"/>
            <a:ext cx="20866100" cy="21844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2CF29C6F-82C1-75EB-C394-A62D09A2E1AB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1689100" y="7073900"/>
            <a:ext cx="20866100" cy="21844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BBBBFC5F-0DA5-7F30-27F4-2F295468B17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1689100" y="9652000"/>
            <a:ext cx="20866100" cy="21844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B0DB5157-1EFA-4AC9-0D01-D4436C42A328}"/>
              </a:ext>
            </a:extLst>
          </p:cNvPr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진입 판단</a:t>
            </a:r>
            <a:r>
              <a:rPr lang="en-US" altLang="ko-KR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수색</a:t>
            </a:r>
            <a:r>
              <a:rPr lang="en-US" altLang="ko-KR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4266" b="0" i="0" u="none" strike="noStrike" spc="-2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상황인식을 바꾸는</a:t>
            </a:r>
            <a:endParaRPr lang="en-US" sz="4266" b="0" i="0" u="none" strike="noStrike" spc="-2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F926438-BD09-7809-9624-4139C64DD8B5}"/>
              </a:ext>
            </a:extLst>
          </p:cNvPr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algn="ctr">
              <a:lnSpc>
                <a:spcPct val="107070"/>
              </a:lnSpc>
            </a:pPr>
            <a:r>
              <a:rPr lang="ko-KR" altLang="en-US" sz="5600" b="0" i="0" u="none" strike="noStrike" spc="-200" dirty="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준실시간 </a:t>
            </a:r>
            <a:r>
              <a:rPr lang="en-US" altLang="ko-KR" sz="5600" b="0" i="0" u="none" strike="noStrike" spc="-200" dirty="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3</a:t>
            </a:r>
            <a:r>
              <a:rPr lang="en-US" sz="5600" b="0" i="0" u="none" strike="noStrike" spc="-200" dirty="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D</a:t>
            </a:r>
            <a:r>
              <a:rPr lang="ko-KR" altLang="en-US" sz="5600" b="0" i="0" u="none" strike="noStrike" spc="-200" dirty="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가 만드는 현장 효과</a:t>
            </a:r>
            <a:endParaRPr lang="en-US" sz="5600" b="0" i="0" u="none" strike="noStrike" spc="-200" dirty="0"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7A59530-061E-8A99-248D-2FAFD0F99C77}"/>
              </a:ext>
            </a:extLst>
          </p:cNvPr>
          <p:cNvSpPr txBox="1"/>
          <p:nvPr/>
        </p:nvSpPr>
        <p:spPr>
          <a:xfrm>
            <a:off x="4203700" y="4927600"/>
            <a:ext cx="39370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2933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재난 대응 </a:t>
            </a:r>
            <a:r>
              <a:rPr lang="ko-KR" altLang="en-US" sz="2933" b="0" i="0" u="none" strike="noStrike" spc="-1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골든타임</a:t>
            </a:r>
            <a:r>
              <a:rPr lang="ko-KR" altLang="en-US" sz="2933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확보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93D376D3-3A96-08F8-27E2-8B031395458A}"/>
              </a:ext>
            </a:extLst>
          </p:cNvPr>
          <p:cNvSpPr txBox="1"/>
          <p:nvPr/>
        </p:nvSpPr>
        <p:spPr>
          <a:xfrm>
            <a:off x="4203700" y="5537200"/>
            <a:ext cx="8977300" cy="838200"/>
          </a:xfrm>
          <a:prstGeom prst="rect">
            <a:avLst/>
          </a:prstGeom>
        </p:spPr>
        <p:txBody>
          <a:bodyPr lIns="0" tIns="16764" rIns="0" bIns="0" rtlCol="0" anchor="t"/>
          <a:lstStyle/>
          <a:p>
            <a:pPr marL="342900" lvl="0" indent="-342900" algn="l">
              <a:lnSpc>
                <a:spcPct val="107070"/>
              </a:lnSpc>
              <a:buFont typeface="Arial" panose="020B0604020202020204" pitchFamily="34" charset="0"/>
              <a:buChar char="•"/>
            </a:pP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준실시간 </a:t>
            </a:r>
            <a:r>
              <a:rPr lang="en-US" altLang="ko-KR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D 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복원</a:t>
            </a:r>
            <a:r>
              <a:rPr lang="en-US" altLang="ko-KR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위험 감지로 지휘관의 의사결정 시간을 단축</a:t>
            </a:r>
            <a:endParaRPr lang="en-US" altLang="ko-KR" sz="2400" b="0" i="0" u="none" strike="noStrike" spc="-1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indent="-342900">
              <a:lnSpc>
                <a:spcPct val="107070"/>
              </a:lnSpc>
              <a:buFont typeface="Arial" panose="020B0604020202020204" pitchFamily="34" charset="0"/>
              <a:buChar char="•"/>
            </a:pPr>
            <a:r>
              <a:rPr lang="ko-KR" altLang="en-US" sz="2400" b="0" i="0" u="none" strike="noStrike" spc="-1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촬영→상황판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반영 </a:t>
            </a:r>
            <a:r>
              <a:rPr lang="en-US" altLang="ko-KR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30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초 이내로 초기 대응 </a:t>
            </a:r>
            <a:r>
              <a:rPr lang="ko-KR" altLang="en-US" sz="2400" b="0" i="0" u="none" strike="noStrike" spc="-1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골든타임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확보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EA78DD13-5A68-C283-B13D-CD11B83B2AC3}"/>
              </a:ext>
            </a:extLst>
          </p:cNvPr>
          <p:cNvSpPr txBox="1"/>
          <p:nvPr/>
        </p:nvSpPr>
        <p:spPr>
          <a:xfrm>
            <a:off x="2184400" y="4978400"/>
            <a:ext cx="156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4BA44E8F-529D-5608-C48F-1867236E2A81}"/>
              </a:ext>
            </a:extLst>
          </p:cNvPr>
          <p:cNvSpPr txBox="1"/>
          <p:nvPr/>
        </p:nvSpPr>
        <p:spPr>
          <a:xfrm>
            <a:off x="4203700" y="7454900"/>
            <a:ext cx="39370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2933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인명 구조 효율 향상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8455268-0868-C0B6-F24F-EB219C3517B4}"/>
              </a:ext>
            </a:extLst>
          </p:cNvPr>
          <p:cNvSpPr txBox="1"/>
          <p:nvPr/>
        </p:nvSpPr>
        <p:spPr>
          <a:xfrm>
            <a:off x="4203700" y="8064500"/>
            <a:ext cx="8977300" cy="838200"/>
          </a:xfrm>
          <a:prstGeom prst="rect">
            <a:avLst/>
          </a:prstGeom>
        </p:spPr>
        <p:txBody>
          <a:bodyPr lIns="0" tIns="16764" rIns="0" bIns="0" rtlCol="0" anchor="t"/>
          <a:lstStyle/>
          <a:p>
            <a:pPr marL="342900" lvl="0" indent="-342900">
              <a:lnSpc>
                <a:spcPct val="107070"/>
              </a:lnSpc>
              <a:buFont typeface="Arial" panose="020B0604020202020204" pitchFamily="34" charset="0"/>
              <a:buChar char="•"/>
            </a:pPr>
            <a:r>
              <a:rPr lang="ko-KR" altLang="en-US" sz="2400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야간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연기 속에서도 </a:t>
            </a:r>
            <a:r>
              <a:rPr lang="en" altLang="ko-KR" sz="2400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RGB+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열화상 융합으로 요구조자 </a:t>
            </a:r>
            <a:r>
              <a:rPr lang="ko-KR" altLang="en-US" sz="2400" spc="-1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탐지율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 향상 </a:t>
            </a:r>
            <a:endParaRPr lang="en-US" altLang="ko-KR" sz="2400" spc="-1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lvl="0" indent="-342900">
              <a:lnSpc>
                <a:spcPct val="10707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AI 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자동 감지로 수색 누락을 방지하고</a:t>
            </a:r>
            <a:r>
              <a:rPr lang="en-US" altLang="ko-KR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, 3</a:t>
            </a:r>
            <a:r>
              <a:rPr 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D 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좌표로 정확한 위치 파악</a:t>
            </a:r>
            <a:endParaRPr lang="en-US" altLang="ko-KR" sz="2400" b="0" i="0" u="none" strike="noStrike" spc="-1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indent="-342900">
              <a:lnSpc>
                <a:spcPct val="107070"/>
              </a:lnSpc>
              <a:buFont typeface="Arial" panose="020B0604020202020204" pitchFamily="34" charset="0"/>
              <a:buChar char="•"/>
            </a:pPr>
            <a:endParaRPr lang="ko-KR" altLang="en-US" sz="2400" b="0" i="0" u="none" strike="noStrike" spc="-1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2707901-A42D-71A2-45DA-BE2BEC3754A7}"/>
              </a:ext>
            </a:extLst>
          </p:cNvPr>
          <p:cNvSpPr txBox="1"/>
          <p:nvPr/>
        </p:nvSpPr>
        <p:spPr>
          <a:xfrm>
            <a:off x="2184400" y="7556500"/>
            <a:ext cx="156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33628DF5-D40E-8430-F39D-67D912E366DB}"/>
              </a:ext>
            </a:extLst>
          </p:cNvPr>
          <p:cNvSpPr txBox="1"/>
          <p:nvPr/>
        </p:nvSpPr>
        <p:spPr>
          <a:xfrm>
            <a:off x="4203700" y="10033000"/>
            <a:ext cx="30607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ko-KR" altLang="en-US" sz="2933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지휘관 상황인식 강화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0CA33AA-E57A-C8E8-9D7A-603610628D52}"/>
              </a:ext>
            </a:extLst>
          </p:cNvPr>
          <p:cNvSpPr txBox="1"/>
          <p:nvPr/>
        </p:nvSpPr>
        <p:spPr>
          <a:xfrm>
            <a:off x="4203700" y="10629900"/>
            <a:ext cx="8977300" cy="838200"/>
          </a:xfrm>
          <a:prstGeom prst="rect">
            <a:avLst/>
          </a:prstGeom>
        </p:spPr>
        <p:txBody>
          <a:bodyPr lIns="0" tIns="16764" rIns="0" bIns="0" rtlCol="0" anchor="t"/>
          <a:lstStyle/>
          <a:p>
            <a:pPr marL="342900" lvl="0" indent="-342900" algn="l">
              <a:lnSpc>
                <a:spcPct val="107070"/>
              </a:lnSpc>
              <a:buFont typeface="Arial" panose="020B0604020202020204" pitchFamily="34" charset="0"/>
              <a:buChar char="•"/>
            </a:pPr>
            <a:r>
              <a:rPr 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2D 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영상 대비 </a:t>
            </a:r>
            <a:r>
              <a:rPr lang="en-US" altLang="ko-KR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3</a:t>
            </a:r>
            <a:r>
              <a:rPr 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D 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상황판으로 공간</a:t>
            </a:r>
            <a:r>
              <a:rPr lang="en-US" altLang="ko-KR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위험도</a:t>
            </a:r>
            <a:r>
              <a:rPr lang="en-US" altLang="ko-KR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24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인명분포를 직관적으로 파악</a:t>
            </a:r>
            <a:endParaRPr lang="en-US" altLang="ko-KR" sz="2400" b="0" i="0" u="none" strike="noStrike" spc="-1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  <a:p>
            <a:pPr marL="342900" indent="-342900">
              <a:lnSpc>
                <a:spcPct val="107070"/>
              </a:lnSpc>
              <a:buFont typeface="Arial" panose="020B0604020202020204" pitchFamily="34" charset="0"/>
              <a:buChar char="•"/>
            </a:pPr>
            <a:r>
              <a:rPr lang="ko-KR" altLang="en-US" sz="2400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진입 동선</a:t>
            </a:r>
            <a:r>
              <a:rPr lang="en-US" altLang="ko-KR" sz="2400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·</a:t>
            </a:r>
            <a:r>
              <a:rPr lang="ko-KR" altLang="en-US" sz="2400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거리 측정으로 안전한 진입 경로 판단 지원</a:t>
            </a:r>
            <a:endParaRPr lang="ko-KR" altLang="en-US" sz="2400" b="0" i="0" u="none" strike="noStrike" spc="-100" dirty="0">
              <a:solidFill>
                <a:schemeClr val="bg1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8A06524-2D74-00CE-B588-B889643BE340}"/>
              </a:ext>
            </a:extLst>
          </p:cNvPr>
          <p:cNvSpPr txBox="1"/>
          <p:nvPr/>
        </p:nvSpPr>
        <p:spPr>
          <a:xfrm>
            <a:off x="2184400" y="10134600"/>
            <a:ext cx="156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8EF54F64-B314-550B-0888-667903E9B6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95600" y="4241800"/>
            <a:ext cx="6224600" cy="7823200"/>
          </a:xfrm>
          <a:prstGeom prst="rect">
            <a:avLst/>
          </a:prstGeom>
        </p:spPr>
      </p:pic>
      <p:pic>
        <p:nvPicPr>
          <p:cNvPr id="11" name="Picture 11">
            <a:extLst>
              <a:ext uri="{FF2B5EF4-FFF2-40B4-BE49-F238E27FC236}">
                <a16:creationId xmlns:a16="http://schemas.microsoft.com/office/drawing/2014/main" id="{C6D45EA9-9CC2-A1AB-1805-AF48041E3C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16818" y="6858000"/>
            <a:ext cx="4969741" cy="25400"/>
          </a:xfrm>
          <a:prstGeom prst="rect">
            <a:avLst/>
          </a:prstGeom>
        </p:spPr>
      </p:pic>
      <p:pic>
        <p:nvPicPr>
          <p:cNvPr id="12" name="Picture 12">
            <a:extLst>
              <a:ext uri="{FF2B5EF4-FFF2-40B4-BE49-F238E27FC236}">
                <a16:creationId xmlns:a16="http://schemas.microsoft.com/office/drawing/2014/main" id="{63BED86F-5D7B-EF7E-D999-0BC3353F68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316818" y="9436100"/>
            <a:ext cx="4969741" cy="254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44852259-DCBC-8AE1-2B0A-0203D393DDA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42271" y="5295900"/>
            <a:ext cx="583945" cy="5969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1FB9E106-087D-05EF-8BF2-E0DD6B61BE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04998" y="7874000"/>
            <a:ext cx="583945" cy="5969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589475A2-FF89-7B29-CE27-E55F0A3C9E3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67120" y="10452100"/>
            <a:ext cx="583945" cy="596900"/>
          </a:xfrm>
          <a:prstGeom prst="rect">
            <a:avLst/>
          </a:prstGeom>
        </p:spPr>
      </p:pic>
      <p:sp>
        <p:nvSpPr>
          <p:cNvPr id="34" name="TextBox 34">
            <a:extLst>
              <a:ext uri="{FF2B5EF4-FFF2-40B4-BE49-F238E27FC236}">
                <a16:creationId xmlns:a16="http://schemas.microsoft.com/office/drawing/2014/main" id="{24B647D4-6A1E-0021-1FE7-287D5119444A}"/>
              </a:ext>
            </a:extLst>
          </p:cNvPr>
          <p:cNvSpPr txBox="1"/>
          <p:nvPr/>
        </p:nvSpPr>
        <p:spPr>
          <a:xfrm>
            <a:off x="17124400" y="5327650"/>
            <a:ext cx="4286401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7029"/>
              </a:lnSpc>
            </a:pPr>
            <a:r>
              <a:rPr lang="ko-KR" altLang="en-US" sz="2933" i="0" u="none" strike="noStrike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준실시간 대응</a:t>
            </a:r>
            <a:endParaRPr lang="en-US" sz="2933" i="0" u="none" strike="noStrike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7AC99B41-C13B-E64A-826F-44D4FFD4682B}"/>
              </a:ext>
            </a:extLst>
          </p:cNvPr>
          <p:cNvSpPr txBox="1"/>
          <p:nvPr/>
        </p:nvSpPr>
        <p:spPr>
          <a:xfrm>
            <a:off x="17124400" y="7905750"/>
            <a:ext cx="4078995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7029"/>
              </a:lnSpc>
            </a:pPr>
            <a:r>
              <a:rPr lang="ko-KR" altLang="en-US" sz="2933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수색 누락 방지</a:t>
            </a:r>
            <a:endParaRPr lang="en-US" altLang="ko-KR" sz="2933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52B0FA33-94BB-684D-2ADC-4867F3E5670B}"/>
              </a:ext>
            </a:extLst>
          </p:cNvPr>
          <p:cNvSpPr txBox="1"/>
          <p:nvPr/>
        </p:nvSpPr>
        <p:spPr>
          <a:xfrm>
            <a:off x="17124400" y="10483850"/>
            <a:ext cx="4037513" cy="59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7029"/>
              </a:lnSpc>
            </a:pPr>
            <a:r>
              <a:rPr lang="ko-KR" altLang="en-US" sz="2933" spc="-100" dirty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공간 인지 능력 향상 지원</a:t>
            </a:r>
            <a:endParaRPr lang="en-US" altLang="ko-KR" sz="2933" spc="-100" dirty="0">
              <a:solidFill>
                <a:srgbClr val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22" name="직각 삼각형[R] 21">
            <a:extLst>
              <a:ext uri="{FF2B5EF4-FFF2-40B4-BE49-F238E27FC236}">
                <a16:creationId xmlns:a16="http://schemas.microsoft.com/office/drawing/2014/main" id="{7CA77ABA-1F1A-3951-A578-785C3E12D073}"/>
              </a:ext>
            </a:extLst>
          </p:cNvPr>
          <p:cNvSpPr/>
          <p:nvPr/>
        </p:nvSpPr>
        <p:spPr>
          <a:xfrm flipH="1">
            <a:off x="20625728" y="-1715367"/>
            <a:ext cx="3758272" cy="2760019"/>
          </a:xfrm>
          <a:prstGeom prst="rtTriangle">
            <a:avLst/>
          </a:prstGeom>
          <a:solidFill>
            <a:srgbClr val="1745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3" name="직각 삼각형[R] 42">
            <a:extLst>
              <a:ext uri="{FF2B5EF4-FFF2-40B4-BE49-F238E27FC236}">
                <a16:creationId xmlns:a16="http://schemas.microsoft.com/office/drawing/2014/main" id="{28B23358-315A-7CFB-D196-A59AD23B2DAE}"/>
              </a:ext>
            </a:extLst>
          </p:cNvPr>
          <p:cNvSpPr/>
          <p:nvPr/>
        </p:nvSpPr>
        <p:spPr>
          <a:xfrm flipH="1">
            <a:off x="22174200" y="-1762047"/>
            <a:ext cx="2209800" cy="2806699"/>
          </a:xfrm>
          <a:prstGeom prst="rtTriangle">
            <a:avLst/>
          </a:prstGeom>
          <a:solidFill>
            <a:srgbClr val="1B497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836341F-25D6-221F-6CB6-5ACF1F34AC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기술 구현에 따른 기대 효과</a:t>
            </a:r>
          </a:p>
        </p:txBody>
      </p:sp>
      <p:sp>
        <p:nvSpPr>
          <p:cNvPr id="46" name="슬라이드 번호 개체 틀 45">
            <a:extLst>
              <a:ext uri="{FF2B5EF4-FFF2-40B4-BE49-F238E27FC236}">
                <a16:creationId xmlns:a16="http://schemas.microsoft.com/office/drawing/2014/main" id="{B733C91C-E171-55A2-6C32-C16D2CCD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>
                <a:solidFill>
                  <a:schemeClr val="bg1">
                    <a:lumMod val="95000"/>
                  </a:schemeClr>
                </a:solidFill>
              </a:rPr>
              <a:pPr>
                <a:lnSpc>
                  <a:spcPct val="116199"/>
                </a:lnSpc>
              </a:pPr>
              <a:t>13</a:t>
            </a:fld>
            <a:endParaRPr lang="ko-KR" altLang="en-US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7" name="TextBox 11">
            <a:extLst>
              <a:ext uri="{FF2B5EF4-FFF2-40B4-BE49-F238E27FC236}">
                <a16:creationId xmlns:a16="http://schemas.microsoft.com/office/drawing/2014/main" id="{6020C561-8AC7-4D34-9DF6-DD9672D8269F}"/>
              </a:ext>
            </a:extLst>
          </p:cNvPr>
          <p:cNvSpPr txBox="1"/>
          <p:nvPr/>
        </p:nvSpPr>
        <p:spPr>
          <a:xfrm>
            <a:off x="12915900" y="13055600"/>
            <a:ext cx="103378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26160"/>
              </a:lnSpc>
            </a:pPr>
            <a:r>
              <a:rPr lang="ko-KR" altLang="en-US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마당을 나온 </a:t>
            </a:r>
            <a:r>
              <a:rPr lang="ko-KR" altLang="en-US" sz="1866" b="0" i="0" u="none" strike="noStrike" dirty="0" err="1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드론</a:t>
            </a:r>
            <a:endParaRPr lang="en-US" sz="1866" b="0" i="0" u="none" strike="noStrike" dirty="0">
              <a:solidFill>
                <a:schemeClr val="bg1">
                  <a:lumMod val="95000"/>
                </a:schemeClr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48" name="TextBox 26">
            <a:extLst>
              <a:ext uri="{FF2B5EF4-FFF2-40B4-BE49-F238E27FC236}">
                <a16:creationId xmlns:a16="http://schemas.microsoft.com/office/drawing/2014/main" id="{3BF3EFBC-74D2-B7E8-2632-1B542A582D39}"/>
              </a:ext>
            </a:extLst>
          </p:cNvPr>
          <p:cNvSpPr txBox="1"/>
          <p:nvPr/>
        </p:nvSpPr>
        <p:spPr>
          <a:xfrm>
            <a:off x="1473200" y="13055600"/>
            <a:ext cx="46228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2026</a:t>
            </a:r>
            <a:r>
              <a:rPr lang="ko-KR" altLang="en-US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년 </a:t>
            </a:r>
            <a:r>
              <a:rPr lang="en" altLang="ko-KR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NET </a:t>
            </a:r>
            <a:r>
              <a:rPr lang="ko-KR" altLang="en-US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챌린지 캠프 시즌 </a:t>
            </a:r>
            <a:r>
              <a:rPr lang="en-US" altLang="ko-KR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13 </a:t>
            </a:r>
            <a:r>
              <a:rPr lang="ko-KR" altLang="en-US" sz="1866" b="0" i="0" u="none" strike="noStrike" dirty="0">
                <a:solidFill>
                  <a:schemeClr val="bg1">
                    <a:lumMod val="95000"/>
                  </a:schemeClr>
                </a:solidFill>
                <a:latin typeface="Pretendard Regular"/>
                <a:ea typeface="Pretendard Regular"/>
                <a:cs typeface="Pretendard Regular"/>
              </a:rPr>
              <a:t>착수보고회</a:t>
            </a:r>
          </a:p>
        </p:txBody>
      </p:sp>
    </p:spTree>
    <p:extLst>
      <p:ext uri="{BB962C8B-B14F-4D97-AF65-F5344CB8AC3E}">
        <p14:creationId xmlns:p14="http://schemas.microsoft.com/office/powerpoint/2010/main" val="1372988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D2E95-DF47-710F-0D48-7C81F5190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688B86AE-2203-E3A2-E444-F28DFD15F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AF53A89D-5FF6-1148-2BAD-43B86ACE4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02A3503-FFE7-3581-951A-57E283AAF8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연구 개발비 사용 계획</a:t>
            </a: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424F5C4E-71C0-2B7D-75D1-314A09AD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14</a:t>
            </a:fld>
            <a:endParaRPr lang="ko-KR" altLang="en-US"/>
          </a:p>
        </p:txBody>
      </p:sp>
      <p:graphicFrame>
        <p:nvGraphicFramePr>
          <p:cNvPr id="8" name="Table 0">
            <a:extLst>
              <a:ext uri="{FF2B5EF4-FFF2-40B4-BE49-F238E27FC236}">
                <a16:creationId xmlns:a16="http://schemas.microsoft.com/office/drawing/2014/main" id="{01919FB3-3540-055C-BA2E-86CAC2573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735673"/>
              </p:ext>
            </p:extLst>
          </p:nvPr>
        </p:nvGraphicFramePr>
        <p:xfrm>
          <a:off x="1523999" y="2691898"/>
          <a:ext cx="13756786" cy="6960102"/>
        </p:xfrm>
        <a:graphic>
          <a:graphicData uri="http://schemas.openxmlformats.org/drawingml/2006/table">
            <a:tbl>
              <a:tblPr/>
              <a:tblGrid>
                <a:gridCol w="20764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4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6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8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9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47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비목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적요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사용 목적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단가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수량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금액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53835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6264A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장비·재료비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드론 대여비 (7일)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실험 환경 구축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280,000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0800" marR="762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b="1" dirty="0">
                          <a:solidFill>
                            <a:srgbClr val="16264A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280,000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0800" marR="762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383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0000" indent="0" algn="l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아이패드 프로 11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드론 모니터링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1,069,000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0800" marR="762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b="1" dirty="0">
                          <a:solidFill>
                            <a:srgbClr val="16264A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1,069,000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0800" marR="762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38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6264A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국내여비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KTX 대전–서울 왕복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드론 대여 및 반납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47,400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0800" marR="762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b="1" dirty="0">
                          <a:solidFill>
                            <a:srgbClr val="16264A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189,600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0800" marR="762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38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16264A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회의비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B"/>
                    </a:solidFill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식비 및 다과비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0000" indent="0" algn="l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정기 팀 회의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76200" marR="508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23,070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0800" marR="762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dirty="0">
                          <a:solidFill>
                            <a:srgbClr val="1A244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b="1" dirty="0">
                          <a:solidFill>
                            <a:srgbClr val="16264A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461,400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0800" marR="76200" marT="25400" marB="25400" anchor="ctr">
                    <a:lnL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9985"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합 계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2,000,000원</a:t>
                      </a:r>
                      <a:endParaRPr lang="en-US" sz="24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50800" marR="762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016D8C6E-053B-3B3B-627A-04191D9C67EE}"/>
              </a:ext>
            </a:extLst>
          </p:cNvPr>
          <p:cNvGrpSpPr/>
          <p:nvPr/>
        </p:nvGrpSpPr>
        <p:grpSpPr>
          <a:xfrm>
            <a:off x="16531482" y="1828800"/>
            <a:ext cx="6328517" cy="3924301"/>
            <a:chOff x="15799912" y="1905000"/>
            <a:chExt cx="7060088" cy="4377947"/>
          </a:xfrm>
        </p:grpSpPr>
        <p:sp>
          <p:nvSpPr>
            <p:cNvPr id="16" name="Text 9">
              <a:extLst>
                <a:ext uri="{FF2B5EF4-FFF2-40B4-BE49-F238E27FC236}">
                  <a16:creationId xmlns:a16="http://schemas.microsoft.com/office/drawing/2014/main" id="{95ED64DF-EB09-763E-D10D-7AD388CFFB09}"/>
                </a:ext>
              </a:extLst>
            </p:cNvPr>
            <p:cNvSpPr/>
            <p:nvPr/>
          </p:nvSpPr>
          <p:spPr>
            <a:xfrm>
              <a:off x="15799912" y="1905000"/>
              <a:ext cx="7060088" cy="51912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457200" indent="-457200">
                <a:buFont typeface="Wingdings" pitchFamily="2" charset="2"/>
                <a:buChar char="v"/>
              </a:pPr>
              <a:r>
                <a:rPr lang="en-US" sz="2800" b="1" dirty="0" err="1">
                  <a:solidFill>
                    <a:srgbClr val="27406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비목별</a:t>
              </a:r>
              <a:r>
                <a:rPr lang="en-US" sz="2800" b="1" dirty="0">
                  <a:solidFill>
                    <a:srgbClr val="27406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 </a:t>
              </a:r>
              <a:r>
                <a:rPr lang="ko-KR" altLang="en-US" sz="2800" b="1" dirty="0">
                  <a:solidFill>
                    <a:srgbClr val="27406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비율</a:t>
              </a:r>
              <a:endParaRPr lang="en-US" sz="28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74D4BB80-698F-2146-202F-18822D9E7137}"/>
                </a:ext>
              </a:extLst>
            </p:cNvPr>
            <p:cNvSpPr/>
            <p:nvPr/>
          </p:nvSpPr>
          <p:spPr>
            <a:xfrm>
              <a:off x="15799912" y="2683687"/>
              <a:ext cx="5502715" cy="4845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장비·재료비  </a:t>
              </a:r>
              <a:r>
                <a:rPr lang="en-US" sz="20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1,349,000원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D8300582-BF7B-B1B8-4F2C-DAC7250676B5}"/>
                </a:ext>
              </a:extLst>
            </p:cNvPr>
            <p:cNvSpPr/>
            <p:nvPr/>
          </p:nvSpPr>
          <p:spPr>
            <a:xfrm>
              <a:off x="21302628" y="2683687"/>
              <a:ext cx="1557372" cy="4845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400" b="1" dirty="0">
                  <a:solidFill>
                    <a:srgbClr val="16264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67.5%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19" name="Shape 12">
              <a:extLst>
                <a:ext uri="{FF2B5EF4-FFF2-40B4-BE49-F238E27FC236}">
                  <a16:creationId xmlns:a16="http://schemas.microsoft.com/office/drawing/2014/main" id="{49362EC0-EECE-4F54-4C18-EAB681B5AD4C}"/>
                </a:ext>
              </a:extLst>
            </p:cNvPr>
            <p:cNvSpPr/>
            <p:nvPr/>
          </p:nvSpPr>
          <p:spPr>
            <a:xfrm>
              <a:off x="15799912" y="3237419"/>
              <a:ext cx="7060088" cy="346083"/>
            </a:xfrm>
            <a:prstGeom prst="roundRect">
              <a:avLst>
                <a:gd name="adj" fmla="val 50000"/>
              </a:avLst>
            </a:prstGeom>
            <a:solidFill>
              <a:srgbClr val="E8EDF5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0" name="Shape 13">
              <a:extLst>
                <a:ext uri="{FF2B5EF4-FFF2-40B4-BE49-F238E27FC236}">
                  <a16:creationId xmlns:a16="http://schemas.microsoft.com/office/drawing/2014/main" id="{EE21F0A6-76A6-2568-C99D-5A33DE06521D}"/>
                </a:ext>
              </a:extLst>
            </p:cNvPr>
            <p:cNvSpPr/>
            <p:nvPr/>
          </p:nvSpPr>
          <p:spPr>
            <a:xfrm>
              <a:off x="15799912" y="3237419"/>
              <a:ext cx="4765560" cy="346083"/>
            </a:xfrm>
            <a:prstGeom prst="roundRect">
              <a:avLst>
                <a:gd name="adj" fmla="val 50000"/>
              </a:avLst>
            </a:prstGeom>
            <a:solidFill>
              <a:srgbClr val="16264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1" name="Text 14">
              <a:extLst>
                <a:ext uri="{FF2B5EF4-FFF2-40B4-BE49-F238E27FC236}">
                  <a16:creationId xmlns:a16="http://schemas.microsoft.com/office/drawing/2014/main" id="{54C0EF3D-9443-10DC-BADA-B15CB3A86F9B}"/>
                </a:ext>
              </a:extLst>
            </p:cNvPr>
            <p:cNvSpPr/>
            <p:nvPr/>
          </p:nvSpPr>
          <p:spPr>
            <a:xfrm>
              <a:off x="15799912" y="4033409"/>
              <a:ext cx="5502715" cy="4845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회의비  </a:t>
              </a:r>
              <a:r>
                <a:rPr lang="en-US" sz="20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461,400원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2" name="Text 15">
              <a:extLst>
                <a:ext uri="{FF2B5EF4-FFF2-40B4-BE49-F238E27FC236}">
                  <a16:creationId xmlns:a16="http://schemas.microsoft.com/office/drawing/2014/main" id="{887D8942-56E8-0B18-81A6-CFD1C34DDDBA}"/>
                </a:ext>
              </a:extLst>
            </p:cNvPr>
            <p:cNvSpPr/>
            <p:nvPr/>
          </p:nvSpPr>
          <p:spPr>
            <a:xfrm>
              <a:off x="21302628" y="4033409"/>
              <a:ext cx="1557372" cy="4845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400" b="1" dirty="0">
                  <a:solidFill>
                    <a:srgbClr val="3E5C8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23.1%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3" name="Shape 16">
              <a:extLst>
                <a:ext uri="{FF2B5EF4-FFF2-40B4-BE49-F238E27FC236}">
                  <a16:creationId xmlns:a16="http://schemas.microsoft.com/office/drawing/2014/main" id="{AD962C54-7B51-A1E9-8FA9-E41AEE41DAFE}"/>
                </a:ext>
              </a:extLst>
            </p:cNvPr>
            <p:cNvSpPr/>
            <p:nvPr/>
          </p:nvSpPr>
          <p:spPr>
            <a:xfrm>
              <a:off x="15799912" y="4587142"/>
              <a:ext cx="7060088" cy="346083"/>
            </a:xfrm>
            <a:prstGeom prst="roundRect">
              <a:avLst>
                <a:gd name="adj" fmla="val 50000"/>
              </a:avLst>
            </a:prstGeom>
            <a:solidFill>
              <a:srgbClr val="E8EDF5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4" name="Shape 17">
              <a:extLst>
                <a:ext uri="{FF2B5EF4-FFF2-40B4-BE49-F238E27FC236}">
                  <a16:creationId xmlns:a16="http://schemas.microsoft.com/office/drawing/2014/main" id="{E80133E2-DD32-32AF-F7BC-4F6D5B83E052}"/>
                </a:ext>
              </a:extLst>
            </p:cNvPr>
            <p:cNvSpPr/>
            <p:nvPr/>
          </p:nvSpPr>
          <p:spPr>
            <a:xfrm>
              <a:off x="15799912" y="4587142"/>
              <a:ext cx="1630881" cy="346083"/>
            </a:xfrm>
            <a:prstGeom prst="roundRect">
              <a:avLst>
                <a:gd name="adj" fmla="val 50000"/>
              </a:avLst>
            </a:prstGeom>
            <a:solidFill>
              <a:srgbClr val="3E5C8A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5" name="Text 18">
              <a:extLst>
                <a:ext uri="{FF2B5EF4-FFF2-40B4-BE49-F238E27FC236}">
                  <a16:creationId xmlns:a16="http://schemas.microsoft.com/office/drawing/2014/main" id="{34DAFFAE-0AAA-EBA3-8E15-27E17F527D93}"/>
                </a:ext>
              </a:extLst>
            </p:cNvPr>
            <p:cNvSpPr/>
            <p:nvPr/>
          </p:nvSpPr>
          <p:spPr>
            <a:xfrm>
              <a:off x="15799912" y="5383132"/>
              <a:ext cx="5502715" cy="4845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A244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국내여비  </a:t>
              </a:r>
              <a:r>
                <a:rPr lang="en-US" sz="2000" dirty="0">
                  <a:solidFill>
                    <a:srgbClr val="6B7488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189,600원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6" name="Text 19">
              <a:extLst>
                <a:ext uri="{FF2B5EF4-FFF2-40B4-BE49-F238E27FC236}">
                  <a16:creationId xmlns:a16="http://schemas.microsoft.com/office/drawing/2014/main" id="{F5DCEE7F-744D-4E4E-2F17-8717D8D4186B}"/>
                </a:ext>
              </a:extLst>
            </p:cNvPr>
            <p:cNvSpPr/>
            <p:nvPr/>
          </p:nvSpPr>
          <p:spPr>
            <a:xfrm>
              <a:off x="21302628" y="5383132"/>
              <a:ext cx="1557372" cy="4845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400" b="1" dirty="0">
                  <a:solidFill>
                    <a:srgbClr val="6E86AD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9.5%</a:t>
              </a:r>
              <a:endParaRPr lang="en-US" sz="2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7" name="Shape 20">
              <a:extLst>
                <a:ext uri="{FF2B5EF4-FFF2-40B4-BE49-F238E27FC236}">
                  <a16:creationId xmlns:a16="http://schemas.microsoft.com/office/drawing/2014/main" id="{01427C29-772B-AD25-A237-B8025C36AC56}"/>
                </a:ext>
              </a:extLst>
            </p:cNvPr>
            <p:cNvSpPr/>
            <p:nvPr/>
          </p:nvSpPr>
          <p:spPr>
            <a:xfrm>
              <a:off x="15799912" y="5936864"/>
              <a:ext cx="7060088" cy="346083"/>
            </a:xfrm>
            <a:prstGeom prst="roundRect">
              <a:avLst>
                <a:gd name="adj" fmla="val 50000"/>
              </a:avLst>
            </a:prstGeom>
            <a:solidFill>
              <a:srgbClr val="E8EDF5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28" name="Shape 21">
              <a:extLst>
                <a:ext uri="{FF2B5EF4-FFF2-40B4-BE49-F238E27FC236}">
                  <a16:creationId xmlns:a16="http://schemas.microsoft.com/office/drawing/2014/main" id="{F1CEB55F-23D7-B3A6-99D3-844C0D1C1B5E}"/>
                </a:ext>
              </a:extLst>
            </p:cNvPr>
            <p:cNvSpPr/>
            <p:nvPr/>
          </p:nvSpPr>
          <p:spPr>
            <a:xfrm>
              <a:off x="15799912" y="5936864"/>
              <a:ext cx="670707" cy="346083"/>
            </a:xfrm>
            <a:prstGeom prst="roundRect">
              <a:avLst>
                <a:gd name="adj" fmla="val 50000"/>
              </a:avLst>
            </a:prstGeom>
            <a:solidFill>
              <a:srgbClr val="6E86AD"/>
            </a:solidFill>
            <a:ln/>
          </p:spPr>
          <p:txBody>
            <a:bodyPr/>
            <a:lstStyle/>
            <a:p>
              <a:endParaRPr lang="ko-KR" altLang="en-US" sz="40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</p:grpSp>
      <p:sp>
        <p:nvSpPr>
          <p:cNvPr id="33" name="Text 9">
            <a:extLst>
              <a:ext uri="{FF2B5EF4-FFF2-40B4-BE49-F238E27FC236}">
                <a16:creationId xmlns:a16="http://schemas.microsoft.com/office/drawing/2014/main" id="{5986F174-97FB-E853-7ABF-BDEF3810C08B}"/>
              </a:ext>
            </a:extLst>
          </p:cNvPr>
          <p:cNvSpPr/>
          <p:nvPr/>
        </p:nvSpPr>
        <p:spPr>
          <a:xfrm>
            <a:off x="1524002" y="1826807"/>
            <a:ext cx="6328517" cy="465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buFont typeface="Wingdings" pitchFamily="2" charset="2"/>
              <a:buChar char="v"/>
            </a:pPr>
            <a:r>
              <a:rPr lang="ko-KR" altLang="en-US" sz="2800" b="1" dirty="0">
                <a:solidFill>
                  <a:srgbClr val="27406E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비목별 사용 계획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96656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700" y="4724400"/>
            <a:ext cx="3289300" cy="6921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0" y="4711700"/>
            <a:ext cx="6807200" cy="838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0" y="5803900"/>
            <a:ext cx="6807200" cy="838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0" y="6883400"/>
            <a:ext cx="6807200" cy="83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0" y="8623300"/>
            <a:ext cx="6807200" cy="83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0" y="9715500"/>
            <a:ext cx="6807200" cy="838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8000" y="10807700"/>
            <a:ext cx="6807200" cy="83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alphaModFix amt="38000"/>
          </a:blip>
          <a:stretch>
            <a:fillRect/>
          </a:stretch>
        </p:blipFill>
        <p:spPr>
          <a:xfrm>
            <a:off x="10274300" y="6223000"/>
            <a:ext cx="1346200" cy="4064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>
            <a:off x="14554200" y="6223000"/>
            <a:ext cx="11938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>
            <a:off x="15138400" y="7302500"/>
            <a:ext cx="5969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alphaModFix amt="38000"/>
          </a:blip>
          <a:stretch>
            <a:fillRect/>
          </a:stretch>
        </p:blipFill>
        <p:spPr>
          <a:xfrm rot="5400000">
            <a:off x="14020800" y="6210300"/>
            <a:ext cx="22352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alphaModFix amt="38000"/>
          </a:blip>
          <a:stretch>
            <a:fillRect/>
          </a:stretch>
        </p:blipFill>
        <p:spPr>
          <a:xfrm>
            <a:off x="15138400" y="8966200"/>
            <a:ext cx="6223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alphaModFix amt="38000"/>
          </a:blip>
          <a:stretch>
            <a:fillRect/>
          </a:stretch>
        </p:blipFill>
        <p:spPr>
          <a:xfrm>
            <a:off x="14554200" y="10109200"/>
            <a:ext cx="11938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>
            <a:off x="15138400" y="11188700"/>
            <a:ext cx="5969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alphaModFix amt="38000"/>
          </a:blip>
          <a:stretch>
            <a:fillRect/>
          </a:stretch>
        </p:blipFill>
        <p:spPr>
          <a:xfrm rot="5400000">
            <a:off x="14020800" y="10096500"/>
            <a:ext cx="2235200" cy="25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alphaModFix amt="38000"/>
          </a:blip>
          <a:stretch>
            <a:fillRect/>
          </a:stretch>
        </p:blipFill>
        <p:spPr>
          <a:xfrm>
            <a:off x="15138400" y="5105400"/>
            <a:ext cx="596900" cy="25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alphaModFix amt="40000"/>
          </a:blip>
          <a:stretch>
            <a:fillRect/>
          </a:stretch>
        </p:blipFill>
        <p:spPr>
          <a:xfrm rot="10800000">
            <a:off x="5753100" y="5346700"/>
            <a:ext cx="1092200" cy="56642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7602200" y="4927600"/>
            <a:ext cx="3111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결제 오류 및 실패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157700" y="6019800"/>
            <a:ext cx="4000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주문 취소, 변경 어려움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602200" y="7099300"/>
            <a:ext cx="3111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결제 수단 제약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602200" y="8839200"/>
            <a:ext cx="3111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배송 지연 및 누락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157700" y="9931400"/>
            <a:ext cx="4000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배송 추적 정보 부족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170400" y="11010900"/>
            <a:ext cx="39624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반품, 교환 프로세스 복잡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9500" y="5181600"/>
            <a:ext cx="2413000" cy="1778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2032000" y="5854700"/>
            <a:ext cx="3048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불만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9500" y="7277100"/>
            <a:ext cx="2413000" cy="1778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2032000" y="7962900"/>
            <a:ext cx="3048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문의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49500" y="9385300"/>
            <a:ext cx="2413000" cy="1778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2032000" y="10058400"/>
            <a:ext cx="30480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VOC 키워드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30000" y="4711700"/>
            <a:ext cx="3124200" cy="30099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30000" y="8623300"/>
            <a:ext cx="3124200" cy="30099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1544300" y="5981700"/>
            <a:ext cx="28956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결제/주문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544300" y="9893300"/>
            <a:ext cx="28956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배송/물류</a:t>
            </a: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61200" y="6515100"/>
            <a:ext cx="3302000" cy="33147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7251700" y="7556500"/>
            <a:ext cx="2921000" cy="1143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서비스</a:t>
            </a:r>
          </a:p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프로세스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VOC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분석</a:t>
            </a:r>
            <a:r>
              <a:rPr lang="en-US" sz="2666" b="0" i="0" u="none" strike="noStrike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en-US" sz="2666" b="0" i="0" u="none" strike="noStrike" dirty="0" err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방법</a:t>
            </a:r>
            <a:endParaRPr lang="en-US" sz="2666" b="0" i="0" u="none" strike="noStrike" dirty="0">
              <a:solidFill>
                <a:srgbClr val="FFFFFF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5">
            <a:alphaModFix amt="50000"/>
          </a:blip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텍스트 마이닝과 정성 분석을 결합한 분석 프레임워크로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정량·정성적 인사이트 도출</a:t>
            </a:r>
          </a:p>
        </p:txBody>
      </p:sp>
      <p:sp>
        <p:nvSpPr>
          <p:cNvPr id="45" name="슬라이드 번호 개체 틀 44">
            <a:extLst>
              <a:ext uri="{FF2B5EF4-FFF2-40B4-BE49-F238E27FC236}">
                <a16:creationId xmlns:a16="http://schemas.microsoft.com/office/drawing/2014/main" id="{F3C5B0A6-DA05-9718-6232-AC8CD2C24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15</a:t>
            </a:fld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0" y="8191500"/>
            <a:ext cx="10464800" cy="383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300" y="4229100"/>
            <a:ext cx="10464800" cy="2324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0900" y="4229100"/>
            <a:ext cx="10591800" cy="23241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5887700" y="4724400"/>
            <a:ext cx="67437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수집: X개 채널 통합 수집(콜센터, 채팅, 이메일, 등) 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수집한 데이터의 정제 및 검증 방식을 설명해 보세요.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수집한 데이터의 정제 및 검증 방식을 설명해 보세요.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49400" y="7150100"/>
            <a:ext cx="26543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수집 채널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34100" y="8191500"/>
            <a:ext cx="4038600" cy="383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36500" y="9283700"/>
            <a:ext cx="5448300" cy="25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2636500" y="7150100"/>
            <a:ext cx="26543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 특성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36500" y="10706100"/>
            <a:ext cx="54483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834100" y="8191500"/>
            <a:ext cx="4038600" cy="850900"/>
          </a:xfrm>
          <a:prstGeom prst="rect">
            <a:avLst/>
          </a:prstGeom>
          <a:effectLst>
            <a:outerShdw blurRad="33860" dist="32557" dir="2700000">
              <a:srgbClr val="000000">
                <a:alpha val="6000"/>
              </a:srgbClr>
            </a:outerShdw>
          </a:effectLst>
        </p:spPr>
      </p:pic>
      <p:sp>
        <p:nvSpPr>
          <p:cNvPr id="12" name="TextBox 12"/>
          <p:cNvSpPr txBox="1"/>
          <p:nvPr/>
        </p:nvSpPr>
        <p:spPr>
          <a:xfrm>
            <a:off x="13677900" y="8191500"/>
            <a:ext cx="2349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채널별 분포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534900" y="82931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677900" y="8699500"/>
            <a:ext cx="5105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8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콜센터(43%), 디지털(37%), 설문(20%)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77900" y="9613900"/>
            <a:ext cx="2349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유형별 분포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34900" y="97155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677900" y="10121900"/>
            <a:ext cx="5105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8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불만·문의(58%), 제안(23%), 칭찬(19%)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677900" y="11010900"/>
            <a:ext cx="2349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세그먼트별 분포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34900" y="11112500"/>
            <a:ext cx="1003300" cy="711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4000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77900" y="11518900"/>
            <a:ext cx="51054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18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이곳에 세그먼트별 분포를 설명해 보세요.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088100" y="9817100"/>
            <a:ext cx="3543300" cy="1371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52" b="0" i="0" u="none" strike="noStrike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VOC의 60%가</a:t>
            </a:r>
          </a:p>
          <a:p>
            <a:pPr lvl="0" algn="ctr">
              <a:lnSpc>
                <a:spcPct val="124499"/>
              </a:lnSpc>
            </a:pPr>
            <a:r>
              <a:rPr lang="en-US" sz="2452" b="0" i="0" u="none" strike="noStrike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결제·배송· CS응대</a:t>
            </a:r>
          </a:p>
          <a:p>
            <a:pPr lvl="0" algn="ctr">
              <a:lnSpc>
                <a:spcPct val="124499"/>
              </a:lnSpc>
            </a:pPr>
            <a:r>
              <a:rPr lang="en-US" sz="2452" b="0" i="0" u="none" strike="noStrike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3대 영역에 집중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596100" y="8420100"/>
            <a:ext cx="2501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52" b="0" i="0" u="none" strike="noStrike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주요 인사이트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130800" y="4724400"/>
            <a:ext cx="5956300" cy="135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기간: 20XX.07.01~12.31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대상: 전체 고객 VOC 12,450건 </a:t>
            </a:r>
          </a:p>
          <a:p>
            <a:pPr marL="342900" lvl="1" indent="-342900" algn="l">
              <a:lnSpc>
                <a:spcPct val="1494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범위: 온·오프라인 전 채널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60600" y="9740900"/>
            <a:ext cx="21336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43</a:t>
            </a:r>
            <a:r>
              <a:rPr lang="en-US" sz="4266" b="0" i="0" u="none" strike="noStrike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20900" y="8966200"/>
            <a:ext cx="2349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콜센터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05000" y="11023600"/>
            <a:ext cx="27813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 건수: 5,240건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5800" y="9740900"/>
            <a:ext cx="21082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37</a:t>
            </a:r>
            <a:r>
              <a:rPr lang="en-US" sz="4266" b="0" i="0" u="none" strike="noStrike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600700" y="8966200"/>
            <a:ext cx="2349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디지털 채널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384800" y="11023600"/>
            <a:ext cx="27813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 건수: 4,680건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207500" y="9740900"/>
            <a:ext cx="21082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5333" b="0" i="0" u="none" strike="noStrike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20</a:t>
            </a:r>
            <a:r>
              <a:rPr lang="en-US" sz="4266" b="0" i="0" u="none" strike="noStrike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042400" y="8966200"/>
            <a:ext cx="2349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리뷰 및 설문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826500" y="11023600"/>
            <a:ext cx="27813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수집 건수: XXX건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VOC 데이터 개요</a:t>
            </a: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4241800"/>
            <a:ext cx="2997200" cy="23114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293600" y="4241800"/>
            <a:ext cx="2984500" cy="23114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3441700" y="10096500"/>
            <a:ext cx="3098800" cy="254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6934200" y="10096500"/>
            <a:ext cx="3098800" cy="254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20XX년 7월~12월 수집된 총 12,450건의 VOC를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채널, 유형, 고객 세그먼트별로 분류 분석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981200" y="4914900"/>
            <a:ext cx="20828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분석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기간 및 범위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560300" y="4914900"/>
            <a:ext cx="2438400" cy="952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데이터</a:t>
            </a:r>
          </a:p>
          <a:p>
            <a:pPr lvl="0" algn="ctr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수집 및 정제</a:t>
            </a:r>
          </a:p>
        </p:txBody>
      </p:sp>
      <p:sp>
        <p:nvSpPr>
          <p:cNvPr id="47" name="슬라이드 번호 개체 틀 46">
            <a:extLst>
              <a:ext uri="{FF2B5EF4-FFF2-40B4-BE49-F238E27FC236}">
                <a16:creationId xmlns:a16="http://schemas.microsoft.com/office/drawing/2014/main" id="{B203E70A-D7DD-D0A0-4954-1F8F1F46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16</a:t>
            </a:fld>
            <a:endParaRPr lang="ko-KR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콜센터 채널에서 집중 발생하며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불만 VOC가 58%로 가장 높은 비중을 차지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VOC 채널별 분포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1300" y="4229100"/>
            <a:ext cx="11112500" cy="4876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800" y="5854700"/>
            <a:ext cx="165100" cy="165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9800" y="6896100"/>
            <a:ext cx="165100" cy="165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800" y="7912100"/>
            <a:ext cx="165100" cy="165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4400" y="6438900"/>
            <a:ext cx="56642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4400" y="7480300"/>
            <a:ext cx="5702300" cy="25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362700" y="5727700"/>
            <a:ext cx="2349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콜센터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67700" y="5765800"/>
            <a:ext cx="3517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불만 VOC 집중, 즉각 응대 요구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362700" y="6769100"/>
            <a:ext cx="2349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디지털 채널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67700" y="6794500"/>
            <a:ext cx="34671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문의 VOC 다수, 셀프 해결 선호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362700" y="7785100"/>
            <a:ext cx="23495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리뷰, 설문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267700" y="7823200"/>
            <a:ext cx="35179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해당 채널의 특성을 입력해 보세요.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46300" y="4622800"/>
            <a:ext cx="2997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채널별 VOC 분포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46300" y="5461000"/>
            <a:ext cx="3124200" cy="31369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4140200" y="6908800"/>
            <a:ext cx="72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50%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730500" y="6108700"/>
            <a:ext cx="8001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92400" y="7442200"/>
            <a:ext cx="7493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30%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1300" y="9499600"/>
            <a:ext cx="21399500" cy="28194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2146300" y="9944100"/>
            <a:ext cx="32258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불만/칭찬/문의 비율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95300" y="4559300"/>
            <a:ext cx="26543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 특성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992100" y="4229100"/>
            <a:ext cx="9918700" cy="48768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677900" y="5486400"/>
            <a:ext cx="4445000" cy="26416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70100" y="10414000"/>
            <a:ext cx="14211300" cy="1790700"/>
          </a:xfrm>
          <a:prstGeom prst="rect">
            <a:avLst/>
          </a:prstGeom>
        </p:spPr>
      </p:pic>
      <p:sp>
        <p:nvSpPr>
          <p:cNvPr id="33" name="TextBox 33"/>
          <p:cNvSpPr txBox="1"/>
          <p:nvPr/>
        </p:nvSpPr>
        <p:spPr>
          <a:xfrm>
            <a:off x="18719800" y="5816600"/>
            <a:ext cx="3517900" cy="226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차트 데이터에서 발견된 가장 중요한 패턴이나 주의가 필요한 이슈를 설명해 보세요.</a:t>
            </a:r>
          </a:p>
          <a:p>
            <a:pPr lvl="0" algn="l">
              <a:lnSpc>
                <a:spcPct val="124499"/>
              </a:lnSpc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차트 데이터에서 발견된 가장 중요한 패턴이나 주의가 필요한 이슈를 설명해 보세요.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27100" y="4622800"/>
            <a:ext cx="2997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주요 VOC 빈도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582900" y="5676900"/>
            <a:ext cx="7112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66" b="0" i="0" u="none" strike="noStrike">
                <a:solidFill>
                  <a:srgbClr val="2E8DE6"/>
                </a:solidFill>
                <a:latin typeface="Pretendard Bold"/>
                <a:ea typeface="Pretendard Bold"/>
                <a:cs typeface="Pretendard Bold"/>
              </a:rPr>
              <a:t>50%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147800" y="6438900"/>
            <a:ext cx="7112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66" b="0" i="0" u="none" strike="noStrike">
                <a:solidFill>
                  <a:srgbClr val="2E8DE6"/>
                </a:solidFill>
                <a:latin typeface="Pretendard Bold"/>
                <a:ea typeface="Pretendard Bold"/>
                <a:cs typeface="Pretendard Bold"/>
              </a:rPr>
              <a:t>32%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030700" y="6883400"/>
            <a:ext cx="7112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66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18%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893800" y="8305800"/>
            <a:ext cx="12446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133" b="0" i="0" u="none" strike="noStrike">
                <a:solidFill>
                  <a:srgbClr val="2E8DE6"/>
                </a:solidFill>
                <a:latin typeface="Pretendard Bold"/>
                <a:ea typeface="Pretendard Bold"/>
                <a:cs typeface="Pretendard Bold"/>
              </a:rPr>
              <a:t>결제 오류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328900" y="8305800"/>
            <a:ext cx="12446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133" b="0" i="0" u="none" strike="noStrike">
                <a:solidFill>
                  <a:srgbClr val="2E8DE6"/>
                </a:solidFill>
                <a:latin typeface="Pretendard Bold"/>
                <a:ea typeface="Pretendard Bold"/>
                <a:cs typeface="Pretendard Bold"/>
              </a:rPr>
              <a:t>배송 지연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6738600" y="8305800"/>
            <a:ext cx="12446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CS응대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127500" y="11112500"/>
            <a:ext cx="72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불만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404100" y="11112500"/>
            <a:ext cx="72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문의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09100" y="11112500"/>
            <a:ext cx="72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칭찬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12500" y="11112500"/>
            <a:ext cx="723900" cy="406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266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기타</a:t>
            </a: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627100" y="10274300"/>
            <a:ext cx="165100" cy="1651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8643600" y="10274300"/>
            <a:ext cx="165100" cy="1651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5400000">
            <a:off x="16764000" y="10922000"/>
            <a:ext cx="1905000" cy="25400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4033500" y="6832600"/>
            <a:ext cx="939800" cy="1257300"/>
          </a:xfrm>
          <a:prstGeom prst="rect">
            <a:avLst/>
          </a:prstGeom>
        </p:spPr>
      </p:pic>
      <p:pic>
        <p:nvPicPr>
          <p:cNvPr id="49" name="Picture 4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455900" y="6096000"/>
            <a:ext cx="939800" cy="2006600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13970000" y="10147300"/>
            <a:ext cx="28194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불만 VOC 세부 분석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970000" y="10731500"/>
            <a:ext cx="3517900" cy="111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결제·배송 관련 불만 68%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반복 발생 이슈 비율 32% 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처리 시간 평균 4.8일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8986500" y="10147300"/>
            <a:ext cx="31750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244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칭찬 VOC 세부 분석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8986500" y="10731500"/>
            <a:ext cx="3517900" cy="111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CS 응대 품질 관련 50%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제품·서비스 만족 30% 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배송 서비스 만족 20%</a:t>
            </a:r>
          </a:p>
        </p:txBody>
      </p:sp>
      <p:sp>
        <p:nvSpPr>
          <p:cNvPr id="54" name="슬라이드 번호 개체 틀 53">
            <a:extLst>
              <a:ext uri="{FF2B5EF4-FFF2-40B4-BE49-F238E27FC236}">
                <a16:creationId xmlns:a16="http://schemas.microsoft.com/office/drawing/2014/main" id="{4EF8492D-1E99-81F3-8795-13561745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17</a:t>
            </a:fld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인지 단계부터 사후 관리까지 전 여정을 분석한 결과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결제·배송 단계에서 부정 VOC가 집중 발생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고객 여정 단계별 VOC 분석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562100" y="4229100"/>
          <a:ext cx="20991072" cy="6713827"/>
        </p:xfrm>
        <a:graphic>
          <a:graphicData uri="http://schemas.openxmlformats.org/drawingml/2006/table">
            <a:tbl>
              <a:tblPr/>
              <a:tblGrid>
                <a:gridCol w="3498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8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8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8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85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985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6383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8D8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인지·탐색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45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비교·검토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45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구매·결제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D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배송·수령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D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사용·관리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14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399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VOC 비중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8%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12%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25%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40%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15%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538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399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감정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2846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399" b="0" i="0" u="none" strike="noStrike" dirty="0" err="1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분석</a:t>
                      </a:r>
                      <a:endParaRPr lang="en-US" sz="1100" dirty="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광고·검색 유입 원활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정보 접근성 우수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타사 비교 정보 부족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상세페이지 신뢰도 이슈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결제 오류 다수 발생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할인 적용 혼란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배송 지연 불만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추적 정보 부족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</a:t>
                      </a:r>
                      <a:r>
                        <a:rPr lang="en-US" sz="2133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반품·교환</a:t>
                      </a:r>
                      <a:r>
                        <a:rPr lang="en-US" sz="2133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lang="en-US" sz="2133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절차</a:t>
                      </a:r>
                      <a:r>
                        <a:rPr lang="en-US" sz="2133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lang="en-US" sz="2133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복잡</a:t>
                      </a:r>
                      <a:r>
                        <a:rPr lang="en-US" sz="2133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</a:t>
                      </a:r>
                      <a:endParaRPr lang="en-US" sz="1100" dirty="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CS </a:t>
                      </a:r>
                      <a:r>
                        <a:rPr lang="en-US" sz="2133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응대</a:t>
                      </a:r>
                      <a:r>
                        <a:rPr lang="en-US" sz="2133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lang="en-US" sz="2133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만족도</a:t>
                      </a:r>
                      <a:r>
                        <a:rPr lang="en-US" sz="2133" b="0" i="0" u="none" strike="noStrike" dirty="0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 </a:t>
                      </a:r>
                      <a:r>
                        <a:rPr lang="en-US" sz="2133" b="0" i="0" u="none" strike="noStrike" dirty="0" err="1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양극화</a:t>
                      </a:r>
                      <a:endParaRPr lang="en-US" sz="2133" b="0" i="0" u="none" strike="noStrike" dirty="0">
                        <a:solidFill>
                          <a:srgbClr val="000000"/>
                        </a:solidFill>
                        <a:latin typeface="Pretendard Regular"/>
                        <a:ea typeface="Pretendard Regular"/>
                        <a:cs typeface="Pretendard Regular"/>
                      </a:endParaRP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alphaModFix amt="3000"/>
          </a:blip>
          <a:stretch>
            <a:fillRect/>
          </a:stretch>
        </p:blipFill>
        <p:spPr>
          <a:xfrm>
            <a:off x="5054600" y="7594600"/>
            <a:ext cx="17500600" cy="647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94618">
            <a:off x="6718300" y="7353300"/>
            <a:ext cx="36957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94618">
            <a:off x="10299700" y="8318500"/>
            <a:ext cx="36957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9870617">
            <a:off x="13881100" y="8331200"/>
            <a:ext cx="35687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094644">
            <a:off x="17360900" y="7518400"/>
            <a:ext cx="34925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2100" y="11353800"/>
            <a:ext cx="21361400" cy="939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498600" y="11544300"/>
            <a:ext cx="21475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여정 분석을 통해 도출된 중요한 발견사항이나 개선이 시급한 구간을 1-2줄로 설명해 보세요.</a:t>
            </a: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972D6A97-CBC0-875A-3B16-8874BFEF5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18</a:t>
            </a:fld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세그먼트별 VOC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신규고객의 VOC 발생률 급증, 대부분의 세그먼트에서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결제·배송 관련 불만이 공통적으로 집중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2100" y="4229100"/>
            <a:ext cx="5410200" cy="7924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88800" y="5232400"/>
            <a:ext cx="4902200" cy="66802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2077700" y="4483100"/>
            <a:ext cx="4711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일반 고객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800" y="4229100"/>
            <a:ext cx="5410200" cy="7924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800" y="5232400"/>
            <a:ext cx="4902200" cy="66802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6248400" y="4483100"/>
            <a:ext cx="4711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신규 고객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526000" y="4229100"/>
            <a:ext cx="5410200" cy="7924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80000" y="5232400"/>
            <a:ext cx="4902200" cy="6680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269">
            <a:off x="6604000" y="7213600"/>
            <a:ext cx="3975100" cy="25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269">
            <a:off x="12446000" y="7213600"/>
            <a:ext cx="39751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269">
            <a:off x="18237200" y="7213600"/>
            <a:ext cx="3975100" cy="25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7881600" y="4483100"/>
            <a:ext cx="4711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VIP 고객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83400" y="5842000"/>
            <a:ext cx="34417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27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 이해도 부족으로 초기 사용 장벽 높음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39700" y="5842000"/>
            <a:ext cx="31877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27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서비스 품질 안정성에 높은 기대 수준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262600" y="5842000"/>
            <a:ext cx="39370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27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개인화 서비스 및 </a:t>
            </a:r>
          </a:p>
          <a:p>
            <a:pPr lvl="0" algn="ctr">
              <a:lnSpc>
                <a:spcPct val="126160"/>
              </a:lnSpc>
            </a:pPr>
            <a:r>
              <a:rPr lang="en-US" sz="227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우대 혜택 요구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269">
            <a:off x="6616700" y="9144000"/>
            <a:ext cx="3975100" cy="254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269">
            <a:off x="12458700" y="9144000"/>
            <a:ext cx="3975100" cy="254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1269">
            <a:off x="18249900" y="9144000"/>
            <a:ext cx="3975100" cy="254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6896100" y="7772400"/>
            <a:ext cx="34290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ctr">
              <a:lnSpc>
                <a:spcPct val="12616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회원가입 절차 복잡</a:t>
            </a:r>
          </a:p>
          <a:p>
            <a:pPr marL="342900" lvl="1" indent="-342900" algn="ctr">
              <a:lnSpc>
                <a:spcPct val="12616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0" b="0" i="0" u="none" strike="noStrike">
                <a:solidFill>
                  <a:srgbClr val="2E8DE6"/>
                </a:solidFill>
                <a:latin typeface="Pretendard SemiBold"/>
                <a:ea typeface="Pretendard SemiBold"/>
                <a:cs typeface="Pretendard SemiBold"/>
              </a:rPr>
              <a:t>결제 방법 안내 부족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865100" y="7772400"/>
            <a:ext cx="3149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ctr">
              <a:lnSpc>
                <a:spcPct val="12616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0" b="0" i="0" u="none" strike="noStrike">
                <a:solidFill>
                  <a:srgbClr val="2E8DE6"/>
                </a:solidFill>
                <a:latin typeface="Pretendard SemiBold"/>
                <a:ea typeface="Pretendard SemiBold"/>
                <a:cs typeface="Pretendard SemiBold"/>
              </a:rPr>
              <a:t>배송 지연 불만</a:t>
            </a:r>
          </a:p>
          <a:p>
            <a:pPr marL="342900" lvl="1" indent="-342900" algn="ctr">
              <a:lnSpc>
                <a:spcPct val="12616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프로모션 혜택 감소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275300" y="7772400"/>
            <a:ext cx="39370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ctr">
              <a:lnSpc>
                <a:spcPct val="12616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0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VIP 전용 혜택 부족</a:t>
            </a:r>
          </a:p>
          <a:p>
            <a:pPr marL="342900" lvl="1" indent="-342900" algn="ctr">
              <a:lnSpc>
                <a:spcPct val="12616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70" b="0" i="0" u="none" strike="noStrike">
                <a:solidFill>
                  <a:srgbClr val="2E8DE6"/>
                </a:solidFill>
                <a:latin typeface="Pretendard SemiBold"/>
                <a:ea typeface="Pretendard SemiBold"/>
                <a:cs typeface="Pretendard SemiBold"/>
              </a:rPr>
              <a:t>전담 CS 부재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4000" y="9855200"/>
            <a:ext cx="3975100" cy="13843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7200900" y="113411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20XX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0" y="113411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20XX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200900" y="99187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B7C8D8"/>
                </a:solidFill>
                <a:latin typeface="Pretendard Bold"/>
                <a:ea typeface="Pretendard Bold"/>
                <a:cs typeface="Pretendard Bold"/>
              </a:rPr>
              <a:t>XX%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74100" y="95250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3C6BA0"/>
                </a:solidFill>
                <a:latin typeface="Pretendard Bold"/>
                <a:ea typeface="Pretendard Bold"/>
                <a:cs typeface="Pretendard Bold"/>
              </a:rPr>
              <a:t>XX%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46000" y="9842500"/>
            <a:ext cx="3975100" cy="13843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13030200" y="113411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20XX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516100" y="113411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20XX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042900" y="99187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B7C8D8"/>
                </a:solidFill>
                <a:latin typeface="Pretendard Bold"/>
                <a:ea typeface="Pretendard Bold"/>
                <a:cs typeface="Pretendard Bold"/>
              </a:rPr>
              <a:t>XX%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503400" y="95250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225289"/>
                </a:solidFill>
                <a:latin typeface="Pretendard Bold"/>
                <a:ea typeface="Pretendard Bold"/>
                <a:cs typeface="Pretendard Bold"/>
              </a:rPr>
              <a:t>XX%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62600" y="9842500"/>
            <a:ext cx="3975100" cy="13843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89100" y="4229100"/>
            <a:ext cx="3568700" cy="79248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49500" y="6210300"/>
            <a:ext cx="2247900" cy="73660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18859500" y="113411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20XX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345400" y="113411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20XX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8859500" y="99187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B7C8D8"/>
                </a:solidFill>
                <a:latin typeface="Pretendard Bold"/>
                <a:ea typeface="Pretendard Bold"/>
                <a:cs typeface="Pretendard Bold"/>
              </a:rPr>
              <a:t>XX%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0332700" y="9525000"/>
            <a:ext cx="1358900" cy="330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1866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XX%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905000" y="4965700"/>
            <a:ext cx="3136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933" b="0" i="0" u="none" strike="noStrike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세그먼트 분류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336800" y="6362700"/>
            <a:ext cx="2273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신규 고객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917700" y="7162800"/>
            <a:ext cx="30988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가입 후 3개월 이내</a:t>
            </a:r>
          </a:p>
        </p:txBody>
      </p:sp>
      <p:pic>
        <p:nvPicPr>
          <p:cNvPr id="51" name="Picture 5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349500" y="8115300"/>
            <a:ext cx="2247900" cy="736600"/>
          </a:xfrm>
          <a:prstGeom prst="rect">
            <a:avLst/>
          </a:prstGeom>
        </p:spPr>
      </p:pic>
      <p:sp>
        <p:nvSpPr>
          <p:cNvPr id="52" name="TextBox 52"/>
          <p:cNvSpPr txBox="1"/>
          <p:nvPr/>
        </p:nvSpPr>
        <p:spPr>
          <a:xfrm>
            <a:off x="2336800" y="8267700"/>
            <a:ext cx="2273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일반 고객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917700" y="9067800"/>
            <a:ext cx="30988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가입 후 3-24개월</a:t>
            </a: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349500" y="10020300"/>
            <a:ext cx="2247900" cy="736600"/>
          </a:xfrm>
          <a:prstGeom prst="rect">
            <a:avLst/>
          </a:prstGeom>
        </p:spPr>
      </p:pic>
      <p:sp>
        <p:nvSpPr>
          <p:cNvPr id="55" name="TextBox 55"/>
          <p:cNvSpPr txBox="1"/>
          <p:nvPr/>
        </p:nvSpPr>
        <p:spPr>
          <a:xfrm>
            <a:off x="2336800" y="10172700"/>
            <a:ext cx="22733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VIP 고객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917700" y="10972800"/>
            <a:ext cx="30988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6160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가입 후 24개월 이상</a:t>
            </a:r>
          </a:p>
        </p:txBody>
      </p:sp>
      <p:sp>
        <p:nvSpPr>
          <p:cNvPr id="57" name="슬라이드 번호 개체 틀 56">
            <a:extLst>
              <a:ext uri="{FF2B5EF4-FFF2-40B4-BE49-F238E27FC236}">
                <a16:creationId xmlns:a16="http://schemas.microsoft.com/office/drawing/2014/main" id="{D8C18C71-192F-E158-D714-12B42D709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19</a:t>
            </a:fld>
            <a:endParaRPr lang="ko-KR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주요 이슈 정리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VOC 분석을 통해 4대 핵심 이슈를 도출하였으며,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배송·결제 영역에 개선 과제가 집중됨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8737600"/>
            <a:ext cx="4927600" cy="3441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00" y="5499100"/>
            <a:ext cx="10147300" cy="15240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286000" y="6756400"/>
            <a:ext cx="8915400" cy="86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VOC 12,450건을 유형별, 여정별, 세그먼트별로 교차 분석해 고객 경험을 저해하는 X개 핵심 이슈를 우선순위별로 도출함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3700" y="4241800"/>
            <a:ext cx="10160000" cy="952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2200" y="4241800"/>
            <a:ext cx="10160000" cy="9525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22200" y="7213600"/>
            <a:ext cx="10160000" cy="152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22200" y="8928100"/>
            <a:ext cx="10160000" cy="1524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09500" y="10655300"/>
            <a:ext cx="10160000" cy="1524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22200" y="5499100"/>
            <a:ext cx="3200400" cy="1524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4876800" y="4457700"/>
            <a:ext cx="3721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B345B"/>
                </a:solidFill>
                <a:latin typeface="Pretendard SemiBold"/>
                <a:ea typeface="Pretendard SemiBold"/>
                <a:cs typeface="Pretendard SemiBold"/>
              </a:rPr>
              <a:t>분석 기간 및 범위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532100" y="4457700"/>
            <a:ext cx="4127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225289"/>
                </a:solidFill>
                <a:latin typeface="Pretendard SemiBold"/>
                <a:ea typeface="Pretendard SemiBold"/>
                <a:cs typeface="Pretendard SemiBold"/>
              </a:rPr>
              <a:t>주요 이슈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306800" y="5689600"/>
            <a:ext cx="51308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약속 배송일 미준수율 23%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시간 배송 추적 정보 부족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고객 문의 폭증으로 CS 부담 가중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79400" y="6032500"/>
            <a:ext cx="2298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배송 지연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34900" y="7213600"/>
            <a:ext cx="3200400" cy="15240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6319500" y="7404100"/>
            <a:ext cx="51308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간편결제 연동 오류 빈번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할인쿠폰 적용 로직 복잡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오류 발생 시 안내 메시지 불명확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992100" y="7747000"/>
            <a:ext cx="2298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결제 오류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47600" y="8928100"/>
            <a:ext cx="3200400" cy="15240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6319500" y="9309100"/>
            <a:ext cx="5791200" cy="77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이곳에 해당 이슈의 상세 내용을 설명해 보세요.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이슈에 따른 영향을 알려주세요.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004800" y="9461500"/>
            <a:ext cx="2298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CS 응대 품질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60300" y="10655300"/>
            <a:ext cx="3200400" cy="15240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96100" y="8750300"/>
            <a:ext cx="4927600" cy="34417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6332200" y="11036300"/>
            <a:ext cx="5791200" cy="77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이곳에 해당 이슈의 상세 내용을 설명해 보세요.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이슈에 따른 영향을 알려주세요. 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004800" y="11176000"/>
            <a:ext cx="2298700" cy="469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반품/교환 절차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876800" y="5956300"/>
            <a:ext cx="3721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B345B"/>
                </a:solidFill>
                <a:latin typeface="Pretendard SemiBold"/>
                <a:ea typeface="Pretendard SemiBold"/>
                <a:cs typeface="Pretendard SemiBold"/>
              </a:rPr>
              <a:t>이슈 도출 방법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86000" y="9931400"/>
            <a:ext cx="3733800" cy="175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ctr">
              <a:lnSpc>
                <a:spcPct val="14026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VOC 발생 건수</a:t>
            </a:r>
          </a:p>
          <a:p>
            <a:pPr marL="342900" lvl="1" indent="-342900" algn="ctr">
              <a:lnSpc>
                <a:spcPct val="14026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전체 대비 비중</a:t>
            </a:r>
          </a:p>
          <a:p>
            <a:pPr marL="342900" lvl="1" indent="-342900" algn="ctr">
              <a:lnSpc>
                <a:spcPct val="14026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월평균 증가율</a:t>
            </a:r>
          </a:p>
          <a:p>
            <a:pPr marL="342900" lvl="1" indent="-342900" algn="ctr">
              <a:lnSpc>
                <a:spcPct val="14026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채널별 집중도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54900" y="10147300"/>
            <a:ext cx="3733800" cy="1295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ctr">
              <a:lnSpc>
                <a:spcPct val="14026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고객만족도</a:t>
            </a:r>
          </a:p>
          <a:p>
            <a:pPr marL="342900" lvl="1" indent="-342900" algn="ctr">
              <a:lnSpc>
                <a:spcPct val="14026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비즈니스 손실 규모 </a:t>
            </a:r>
          </a:p>
          <a:p>
            <a:pPr marL="342900" lvl="1" indent="-342900" algn="ctr">
              <a:lnSpc>
                <a:spcPct val="14026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브랜드 이미지 영향</a:t>
            </a: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89100" y="8483600"/>
            <a:ext cx="4927600" cy="1016000"/>
          </a:xfrm>
          <a:prstGeom prst="rect">
            <a:avLst/>
          </a:prstGeom>
        </p:spPr>
      </p:pic>
      <p:sp>
        <p:nvSpPr>
          <p:cNvPr id="37" name="TextBox 37"/>
          <p:cNvSpPr txBox="1"/>
          <p:nvPr/>
        </p:nvSpPr>
        <p:spPr>
          <a:xfrm>
            <a:off x="2997200" y="8763000"/>
            <a:ext cx="22987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빈도</a:t>
            </a: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6100" y="8496300"/>
            <a:ext cx="4927600" cy="10160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8216900" y="8763000"/>
            <a:ext cx="22987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영향도</a:t>
            </a:r>
          </a:p>
        </p:txBody>
      </p:sp>
      <p:sp>
        <p:nvSpPr>
          <p:cNvPr id="40" name="슬라이드 번호 개체 틀 39">
            <a:extLst>
              <a:ext uri="{FF2B5EF4-FFF2-40B4-BE49-F238E27FC236}">
                <a16:creationId xmlns:a16="http://schemas.microsoft.com/office/drawing/2014/main" id="{50061550-D2D1-7BF7-62A9-917AA175F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20</a:t>
            </a:fld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B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08000"/>
            <a:ext cx="24384000" cy="1562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페인 포인트 심층 분석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1689100" y="4508500"/>
            <a:ext cx="20866100" cy="2184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10000"/>
          </a:blip>
          <a:stretch>
            <a:fillRect/>
          </a:stretch>
        </p:blipFill>
        <p:spPr>
          <a:xfrm>
            <a:off x="1689100" y="7073900"/>
            <a:ext cx="20866100" cy="2184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alphaModFix amt="10000"/>
          </a:blip>
          <a:stretch>
            <a:fillRect/>
          </a:stretch>
        </p:blipFill>
        <p:spPr>
          <a:xfrm>
            <a:off x="1689100" y="9652000"/>
            <a:ext cx="20866100" cy="2184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7500" y="4241800"/>
            <a:ext cx="6362700" cy="7823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92500" y="6858000"/>
            <a:ext cx="5080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92500" y="9436100"/>
            <a:ext cx="5080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001000" y="5588000"/>
            <a:ext cx="1460500" cy="2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001000" y="8178800"/>
            <a:ext cx="14605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001000" y="10731500"/>
            <a:ext cx="14605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2300" y="4864100"/>
            <a:ext cx="1295400" cy="1473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2300" y="7493000"/>
            <a:ext cx="1295400" cy="1473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12300" y="10007600"/>
            <a:ext cx="1295400" cy="1473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57600" y="5295900"/>
            <a:ext cx="596900" cy="596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319500" y="7874000"/>
            <a:ext cx="596900" cy="596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383000" y="10452100"/>
            <a:ext cx="596900" cy="596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주요 이슈 중 고객 경험에 가장 큰 영향을 미치는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3대 페인 포인트 분석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203700" y="4927600"/>
            <a:ext cx="39370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배송 지연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03700" y="5537200"/>
            <a:ext cx="3924300" cy="825500"/>
          </a:xfrm>
          <a:prstGeom prst="rect">
            <a:avLst/>
          </a:prstGeom>
        </p:spPr>
        <p:txBody>
          <a:bodyPr lIns="0" tIns="16764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이곳에 페인 포인트 관련 상황을 설명해 보세요.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184400" y="4978400"/>
            <a:ext cx="156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203700" y="7454900"/>
            <a:ext cx="39370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결제 오류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203700" y="8064500"/>
            <a:ext cx="3924300" cy="825500"/>
          </a:xfrm>
          <a:prstGeom prst="rect">
            <a:avLst/>
          </a:prstGeom>
        </p:spPr>
        <p:txBody>
          <a:bodyPr lIns="0" tIns="16764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이곳에 페인 포인트 관련 상황을 설명해 보세요.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184400" y="7556500"/>
            <a:ext cx="156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203700" y="10033000"/>
            <a:ext cx="24003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CS 응대 품질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203700" y="10629900"/>
            <a:ext cx="3924300" cy="825500"/>
          </a:xfrm>
          <a:prstGeom prst="rect">
            <a:avLst/>
          </a:prstGeom>
        </p:spPr>
        <p:txBody>
          <a:bodyPr lIns="0" tIns="16764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이곳에 페인 포인트 관련</a:t>
            </a:r>
          </a:p>
          <a:p>
            <a:pPr lvl="0" algn="l">
              <a:lnSpc>
                <a:spcPct val="107070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상황을 설명해 보세요. 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84400" y="10134600"/>
            <a:ext cx="1562100" cy="1231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6933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03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259300" y="5067300"/>
            <a:ext cx="39370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702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단순 지연이 아닌 추적 정보 부족이 더 큰 불만 요인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259300" y="7645400"/>
            <a:ext cx="37465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702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명확한 안내 부재로 같은 오류 반복 발생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259300" y="10223500"/>
            <a:ext cx="3708400" cy="1041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7029"/>
              </a:lnSpc>
            </a:pPr>
            <a:r>
              <a:rPr lang="en-US" sz="2933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이곳에 핵심 발견 사항을 입력해 보세요.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303000" y="5156200"/>
            <a:ext cx="3924300" cy="431800"/>
          </a:xfrm>
          <a:prstGeom prst="rect">
            <a:avLst/>
          </a:prstGeom>
        </p:spPr>
        <p:txBody>
          <a:bodyPr lIns="0" tIns="16764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목표 배송일 대비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03000" y="7721600"/>
            <a:ext cx="3924300" cy="431800"/>
          </a:xfrm>
          <a:prstGeom prst="rect">
            <a:avLst/>
          </a:prstGeom>
        </p:spPr>
        <p:txBody>
          <a:bodyPr lIns="0" tIns="16764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신고부터 환불/재결제까지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03000" y="10274300"/>
            <a:ext cx="3924300" cy="431800"/>
          </a:xfrm>
          <a:prstGeom prst="rect">
            <a:avLst/>
          </a:prstGeom>
        </p:spPr>
        <p:txBody>
          <a:bodyPr lIns="0" tIns="16764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1차 문의부터 최종 해결까지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303000" y="5613400"/>
            <a:ext cx="20574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평균 4일 지연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303000" y="8178800"/>
            <a:ext cx="39370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평균 3일 소요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303000" y="10731500"/>
            <a:ext cx="39370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l">
              <a:lnSpc>
                <a:spcPct val="107070"/>
              </a:lnSpc>
            </a:pPr>
            <a:r>
              <a:rPr lang="en-US" sz="2933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평균 X일 소요</a:t>
            </a:r>
          </a:p>
        </p:txBody>
      </p:sp>
      <p:sp>
        <p:nvSpPr>
          <p:cNvPr id="43" name="슬라이드 번호 개체 틀 42">
            <a:extLst>
              <a:ext uri="{FF2B5EF4-FFF2-40B4-BE49-F238E27FC236}">
                <a16:creationId xmlns:a16="http://schemas.microsoft.com/office/drawing/2014/main" id="{0A7203A0-632A-4605-FFCE-4FF8E3DB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21</a:t>
            </a:fld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VOC 미개선 시 비즈니스 임팩트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5778500"/>
            <a:ext cx="10147300" cy="4724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2200" y="5778500"/>
            <a:ext cx="10401300" cy="47244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VOC 미해결로 인한 고객 이탈 지속 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향후 X년간 재구매 매출 XX억원 감소 예상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3700" y="4241800"/>
            <a:ext cx="101600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2200" y="4241800"/>
            <a:ext cx="10160000" cy="952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9100" y="10807700"/>
            <a:ext cx="10147300" cy="14732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4813300" y="4457700"/>
            <a:ext cx="3848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고객 이탈 추이 (예측)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532100" y="4457700"/>
            <a:ext cx="41275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재구매 매출 추이 (예측)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4100" y="11303000"/>
            <a:ext cx="8851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이곳에 VOC 미해결로 인한 분기별 이탈 고객 및 이탈률을 설명해 보세요.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22200" y="10782300"/>
            <a:ext cx="10147300" cy="14732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360000">
            <a:off x="17526000" y="5664200"/>
            <a:ext cx="4775200" cy="2984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3271500" y="11303000"/>
            <a:ext cx="86360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VOC 미개선 시 향후 2년간 재구매 매출 XX% 감소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215100" y="6400800"/>
            <a:ext cx="2717800" cy="571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3200" b="0" i="0" u="none" strike="noStrike">
                <a:solidFill>
                  <a:srgbClr val="2E8DE6"/>
                </a:solidFill>
                <a:latin typeface="Pretendard SemiBold"/>
                <a:ea typeface="Pretendard SemiBold"/>
                <a:cs typeface="Pretendard SemiBold"/>
              </a:rPr>
              <a:t>XX% 감소</a:t>
            </a: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844CFA96-CE19-8B9F-F712-62F805DF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22</a:t>
            </a:fld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개선 과제 우선순위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실행 용이성과 영향도를 기준으로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개선 과제의 우선순위를 도출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1828800" y="4229100"/>
            <a:ext cx="9969500" cy="783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3300" y="8140700"/>
            <a:ext cx="90932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3556000" y="8140700"/>
            <a:ext cx="65151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0" y="4699000"/>
            <a:ext cx="1524000" cy="1524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5800" y="9779000"/>
            <a:ext cx="1524000" cy="1524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13700" y="7835900"/>
            <a:ext cx="1524000" cy="1524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09500" y="6261100"/>
            <a:ext cx="9817100" cy="1701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6205200" y="6502400"/>
            <a:ext cx="62611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간편결제 연동 안정화 </a:t>
            </a:r>
          </a:p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결제 오류 시 즉시 복구 시스템 구축 </a:t>
            </a:r>
          </a:p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오류 발생 시 안내 메시지 개선 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09500" y="8267700"/>
            <a:ext cx="9817100" cy="1701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6205200" y="8509000"/>
            <a:ext cx="62611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이곳에 해당 항목의 세부 과제를 입력해 보세요.</a:t>
            </a:r>
          </a:p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고객 경험 개선을 위한 변경 방식을 알려주세요.</a:t>
            </a:r>
          </a:p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과제 해결 시 기대되는 효과를 넣어주세요.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509500" y="10274300"/>
            <a:ext cx="9817100" cy="17018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6205200" y="10528300"/>
            <a:ext cx="62611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이곳에 해당 항목의 세부 과제를 입력해 보세요.</a:t>
            </a:r>
          </a:p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고객 경험 개선을 위한 변경 방식을 알려주세요.</a:t>
            </a:r>
          </a:p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과제 해결 시 기대되는 효과를 넣어주세요.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184900" y="4533900"/>
            <a:ext cx="12700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영향도 높음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70600" y="11468100"/>
            <a:ext cx="14732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영향도 낮음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35200" y="8343900"/>
            <a:ext cx="14224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실행용이성 낮음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04400" y="8343900"/>
            <a:ext cx="15875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6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실행용이성 높음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09500" y="4229100"/>
            <a:ext cx="9817100" cy="17018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6217900" y="4483100"/>
            <a:ext cx="62484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물류사 협업 체계 강화 </a:t>
            </a:r>
          </a:p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 배송 추적 시스템 고도화</a:t>
            </a:r>
          </a:p>
          <a:p>
            <a:pPr marL="342900" lvl="1" indent="-342900" algn="l">
              <a:lnSpc>
                <a:spcPct val="138609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성수기 물량 대응 프로세스 구축 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791700" y="5168900"/>
            <a:ext cx="12446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66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배송 시스템 </a:t>
            </a:r>
          </a:p>
          <a:p>
            <a:pPr lvl="0" algn="ctr">
              <a:lnSpc>
                <a:spcPct val="124499"/>
              </a:lnSpc>
            </a:pPr>
            <a:r>
              <a:rPr lang="en-US" sz="1866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개선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842000" y="10236200"/>
            <a:ext cx="13716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66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반품 프로세스 간소화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051800" y="8255000"/>
            <a:ext cx="14605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66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CS 응대</a:t>
            </a:r>
          </a:p>
          <a:p>
            <a:pPr lvl="0" algn="ctr">
              <a:lnSpc>
                <a:spcPct val="124499"/>
              </a:lnSpc>
            </a:pPr>
            <a:r>
              <a:rPr lang="en-US" sz="1866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표준화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62700" y="5588000"/>
            <a:ext cx="1524000" cy="15240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09500" y="4229100"/>
            <a:ext cx="3200400" cy="17018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2509500" y="6248400"/>
            <a:ext cx="3200400" cy="17018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509500" y="8267700"/>
            <a:ext cx="3200400" cy="17018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509500" y="10274300"/>
            <a:ext cx="3200400" cy="17018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565900" y="6007100"/>
            <a:ext cx="1130300" cy="685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1866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간편 결제 오류 해결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611100" y="6845300"/>
            <a:ext cx="30099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666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결제 오류 해결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966700" y="8851900"/>
            <a:ext cx="23114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666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응대 표준화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877800" y="10871200"/>
            <a:ext cx="2476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666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반품 과정 간소화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750800" y="4826000"/>
            <a:ext cx="27432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666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배송 시스템 개선</a:t>
            </a:r>
          </a:p>
        </p:txBody>
      </p:sp>
      <p:sp>
        <p:nvSpPr>
          <p:cNvPr id="41" name="슬라이드 번호 개체 틀 40">
            <a:extLst>
              <a:ext uri="{FF2B5EF4-FFF2-40B4-BE49-F238E27FC236}">
                <a16:creationId xmlns:a16="http://schemas.microsoft.com/office/drawing/2014/main" id="{3D3B74A7-7E42-A7E9-6B29-85CB8372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23</a:t>
            </a:fld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단기 개선과제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즉시</a:t>
            </a:r>
            <a:r>
              <a:rPr 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실행</a:t>
            </a:r>
            <a:r>
              <a:rPr 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가능하고</a:t>
            </a:r>
            <a:r>
              <a:rPr 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단기</a:t>
            </a:r>
            <a:r>
              <a:rPr 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성과</a:t>
            </a:r>
            <a:r>
              <a:rPr 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창출이</a:t>
            </a:r>
            <a:r>
              <a:rPr lang="en-US" sz="4266" b="0" i="0" u="none" strike="noStrike" spc="-2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4266" b="0" i="0" u="none" strike="noStrike" spc="-2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가능한</a:t>
            </a:r>
            <a:endParaRPr lang="en-US" sz="4266" b="0" i="0" u="none" strike="noStrike" spc="-2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3개 퀵윈 과제 선정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4241800"/>
            <a:ext cx="21234400" cy="2349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4241800"/>
            <a:ext cx="3200400" cy="2349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6896100"/>
            <a:ext cx="21234400" cy="2349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400" y="9550400"/>
            <a:ext cx="21234400" cy="2349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511800" y="5118100"/>
            <a:ext cx="57912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 배송 추적 알림 발송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 배송 단계별 상태 업데이트 주기 단축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지연 발생 시 자동 메시지 발송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97100" y="4927600"/>
            <a:ext cx="22479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배송 추적 정보 강화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9100" y="6883400"/>
            <a:ext cx="3200400" cy="23495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133600" y="7556500"/>
            <a:ext cx="22987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결제 오류 안내 개선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9100" y="9550400"/>
            <a:ext cx="3200400" cy="2349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176000" y="5397500"/>
            <a:ext cx="1524000" cy="254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176000" y="8051800"/>
            <a:ext cx="1524000" cy="254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1176000" y="10706100"/>
            <a:ext cx="1524000" cy="254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6776700" y="5397500"/>
            <a:ext cx="1524000" cy="25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6776700" y="8051800"/>
            <a:ext cx="1524000" cy="254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16776700" y="10706100"/>
            <a:ext cx="1524000" cy="254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6200000">
            <a:off x="15684500" y="5118100"/>
            <a:ext cx="1016000" cy="10160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5400000">
            <a:off x="15684500" y="7772400"/>
            <a:ext cx="1016000" cy="10160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5400000">
            <a:off x="15684500" y="10337800"/>
            <a:ext cx="1016000" cy="1016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2235200" y="10261600"/>
            <a:ext cx="2095500" cy="965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FAQ 및 챗봇 확대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11800" y="7759700"/>
            <a:ext cx="57912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결제 오류 시 명확한 원인 및 해결 방법 안내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고객 재시도 유도 UX 최적화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오류 발생 시 CS 연결 버튼 추가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511800" y="10604500"/>
            <a:ext cx="5791200" cy="774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개선과제의 상세내용을 넣어보세요.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기존 방식에서 어떻게 변경되었는지 입력해 보세요.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573000" y="5105400"/>
            <a:ext cx="29337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기존 시스템 활용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외부 연동 필요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리소스: 2명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73000" y="7772400"/>
            <a:ext cx="29337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UI/UX 개선 중심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PG사 협의 불필요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리소스: 2명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73000" y="10414000"/>
            <a:ext cx="29337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기존 시스템 활용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외부 연동 필요 </a:t>
            </a:r>
          </a:p>
          <a:p>
            <a:pPr marL="342900" lvl="1" indent="-342900" algn="l">
              <a:lnSpc>
                <a:spcPct val="119518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개발 리소스: 2명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262600" y="5435600"/>
            <a:ext cx="39116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1개월 (20XX.02 ~ 20XX.03)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8262600" y="8089900"/>
            <a:ext cx="39116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1개월 (20XX.02 ~ 20XX.03)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262600" y="10731500"/>
            <a:ext cx="3911600" cy="381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133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1개월 (20XX.02 ~ 20XX.03)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511800" y="4559300"/>
            <a:ext cx="1562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상세내용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511800" y="7213600"/>
            <a:ext cx="1562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상세내용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511800" y="9867900"/>
            <a:ext cx="15621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상세내용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573000" y="4559300"/>
            <a:ext cx="1066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난이도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573000" y="7213600"/>
            <a:ext cx="1066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난이도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573000" y="9867900"/>
            <a:ext cx="1066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난이도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262600" y="4559300"/>
            <a:ext cx="1358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소요기간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8262600" y="7213600"/>
            <a:ext cx="1358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소요기간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8262600" y="9867900"/>
            <a:ext cx="13589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9518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소요기간</a:t>
            </a:r>
          </a:p>
        </p:txBody>
      </p:sp>
      <p:sp>
        <p:nvSpPr>
          <p:cNvPr id="46" name="슬라이드 번호 개체 틀 45">
            <a:extLst>
              <a:ext uri="{FF2B5EF4-FFF2-40B4-BE49-F238E27FC236}">
                <a16:creationId xmlns:a16="http://schemas.microsoft.com/office/drawing/2014/main" id="{5F6E4B9B-5163-891C-086E-729502EAF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24</a:t>
            </a:fld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중장기 구조 개선 과제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6-12개월 소요 예상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시스템</a:t>
            </a:r>
            <a:r>
              <a:rPr 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재구축</a:t>
            </a:r>
            <a:r>
              <a:rPr 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및</a:t>
            </a:r>
            <a:r>
              <a:rPr 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인프라</a:t>
            </a:r>
            <a:r>
              <a:rPr 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확대를</a:t>
            </a:r>
            <a:r>
              <a:rPr 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통한</a:t>
            </a:r>
            <a:r>
              <a:rPr 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근본적</a:t>
            </a:r>
            <a:r>
              <a:rPr 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문제</a:t>
            </a:r>
            <a:r>
              <a:rPr lang="en-US" sz="5600" b="0" i="0" u="none" strike="noStrike" spc="-200" dirty="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5600" b="0" i="0" u="none" strike="noStrike" spc="-200" dirty="0" err="1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해결</a:t>
            </a:r>
            <a:endParaRPr lang="en-US" sz="5600" b="0" i="0" u="none" strike="noStrike" spc="-200" dirty="0">
              <a:solidFill>
                <a:srgbClr val="0B345B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100" y="5702300"/>
            <a:ext cx="4978400" cy="51054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286000" y="6921500"/>
            <a:ext cx="3860800" cy="119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권역별 물류 중계 거점 3개소 신규 구축  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당일배송 가능 지역 75% 확대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11277600"/>
            <a:ext cx="20828000" cy="10033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2578100" y="11518900"/>
            <a:ext cx="191262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전체 예상 투자 규모: XX억원     |     연간 기대 효과: 매출 증대 XX억원, 비용 절감 XX억원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2300" y="5702300"/>
            <a:ext cx="4978400" cy="50673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7581900" y="6921500"/>
            <a:ext cx="38608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이곳에 주요 개선 사항을 입력해 주세요.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68200" y="5702300"/>
            <a:ext cx="4978400" cy="51054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2877800" y="6921500"/>
            <a:ext cx="3860800" cy="119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5개 물류 파트너사 통합 연동 시스템 구축 </a:t>
            </a:r>
          </a:p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실시간 물량 배분 자동화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64100" y="5702300"/>
            <a:ext cx="4978400" cy="5067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9100" y="4241800"/>
            <a:ext cx="15633700" cy="9525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46600" y="4241800"/>
            <a:ext cx="5295900" cy="9525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1100" y="8928100"/>
            <a:ext cx="1397000" cy="13970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10100" y="8928100"/>
            <a:ext cx="1397000" cy="13970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8173700" y="6921500"/>
            <a:ext cx="3860800" cy="787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l">
              <a:lnSpc>
                <a:spcPct val="124499"/>
              </a:lnSpc>
              <a:buClr>
                <a:srgbClr val="000000"/>
              </a:buClr>
              <a:buFont typeface="Arial"/>
              <a:buChar char="●"/>
            </a:pPr>
            <a:r>
              <a:rPr lang="en-US" sz="2133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이곳에 주요 개선 사항을 입력해 주세요.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378700" y="4457700"/>
            <a:ext cx="42418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물류·배송 인프라 혁신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780000" y="4457700"/>
            <a:ext cx="42418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spc="-2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디지털 플랫폼 고도화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22500" y="6096000"/>
            <a:ext cx="3898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물류 중계 거점 확대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518400" y="6096000"/>
            <a:ext cx="3898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AI 기반 배송 최적화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814300" y="6096000"/>
            <a:ext cx="3898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멀티 물류사 통합 관리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110200" y="6096000"/>
            <a:ext cx="3898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933" b="0" i="0" u="none" strike="noStrike" spc="-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고객 맞춤 배송 서비스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552700" y="9385300"/>
            <a:ext cx="1193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2개소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711700" y="9385300"/>
            <a:ext cx="1193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5개소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62700" y="7797800"/>
            <a:ext cx="889000" cy="8890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5400000">
            <a:off x="6654800" y="8064500"/>
            <a:ext cx="406400" cy="3429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84000" y="7835900"/>
            <a:ext cx="889000" cy="8890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5400000">
            <a:off x="11976100" y="8102600"/>
            <a:ext cx="406400" cy="3429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6967200" y="7759700"/>
            <a:ext cx="889000" cy="8890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5400000">
            <a:off x="17272000" y="8039100"/>
            <a:ext cx="406400" cy="3429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7">
            <a:alphaModFix amt="40000"/>
          </a:blip>
          <a:stretch>
            <a:fillRect/>
          </a:stretch>
        </p:blipFill>
        <p:spPr>
          <a:xfrm rot="10800000">
            <a:off x="4089400" y="9309100"/>
            <a:ext cx="304800" cy="6350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992100" y="8661400"/>
            <a:ext cx="3543300" cy="698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992100" y="9804400"/>
            <a:ext cx="1079500" cy="6985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3855700" y="8775700"/>
            <a:ext cx="1828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1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물류사A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144500" y="9906000"/>
            <a:ext cx="7874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A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20">
            <a:alphaModFix amt="40000"/>
          </a:blip>
          <a:stretch>
            <a:fillRect/>
          </a:stretch>
        </p:blipFill>
        <p:spPr>
          <a:xfrm rot="16200000">
            <a:off x="14668500" y="9271000"/>
            <a:ext cx="241300" cy="6350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211300" y="9804400"/>
            <a:ext cx="1092200" cy="6985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5443200" y="9804400"/>
            <a:ext cx="1092200" cy="698500"/>
          </a:xfrm>
          <a:prstGeom prst="rect">
            <a:avLst/>
          </a:prstGeom>
        </p:spPr>
      </p:pic>
      <p:sp>
        <p:nvSpPr>
          <p:cNvPr id="46" name="TextBox 46"/>
          <p:cNvSpPr txBox="1"/>
          <p:nvPr/>
        </p:nvSpPr>
        <p:spPr>
          <a:xfrm>
            <a:off x="14376400" y="9906000"/>
            <a:ext cx="7874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B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5608300" y="9906000"/>
            <a:ext cx="7874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24499"/>
              </a:lnSpc>
            </a:pPr>
            <a:r>
              <a:rPr lang="en-US" sz="2400" b="0" i="0" u="none" strike="noStrike" spc="-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C</a:t>
            </a:r>
          </a:p>
        </p:txBody>
      </p:sp>
      <p:sp>
        <p:nvSpPr>
          <p:cNvPr id="48" name="슬라이드 번호 개체 틀 47">
            <a:extLst>
              <a:ext uri="{FF2B5EF4-FFF2-40B4-BE49-F238E27FC236}">
                <a16:creationId xmlns:a16="http://schemas.microsoft.com/office/drawing/2014/main" id="{CCE9A6BE-9055-900F-309E-A826016F7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25</a:t>
            </a:fld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기대효과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5300" y="4254500"/>
            <a:ext cx="20866100" cy="44704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단기 및 중장기 개선과제 실행 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X개년 누적 시 연 XX억원 비즈니스 임팩트 예상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619500" y="5156200"/>
            <a:ext cx="4368800" cy="431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400" b="0" i="0" u="none" strike="noStrike">
                <a:solidFill>
                  <a:srgbClr val="0B345B"/>
                </a:solidFill>
                <a:latin typeface="Pretendard SemiBold"/>
                <a:ea typeface="Pretendard SemiBold"/>
                <a:cs typeface="Pretendard SemiBold"/>
              </a:rPr>
              <a:t>- 예상 연간 매출 성장률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9200" y="10490200"/>
            <a:ext cx="7505700" cy="1816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9200" y="9055100"/>
            <a:ext cx="7505700" cy="406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5400" y="9055100"/>
            <a:ext cx="6057900" cy="40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59200" y="9055100"/>
            <a:ext cx="6057900" cy="4064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997200" y="10820400"/>
            <a:ext cx="6477000" cy="1155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ctr">
              <a:lnSpc>
                <a:spcPct val="13031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배송 지연 감소로 이탈률 11% </a:t>
            </a:r>
          </a:p>
          <a:p>
            <a:pPr marL="342900" lvl="1" indent="-342900" algn="ctr">
              <a:lnSpc>
                <a:spcPct val="13031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CS 효율화로 운영비 X억원 절감 </a:t>
            </a:r>
          </a:p>
          <a:p>
            <a:pPr marL="342900" lvl="1" indent="-342900" algn="ctr">
              <a:lnSpc>
                <a:spcPct val="13031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결제 완료율 향상으로 매출 X억원 증대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85400" y="10464800"/>
            <a:ext cx="6057900" cy="18161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629900" y="11010900"/>
            <a:ext cx="51816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ctr">
              <a:lnSpc>
                <a:spcPct val="13031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신규 거점 센터 가동으로 배송비 절감 X억원 </a:t>
            </a:r>
          </a:p>
          <a:p>
            <a:pPr marL="342900" lvl="1" indent="-342900" algn="ctr">
              <a:lnSpc>
                <a:spcPct val="13031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재구매율 증가로 매출 XX억원 증대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497300" y="10464800"/>
            <a:ext cx="6057900" cy="18161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6789400" y="11010900"/>
            <a:ext cx="5448300" cy="749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1" indent="-342900" algn="ctr">
              <a:lnSpc>
                <a:spcPct val="13031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디지털 플랫폼 고도화로 신규 고객 유입 XX% 증가 </a:t>
            </a:r>
          </a:p>
          <a:p>
            <a:pPr marL="342900" lvl="1" indent="-342900" algn="ctr">
              <a:lnSpc>
                <a:spcPct val="13031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충성고객 확대로 매출 XX억원 증대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971800" y="9639300"/>
            <a:ext cx="65151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단기 과제 효과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28400" y="9639300"/>
            <a:ext cx="3771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225289"/>
                </a:solidFill>
                <a:latin typeface="Pretendard Bold"/>
                <a:ea typeface="Pretendard Bold"/>
                <a:cs typeface="Pretendard Bold"/>
              </a:rPr>
              <a:t>중장기 과제 1차 효과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7627600" y="9639300"/>
            <a:ext cx="37719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6199"/>
              </a:lnSpc>
            </a:pPr>
            <a:r>
              <a:rPr lang="en-US" sz="2933" b="0" i="0" u="none" strike="noStrike">
                <a:solidFill>
                  <a:srgbClr val="5E88B8"/>
                </a:solidFill>
                <a:latin typeface="Pretendard Bold"/>
                <a:ea typeface="Pretendard Bold"/>
                <a:cs typeface="Pretendard Bold"/>
              </a:rPr>
              <a:t>중장기 과제 본격 효과</a:t>
            </a:r>
          </a:p>
        </p:txBody>
      </p:sp>
      <p:sp>
        <p:nvSpPr>
          <p:cNvPr id="24" name="슬라이드 번호 개체 틀 23">
            <a:extLst>
              <a:ext uri="{FF2B5EF4-FFF2-40B4-BE49-F238E27FC236}">
                <a16:creationId xmlns:a16="http://schemas.microsoft.com/office/drawing/2014/main" id="{5BEFB5EC-3957-9B12-DEF1-83BE233B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26</a:t>
            </a:fld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69215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실행 로드맵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700" y="4241800"/>
            <a:ext cx="10160000" cy="952500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562100" y="4229100"/>
          <a:ext cx="21359595" cy="7598822"/>
        </p:xfrm>
        <a:graphic>
          <a:graphicData uri="http://schemas.openxmlformats.org/drawingml/2006/table">
            <a:tbl>
              <a:tblPr/>
              <a:tblGrid>
                <a:gridCol w="42719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1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71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71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02707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항목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Phase 1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45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Phase 2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45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Phase 3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DE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666" b="0" i="0" u="none" strike="noStrike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Phase 4</a:t>
                      </a:r>
                      <a:endParaRPr lang="en-US" sz="1100"/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4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193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399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성과 창출 추이 예측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83000"/>
                        </a:lnSpc>
                        <a:defRPr/>
                      </a:pPr>
                      <a:endParaRPr lang="en-US" sz="1100"/>
                    </a:p>
                  </a:txBody>
                  <a:tcPr marL="25400" marR="25400" marT="25400" marB="25400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1148" cap="flat" cmpd="sng" algn="ctr">
                      <a:solidFill>
                        <a:srgbClr val="88888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1562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399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주요 활동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프로젝트 킥오프 및 TF 구성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퀵윈 과제 3개 동시 착수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배송 추적 시스템 오픈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- 결제 오류 개선 배포 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이곳에 해당 단계의 주요 활동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내용을 입력해 보세요.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이곳에 해당 단계의 주요 활동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내용을 입력해 보세요.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2621"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399" b="0" i="0" u="none" strike="noStrike">
                          <a:solidFill>
                            <a:srgbClr val="000000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필요 예산</a:t>
                      </a:r>
                      <a:endParaRPr lang="en-US" sz="1100"/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퀵윈 과제: 1.5억원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사전 기획: 0.3억원</a:t>
                      </a:r>
                    </a:p>
                  </a:txBody>
                  <a:tcPr marL="25400" marR="25400" marT="25400" marB="25400" anchor="ctr">
                    <a:lnL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퀵윈 과제: 0.8억원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중장기 과제: 15억원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인프라 구축: XX억원 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시스템 개발: XX억원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16199"/>
                        </a:lnSpc>
                        <a:defRPr/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- 안정화: 5억원</a:t>
                      </a:r>
                      <a:endParaRPr lang="en-US" sz="1100"/>
                    </a:p>
                    <a:p>
                      <a:pPr lvl="0" algn="ctr">
                        <a:lnSpc>
                          <a:spcPct val="116199"/>
                        </a:lnSpc>
                      </a:pPr>
                      <a:r>
                        <a:rPr lang="en-US" sz="2133" b="0" i="0" u="none" strike="noStrike">
                          <a:solidFill>
                            <a:srgbClr val="000000"/>
                          </a:solidFill>
                          <a:latin typeface="Pretendard Regular"/>
                          <a:ea typeface="Pretendard Regular"/>
                          <a:cs typeface="Pretendard Regular"/>
                        </a:rPr>
                        <a:t> - 마케팅 및 교육: 2억원</a:t>
                      </a:r>
                    </a:p>
                  </a:txBody>
                  <a:tcPr marL="25400" marR="25400" marT="25400" marB="25400" anchor="ctr">
                    <a:lnL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2800" y="5359400"/>
            <a:ext cx="16916400" cy="2108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76400" y="5359400"/>
            <a:ext cx="4305300" cy="2095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62600" y="5118100"/>
            <a:ext cx="17475200" cy="2590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51000" y="4229100"/>
            <a:ext cx="4330700" cy="7594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단기 및 중장기 과제를 4단계로 순차 실행하며,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XX개월 내 핵심 과제 완료 목표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82800" y="6705600"/>
            <a:ext cx="3403600" cy="520700"/>
          </a:xfrm>
          <a:prstGeom prst="rect">
            <a:avLst/>
          </a:prstGeom>
        </p:spPr>
        <p:txBody>
          <a:bodyPr lIns="0" tIns="20489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2933" b="0" i="0" u="none" strike="noStrike" spc="-100">
                <a:solidFill>
                  <a:srgbClr val="2E8DE6"/>
                </a:solidFill>
                <a:latin typeface="Pretendard Bold"/>
                <a:ea typeface="Pretendard Bold"/>
                <a:cs typeface="Pretendard Bold"/>
              </a:rPr>
              <a:t>핵심 성과 구간</a:t>
            </a: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C8A403E0-6582-2858-289C-753885D6C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27</a:t>
            </a:fld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400000">
            <a:off x="-6807200" y="-9423400"/>
            <a:ext cx="7848600" cy="175514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689100" y="292100"/>
            <a:ext cx="47371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666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VOC 모니터링 체계 개선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12827000"/>
            <a:ext cx="22123400" cy="12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473200" y="1765300"/>
            <a:ext cx="21526500" cy="762000"/>
          </a:xfrm>
          <a:prstGeom prst="rect">
            <a:avLst/>
          </a:prstGeom>
        </p:spPr>
        <p:txBody>
          <a:bodyPr lIns="0" tIns="29803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4266" b="0" i="0" u="none" strike="noStrike" spc="-2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지속적 성과 관리를 위한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47800" y="2590800"/>
            <a:ext cx="21590000" cy="990600"/>
          </a:xfrm>
          <a:prstGeom prst="rect">
            <a:avLst/>
          </a:prstGeom>
        </p:spPr>
        <p:txBody>
          <a:bodyPr lIns="0" tIns="39116" rIns="0" bIns="0" rtlCol="0" anchor="t"/>
          <a:lstStyle/>
          <a:p>
            <a:pPr lvl="0" algn="ctr">
              <a:lnSpc>
                <a:spcPct val="107070"/>
              </a:lnSpc>
            </a:pPr>
            <a:r>
              <a:rPr lang="en-US" sz="5600" b="0" i="0" u="none" strike="noStrike" spc="-200">
                <a:solidFill>
                  <a:srgbClr val="0B345B"/>
                </a:solidFill>
                <a:latin typeface="Pretendard ExtraBold"/>
                <a:ea typeface="Pretendard ExtraBold"/>
                <a:cs typeface="Pretendard ExtraBold"/>
              </a:rPr>
              <a:t>VOC 모니터링 체계 수립 및 정기 리뷰 프로세스 운영 필요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600" y="4660900"/>
            <a:ext cx="7429500" cy="7429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0100" y="4394200"/>
            <a:ext cx="3238500" cy="32385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908300" y="5257800"/>
            <a:ext cx="1562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en-US" sz="2933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개선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1500" y="4394200"/>
            <a:ext cx="3238500" cy="3238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7759700" y="5257800"/>
            <a:ext cx="1562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en-US" sz="2933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계획수립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1500" y="8953500"/>
            <a:ext cx="3238500" cy="32385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7759700" y="9817100"/>
            <a:ext cx="1562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en-US" sz="2933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실행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70100" y="8953500"/>
            <a:ext cx="3238500" cy="3238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5829300" y="4495800"/>
            <a:ext cx="406400" cy="342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5400000">
            <a:off x="5803900" y="11899900"/>
            <a:ext cx="406400" cy="342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9499600" y="8204200"/>
            <a:ext cx="406400" cy="342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70100" y="8178800"/>
            <a:ext cx="406400" cy="3429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4711700" y="7785100"/>
            <a:ext cx="2552700" cy="1181100"/>
          </a:xfrm>
          <a:prstGeom prst="rect">
            <a:avLst/>
          </a:prstGeom>
        </p:spPr>
        <p:txBody>
          <a:bodyPr lIns="0" tIns="27957" rIns="0" bIns="27957" rtlCol="0" anchor="ctr"/>
          <a:lstStyle/>
          <a:p>
            <a:pPr lvl="0" algn="ctr">
              <a:lnSpc>
                <a:spcPct val="105658"/>
              </a:lnSpc>
            </a:pPr>
            <a:r>
              <a:rPr lang="en-US" sz="3466" b="0" i="0" u="none" strike="noStrike" spc="-200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모니터링</a:t>
            </a:r>
          </a:p>
          <a:p>
            <a:pPr lvl="0" algn="ctr">
              <a:lnSpc>
                <a:spcPct val="105658"/>
              </a:lnSpc>
            </a:pPr>
            <a:r>
              <a:rPr lang="en-US" sz="3466" b="0" i="0" u="none" strike="noStrike" spc="-200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프로세스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908300" y="9817100"/>
            <a:ext cx="1562100" cy="520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36119"/>
              </a:lnSpc>
            </a:pPr>
            <a:r>
              <a:rPr lang="en-US" sz="2933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점검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540000" y="5943600"/>
            <a:ext cx="23114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ctr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66" b="0" i="0" u="none" strike="noStrike" spc="-10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이슈 대응 조치 </a:t>
            </a:r>
          </a:p>
          <a:p>
            <a:pPr marL="342900" lvl="1" indent="-342900" algn="ctr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66" b="0" i="0" u="none" strike="noStrike" spc="-10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프로세스 개선 반영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53300" y="5943600"/>
            <a:ext cx="24765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ctr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66" b="0" i="0" u="none" strike="noStrike" spc="-10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월간 VOC 분석 계획</a:t>
            </a:r>
          </a:p>
          <a:p>
            <a:pPr marL="342900" lvl="1" indent="-342900" algn="ctr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66" b="0" i="0" u="none" strike="noStrike" spc="-10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개선 과제 우선순위 설정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64400" y="10490200"/>
            <a:ext cx="25908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ctr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66" b="0" i="0" u="none" strike="noStrike" spc="-10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개선과제 실행 </a:t>
            </a:r>
          </a:p>
          <a:p>
            <a:pPr marL="342900" lvl="1" indent="-342900" algn="ctr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66" b="0" i="0" u="none" strike="noStrike" spc="-10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모니터링 데이터 수집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51100" y="10490200"/>
            <a:ext cx="2501900" cy="711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ctr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66" b="0" i="0" u="none" strike="noStrike" spc="-10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주간/월간 성과 리뷰</a:t>
            </a:r>
          </a:p>
          <a:p>
            <a:pPr marL="342900" lvl="1" indent="-342900" algn="ctr">
              <a:lnSpc>
                <a:spcPct val="131970"/>
              </a:lnSpc>
              <a:buClr>
                <a:srgbClr val="000000"/>
              </a:buClr>
              <a:buFont typeface="Arial"/>
              <a:buChar char="●"/>
            </a:pPr>
            <a:r>
              <a:rPr lang="en-US" sz="1866" b="0" i="0" u="none" strike="noStrike" spc="-100">
                <a:solidFill>
                  <a:srgbClr val="0B345B"/>
                </a:solidFill>
                <a:latin typeface="Pretendard Medium"/>
                <a:ea typeface="Pretendard Medium"/>
                <a:cs typeface="Pretendard Medium"/>
              </a:rPr>
              <a:t>KPI 달성도 평가</a:t>
            </a: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33200" y="4648200"/>
            <a:ext cx="10668000" cy="34417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33200" y="9372600"/>
            <a:ext cx="10668000" cy="2921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12217400" y="5892800"/>
            <a:ext cx="4800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VOC 관리</a:t>
            </a: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33200" y="4394200"/>
            <a:ext cx="10668000" cy="10160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15811500" y="4648200"/>
            <a:ext cx="229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모니터링 지표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33200" y="8597900"/>
            <a:ext cx="10655300" cy="10160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5811500" y="8839200"/>
            <a:ext cx="2298700" cy="520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2933" b="0" i="0" u="none" strike="noStrike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정기 리뷰 체계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30100" y="6654800"/>
            <a:ext cx="47752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ctr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VOC 발생 건수 주간 트래킹</a:t>
            </a:r>
          </a:p>
          <a:p>
            <a:pPr marL="342900" lvl="1" indent="-342900" algn="ctr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VOC 처리 시간 일별 모니터링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7081500" y="5892800"/>
            <a:ext cx="4800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0B345B"/>
                </a:solidFill>
                <a:latin typeface="Pretendard Bold"/>
                <a:ea typeface="Pretendard Bold"/>
                <a:cs typeface="Pretendard Bold"/>
              </a:rPr>
              <a:t>운영 효율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7094200" y="6654800"/>
            <a:ext cx="42799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ctr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CS 응대 시간 실시간 모니터링</a:t>
            </a:r>
          </a:p>
          <a:p>
            <a:pPr marL="342900" lvl="1" indent="-342900" algn="ctr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1차 해결률 주간 측정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230100" y="10121900"/>
            <a:ext cx="4800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225289"/>
                </a:solidFill>
                <a:latin typeface="Pretendard Bold"/>
                <a:ea typeface="Pretendard Bold"/>
                <a:cs typeface="Pretendard Bold"/>
              </a:rPr>
              <a:t>주간 리뷰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230100" y="10896600"/>
            <a:ext cx="47752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ctr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프로젝트 TF 전체 참석</a:t>
            </a:r>
          </a:p>
          <a:p>
            <a:pPr marL="342900" lvl="1" indent="-342900" algn="ctr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주간 KPI 점검, 개선과제 진행 현황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7094200" y="10121900"/>
            <a:ext cx="4800600" cy="469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19518"/>
              </a:lnSpc>
            </a:pPr>
            <a:r>
              <a:rPr lang="en-US" sz="2666" b="0" i="0" u="none" strike="noStrike">
                <a:solidFill>
                  <a:srgbClr val="225289"/>
                </a:solidFill>
                <a:latin typeface="Pretendard Bold"/>
                <a:ea typeface="Pretendard Bold"/>
                <a:cs typeface="Pretendard Bold"/>
              </a:rPr>
              <a:t>월간 리뷰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106900" y="10896600"/>
            <a:ext cx="47752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ctr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TF + 부서장급 참석</a:t>
            </a:r>
          </a:p>
          <a:p>
            <a:pPr marL="342900" lvl="1" indent="-342900" algn="ctr">
              <a:lnSpc>
                <a:spcPct val="1411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월간 성과 분석, 액션 플랜 조정</a:t>
            </a:r>
          </a:p>
        </p:txBody>
      </p:sp>
      <p:sp>
        <p:nvSpPr>
          <p:cNvPr id="43" name="슬라이드 번호 개체 틀 42">
            <a:extLst>
              <a:ext uri="{FF2B5EF4-FFF2-40B4-BE49-F238E27FC236}">
                <a16:creationId xmlns:a16="http://schemas.microsoft.com/office/drawing/2014/main" id="{7AC4AE6B-7BBE-4F31-D3B0-B62C2005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16199"/>
              </a:lnSpc>
            </a:pPr>
            <a:fld id="{B6F15528-21DE-4FAA-801E-634DDDAF4B2B}" type="slidenum">
              <a:rPr lang="en-US" altLang="ko-KR" smtClean="0"/>
              <a:pPr>
                <a:lnSpc>
                  <a:spcPct val="116199"/>
                </a:lnSpc>
              </a:pPr>
              <a:t>28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3584</Words>
  <Application>Microsoft Office PowerPoint</Application>
  <PresentationFormat>사용자 지정</PresentationFormat>
  <Paragraphs>738</Paragraphs>
  <Slides>28</Slides>
  <Notes>9</Notes>
  <HiddenSlides>14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9" baseType="lpstr">
      <vt:lpstr>Pretendard</vt:lpstr>
      <vt:lpstr>Pretendard Medium</vt:lpstr>
      <vt:lpstr>Calibri</vt:lpstr>
      <vt:lpstr>Pretendard Regular</vt:lpstr>
      <vt:lpstr>Wingdings</vt:lpstr>
      <vt:lpstr>Arial</vt:lpstr>
      <vt:lpstr>Pretendard Bold</vt:lpstr>
      <vt:lpstr>Pretendard ExtraBold</vt:lpstr>
      <vt:lpstr>맑은 고딕</vt:lpstr>
      <vt:lpstr>Pretendard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CHAEUN MUN</cp:lastModifiedBy>
  <cp:revision>62</cp:revision>
  <dcterms:created xsi:type="dcterms:W3CDTF">2006-08-16T00:00:00Z</dcterms:created>
  <dcterms:modified xsi:type="dcterms:W3CDTF">2026-08-16T14:14:04Z</dcterms:modified>
</cp:coreProperties>
</file>